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endParaRPr lang="en-US" dirty="0"/>
          </a:p>
        </p:txBody>
      </p:sp>
      <p:sp>
        <p:nvSpPr>
          <p:cNvPr id="3" name="Subtitle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16" name="Date Placeholder 15"/>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17" name="Footer Placeholder 16"/>
          <p:cNvSpPr>
            <a:spLocks noGrp="1"/>
          </p:cNvSpPr>
          <p:nvPr>
            <p:ph type="ftr" sz="quarter" idx="11"/>
            <p:custDataLst>
              <p:tags r:id="rId5"/>
            </p:custDataLst>
          </p:nvPr>
        </p:nvSpPr>
        <p:spPr/>
        <p:txBody>
          <a:bodyPr/>
          <a:lstStyle/>
          <a:p>
            <a:endParaRPr lang="en-US" dirty="0"/>
          </a:p>
        </p:txBody>
      </p:sp>
      <p:sp>
        <p:nvSpPr>
          <p:cNvPr id="18" name="Slide Number Placeholder 17"/>
          <p:cNvSpPr>
            <a:spLocks noGrp="1"/>
          </p:cNvSpPr>
          <p:nvPr>
            <p:ph type="sldNum" sz="quarter" idx="12"/>
            <p:custDataLst>
              <p:tags r:id="rId6"/>
            </p:custDataLst>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endParaRPr lang="en-US" dirty="0"/>
          </a:p>
        </p:txBody>
      </p:sp>
      <p:sp>
        <p:nvSpPr>
          <p:cNvPr id="3" name="Text Placeholder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Date Placeholder 4"/>
          <p:cNvSpPr>
            <a:spLocks noGrp="1"/>
          </p:cNvSpPr>
          <p:nvPr>
            <p:ph type="dt" sz="half" idx="10"/>
            <p:custDataLst>
              <p:tags r:id="rId5"/>
            </p:custDataLst>
          </p:nvPr>
        </p:nvSpPr>
        <p:spPr/>
        <p:txBody>
          <a:bodyPr/>
          <a:lstStyle/>
          <a:p>
            <a:fld id="{760FBDFE-C587-4B4C-A407-44438C67B59E}" type="datetimeFigureOut">
              <a:rPr lang="en-US" smtClean="0"/>
            </a:fld>
            <a:endParaRPr lang="en-US"/>
          </a:p>
        </p:txBody>
      </p:sp>
      <p:sp>
        <p:nvSpPr>
          <p:cNvPr id="6" name="Footer Placeholder 5"/>
          <p:cNvSpPr>
            <a:spLocks noGrp="1"/>
          </p:cNvSpPr>
          <p:nvPr>
            <p:ph type="ftr" sz="quarter" idx="11"/>
            <p:custDataLst>
              <p:tags r:id="rId6"/>
            </p:custDataLst>
          </p:nvPr>
        </p:nvSpPr>
        <p:spPr/>
        <p:txBody>
          <a:bodyPr/>
          <a:lstStyle/>
          <a:p>
            <a:endParaRPr lang="en-US"/>
          </a:p>
        </p:txBody>
      </p:sp>
      <p:sp>
        <p:nvSpPr>
          <p:cNvPr id="7" name="Slide Number Placeholder 6"/>
          <p:cNvSpPr>
            <a:spLocks noGrp="1"/>
          </p:cNvSpPr>
          <p:nvPr>
            <p:ph type="sldNum" sz="quarter" idx="12"/>
            <p:custDataLst>
              <p:tags r:id="rId7"/>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Text Placeholder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endParaRPr lang="en-US" dirty="0"/>
          </a:p>
        </p:txBody>
      </p:sp>
      <p:sp>
        <p:nvSpPr>
          <p:cNvPr id="4" name="Content Placeholder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text</a:t>
            </a:r>
            <a:endParaRPr lang="en-US"/>
          </a:p>
        </p:txBody>
      </p:sp>
      <p:sp>
        <p:nvSpPr>
          <p:cNvPr id="6" name="Content Placeholder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custDataLst>
              <p:tags r:id="rId7"/>
            </p:custDataLst>
          </p:nvPr>
        </p:nvSpPr>
        <p:spPr/>
        <p:txBody>
          <a:bodyPr/>
          <a:lstStyle/>
          <a:p>
            <a:fld id="{760FBDFE-C587-4B4C-A407-44438C67B59E}" type="datetimeFigureOut">
              <a:rPr lang="en-US" smtClean="0"/>
            </a:fld>
            <a:endParaRPr lang="en-US"/>
          </a:p>
        </p:txBody>
      </p:sp>
      <p:sp>
        <p:nvSpPr>
          <p:cNvPr id="8" name="Footer Placeholder 7"/>
          <p:cNvSpPr>
            <a:spLocks noGrp="1"/>
          </p:cNvSpPr>
          <p:nvPr>
            <p:ph type="ftr" sz="quarter" idx="11"/>
            <p:custDataLst>
              <p:tags r:id="rId8"/>
            </p:custDataLst>
          </p:nvPr>
        </p:nvSpPr>
        <p:spPr/>
        <p:txBody>
          <a:bodyPr/>
          <a:lstStyle/>
          <a:p>
            <a:endParaRPr lang="en-US"/>
          </a:p>
        </p:txBody>
      </p:sp>
      <p:sp>
        <p:nvSpPr>
          <p:cNvPr id="9" name="Slide Number Placeholder 8"/>
          <p:cNvSpPr>
            <a:spLocks noGrp="1"/>
          </p:cNvSpPr>
          <p:nvPr>
            <p:ph type="sldNum" sz="quarter" idx="12"/>
            <p:custDataLst>
              <p:tags r:id="rId9"/>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Date Placeholder 2"/>
          <p:cNvSpPr>
            <a:spLocks noGrp="1"/>
          </p:cNvSpPr>
          <p:nvPr>
            <p:ph type="dt" sz="half" idx="10"/>
            <p:custDataLst>
              <p:tags r:id="rId3"/>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4"/>
            </p:custDataLst>
          </p:nvPr>
        </p:nvSpPr>
        <p:spPr/>
        <p:txBody>
          <a:bodyPr/>
          <a:lstStyle/>
          <a:p>
            <a:endParaRPr lang="en-US"/>
          </a:p>
        </p:txBody>
      </p:sp>
      <p:sp>
        <p:nvSpPr>
          <p:cNvPr id="5" name="Slide Number Placeholder 4"/>
          <p:cNvSpPr>
            <a:spLocks noGrp="1"/>
          </p:cNvSpPr>
          <p:nvPr>
            <p:ph type="sldNum" sz="quarter" idx="12"/>
            <p:custDataLst>
              <p:tags r:id="rId5"/>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3" name="Footer Placeholder 2"/>
          <p:cNvSpPr>
            <a:spLocks noGrp="1"/>
          </p:cNvSpPr>
          <p:nvPr>
            <p:ph type="ftr" sz="quarter" idx="11"/>
            <p:custDataLst>
              <p:tags r:id="rId3"/>
            </p:custDataLst>
          </p:nvPr>
        </p:nvSpPr>
        <p:spPr/>
        <p:txBody>
          <a:bodyPr/>
          <a:lstStyle/>
          <a:p>
            <a:endParaRPr lang="en-US"/>
          </a:p>
        </p:txBody>
      </p:sp>
      <p:sp>
        <p:nvSpPr>
          <p:cNvPr id="4" name="Slide Number Placeholder 3"/>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smtClean="0"/>
              <a:t>Click to edit Master text styles</a:t>
            </a:r>
            <a:endParaRPr lang="en-US"/>
          </a:p>
        </p:txBody>
      </p:sp>
      <p:sp>
        <p:nvSpPr>
          <p:cNvPr id="5" name="Date Placeholder 4"/>
          <p:cNvSpPr>
            <a:spLocks noGrp="1"/>
          </p:cNvSpPr>
          <p:nvPr>
            <p:ph type="dt" sz="half" idx="10"/>
            <p:custDataLst>
              <p:tags r:id="rId4"/>
            </p:custDataLst>
          </p:nvPr>
        </p:nvSpPr>
        <p:spPr/>
        <p:txBody>
          <a:bodyPr/>
          <a:lstStyle/>
          <a:p>
            <a:fld id="{9EFD9D74-47D9-4702-A33C-335B63B48DBF}" type="datetimeFigureOut">
              <a:rPr lang="en-US" smtClean="0"/>
            </a:fld>
            <a:endParaRPr lang="en-US" dirty="0"/>
          </a:p>
        </p:txBody>
      </p:sp>
      <p:sp>
        <p:nvSpPr>
          <p:cNvPr id="6" name="Footer Placeholder 5"/>
          <p:cNvSpPr>
            <a:spLocks noGrp="1"/>
          </p:cNvSpPr>
          <p:nvPr>
            <p:ph type="ftr" sz="quarter" idx="11"/>
            <p:custDataLst>
              <p:tags r:id="rId5"/>
            </p:custDataLst>
          </p:nvPr>
        </p:nvSpPr>
        <p:spPr/>
        <p:txBody>
          <a:bodyPr/>
          <a:lstStyle/>
          <a:p>
            <a:endParaRPr lang="en-US" dirty="0"/>
          </a:p>
        </p:txBody>
      </p:sp>
      <p:sp>
        <p:nvSpPr>
          <p:cNvPr id="7" name="Slide Number Placeholder 6"/>
          <p:cNvSpPr>
            <a:spLocks noGrp="1"/>
          </p:cNvSpPr>
          <p:nvPr>
            <p:ph type="sldNum" sz="quarter" idx="12"/>
            <p:custDataLst>
              <p:tags r:id="rId6"/>
            </p:custDataLst>
          </p:nvPr>
        </p:nvSpPr>
        <p:spPr/>
        <p:txBody>
          <a:bodyPr/>
          <a:lstStyle/>
          <a:p>
            <a:fld id="{FABC47A4-756D-490B-A52F-7D9E2C9FC05F}" type="slidenum">
              <a:rPr lang="en-US" smtClean="0"/>
            </a:fld>
            <a:endParaRPr lang="en-US"/>
          </a:p>
        </p:txBody>
      </p:sp>
      <p:sp>
        <p:nvSpPr>
          <p:cNvPr id="9" name="Title 8"/>
          <p:cNvSpPr>
            <a:spLocks noGrp="1"/>
          </p:cNvSpPr>
          <p:nvPr>
            <p:ph type="title"/>
            <p:custDataLst>
              <p:tags r:id="rId7"/>
            </p:custDataLst>
          </p:nvPr>
        </p:nvSpPr>
        <p:spPr/>
        <p:txBody>
          <a:bodyPr/>
          <a:p>
            <a:r>
              <a:rPr lang="en-US"/>
              <a:t>Click to edit Master title style</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smtClean="0"/>
              <a:t>Click to edit title</a:t>
            </a:r>
            <a:endParaRPr lang="en-US"/>
          </a:p>
        </p:txBody>
      </p:sp>
      <p:sp>
        <p:nvSpPr>
          <p:cNvPr id="3" name="Vertical Text Placeholder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7" name="Content Placeholder 6"/>
          <p:cNvSpPr>
            <a:spLocks noGrp="1"/>
          </p:cNvSpPr>
          <p:nvPr>
            <p:ph sz="quarter" idx="13"/>
            <p:custDataLst>
              <p:tags r:id="rId5"/>
            </p:custDataLst>
          </p:nvPr>
        </p:nvSpPr>
        <p:spPr>
          <a:xfrm>
            <a:off x="608400" y="774000"/>
            <a:ext cx="10972800" cy="5482800"/>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2" name="Title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smtClean="0"/>
              <a:t>Click to edit title</a:t>
            </a:r>
            <a:endParaRPr lang="en-US"/>
          </a:p>
        </p:txBody>
      </p:sp>
      <p:sp>
        <p:nvSpPr>
          <p:cNvPr id="7" name="Text Placeholder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endParaRPr lang="en-US" dirty="0"/>
          </a:p>
        </p:txBody>
      </p:sp>
      <p:sp>
        <p:nvSpPr>
          <p:cNvPr id="3" name="Text Placeholder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fld>
            <a:endParaRPr lang="en-US"/>
          </a:p>
        </p:txBody>
      </p:sp>
      <p:sp>
        <p:nvSpPr>
          <p:cNvPr id="5" name="Footer Placeholder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fld>
            <a:endParaRPr 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2000" cy="68580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Rectangle 2"/>
          <p:cNvSpPr/>
          <p:nvPr/>
        </p:nvSpPr>
        <p:spPr>
          <a:xfrm>
            <a:off x="0" y="0"/>
            <a:ext cx="228600" cy="6858000"/>
          </a:xfrm>
          <a:prstGeom prst="rect">
            <a:avLst/>
          </a:prstGeom>
          <a:solidFill>
            <a:srgbClr val="2F6B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Rounded Rectangle 3"/>
          <p:cNvSpPr/>
          <p:nvPr/>
        </p:nvSpPr>
        <p:spPr>
          <a:xfrm>
            <a:off x="685800" y="482600"/>
            <a:ext cx="3302000" cy="4318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 name="Text Box 4"/>
          <p:cNvSpPr txBox="1"/>
          <p:nvPr/>
        </p:nvSpPr>
        <p:spPr>
          <a:xfrm>
            <a:off x="850900" y="596900"/>
            <a:ext cx="2971800" cy="207010"/>
          </a:xfrm>
          <a:prstGeom prst="rect">
            <a:avLst/>
          </a:prstGeom>
          <a:noFill/>
        </p:spPr>
        <p:txBody>
          <a:bodyPr wrap="square" lIns="0" tIns="0" rIns="0" rtlCol="0" anchor="t">
            <a:spAutoFit/>
          </a:bodyPr>
          <a:p>
            <a:pPr algn="ctr"/>
            <a:r>
              <a:rPr lang="en-US" sz="1050" b="1">
                <a:solidFill>
                  <a:srgbClr val="2F6BFF"/>
                </a:solidFill>
                <a:latin typeface="Aptos" charset="0"/>
                <a:cs typeface="Aptos" charset="0"/>
              </a:rPr>
              <a:t>BTL-K03  •  BẢN THUYẾT TRÌNH CHI TIẾT</a:t>
            </a:r>
            <a:endParaRPr lang="en-US" sz="1050" b="1">
              <a:solidFill>
                <a:srgbClr val="2F6BFF"/>
              </a:solidFill>
              <a:latin typeface="Aptos" charset="0"/>
              <a:cs typeface="Aptos" charset="0"/>
            </a:endParaRPr>
          </a:p>
        </p:txBody>
      </p:sp>
      <p:sp>
        <p:nvSpPr>
          <p:cNvPr id="6" name="Text Box 5"/>
          <p:cNvSpPr txBox="1"/>
          <p:nvPr/>
        </p:nvSpPr>
        <p:spPr>
          <a:xfrm>
            <a:off x="685800" y="1333500"/>
            <a:ext cx="10541000" cy="1030605"/>
          </a:xfrm>
          <a:prstGeom prst="rect">
            <a:avLst/>
          </a:prstGeom>
          <a:noFill/>
        </p:spPr>
        <p:txBody>
          <a:bodyPr wrap="square" lIns="0" tIns="0" rIns="0" rtlCol="0" anchor="t">
            <a:spAutoFit/>
          </a:bodyPr>
          <a:p>
            <a:pPr algn="l"/>
            <a:r>
              <a:rPr lang="en-US" sz="3200" b="1">
                <a:solidFill>
                  <a:srgbClr val="0B1F33"/>
                </a:solidFill>
                <a:latin typeface="Aptos" charset="0"/>
                <a:cs typeface="Aptos" charset="0"/>
              </a:rPr>
              <a:t>Thiên lệch độ phổ biến và hình học không gian embedding</a:t>
            </a:r>
            <a:endParaRPr lang="en-US" sz="3200" b="1">
              <a:solidFill>
                <a:srgbClr val="0B1F33"/>
              </a:solidFill>
              <a:latin typeface="Aptos" charset="0"/>
              <a:cs typeface="Aptos" charset="0"/>
            </a:endParaRPr>
          </a:p>
        </p:txBody>
      </p:sp>
      <p:sp>
        <p:nvSpPr>
          <p:cNvPr id="7" name="Text Box 6"/>
          <p:cNvSpPr txBox="1"/>
          <p:nvPr/>
        </p:nvSpPr>
        <p:spPr>
          <a:xfrm>
            <a:off x="698500" y="2768600"/>
            <a:ext cx="10414000" cy="368300"/>
          </a:xfrm>
          <a:prstGeom prst="rect">
            <a:avLst/>
          </a:prstGeom>
          <a:noFill/>
        </p:spPr>
        <p:txBody>
          <a:bodyPr wrap="square" lIns="0" tIns="0" rIns="0" rtlCol="0" anchor="t">
            <a:spAutoFit/>
          </a:bodyPr>
          <a:p>
            <a:pPr algn="l"/>
            <a:r>
              <a:rPr lang="en-US" sz="2100" b="1">
                <a:solidFill>
                  <a:srgbClr val="2F6BFF"/>
                </a:solidFill>
                <a:latin typeface="Aptos" charset="0"/>
                <a:cs typeface="Aptos" charset="0"/>
              </a:rPr>
              <a:t>trong mô hình Session-Based Recommendation</a:t>
            </a:r>
            <a:endParaRPr lang="en-US" sz="2100" b="1">
              <a:solidFill>
                <a:srgbClr val="2F6BFF"/>
              </a:solidFill>
              <a:latin typeface="Aptos" charset="0"/>
              <a:cs typeface="Aptos" charset="0"/>
            </a:endParaRPr>
          </a:p>
        </p:txBody>
      </p:sp>
      <p:sp>
        <p:nvSpPr>
          <p:cNvPr id="8" name="Rounded Rectangle 7"/>
          <p:cNvSpPr/>
          <p:nvPr/>
        </p:nvSpPr>
        <p:spPr>
          <a:xfrm>
            <a:off x="698500" y="3810000"/>
            <a:ext cx="10223500" cy="14732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9" name="Text Box 8"/>
          <p:cNvSpPr txBox="1"/>
          <p:nvPr/>
        </p:nvSpPr>
        <p:spPr>
          <a:xfrm>
            <a:off x="1041400" y="4254500"/>
            <a:ext cx="9525000" cy="291465"/>
          </a:xfrm>
          <a:prstGeom prst="rect">
            <a:avLst/>
          </a:prstGeom>
          <a:noFill/>
        </p:spPr>
        <p:txBody>
          <a:bodyPr wrap="square" lIns="0" tIns="0" rIns="0" rtlCol="0" anchor="t">
            <a:spAutoFit/>
          </a:bodyPr>
          <a:p>
            <a:pPr algn="ctr"/>
            <a:r>
              <a:rPr lang="en-US" sz="1600" b="1">
                <a:solidFill>
                  <a:srgbClr val="0B1F33"/>
                </a:solidFill>
                <a:latin typeface="Aptos" charset="0"/>
                <a:cs typeface="Aptos" charset="0"/>
              </a:rPr>
              <a:t>Vấn đề nghiên cứu  →  EDA Diginetica  →  Tiền xử lý  →  Dữ liệu sẵn sàng huấn luyện</a:t>
            </a:r>
            <a:endParaRPr lang="en-US" sz="1600" b="1">
              <a:solidFill>
                <a:srgbClr val="0B1F33"/>
              </a:solidFill>
              <a:latin typeface="Aptos" charset="0"/>
              <a:cs typeface="Aptos" charset="0"/>
            </a:endParaRPr>
          </a:p>
        </p:txBody>
      </p:sp>
      <p:sp>
        <p:nvSpPr>
          <p:cNvPr id="10" name="Rounded Rectangle 9"/>
          <p:cNvSpPr/>
          <p:nvPr/>
        </p:nvSpPr>
        <p:spPr>
          <a:xfrm>
            <a:off x="698500" y="5651500"/>
            <a:ext cx="7747000" cy="558800"/>
          </a:xfrm>
          <a:prstGeom prst="roundRect">
            <a:avLst/>
          </a:prstGeom>
          <a:solidFill>
            <a:srgbClr val="FFF4E4"/>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Text Box 10"/>
          <p:cNvSpPr txBox="1"/>
          <p:nvPr/>
        </p:nvSpPr>
        <p:spPr>
          <a:xfrm>
            <a:off x="952500" y="5803900"/>
            <a:ext cx="7239000" cy="237490"/>
          </a:xfrm>
          <a:prstGeom prst="rect">
            <a:avLst/>
          </a:prstGeom>
          <a:noFill/>
        </p:spPr>
        <p:txBody>
          <a:bodyPr wrap="square" lIns="0" tIns="0" rIns="0" rtlCol="0" anchor="t">
            <a:spAutoFit/>
          </a:bodyPr>
          <a:p>
            <a:pPr algn="l"/>
            <a:r>
              <a:rPr lang="en-US" sz="1250" b="1">
                <a:solidFill>
                  <a:srgbClr val="FF9F43"/>
                </a:solidFill>
                <a:latin typeface="Aptos" charset="0"/>
                <a:cs typeface="Aptos" charset="0"/>
              </a:rPr>
              <a:t>Đã hoàn thành notebook 01–02; chưa huấn luyện ba mô hình.</a:t>
            </a:r>
            <a:endParaRPr lang="en-US" sz="1250" b="1">
              <a:solidFill>
                <a:srgbClr val="FF9F43"/>
              </a:solidFill>
              <a:latin typeface="Aptos" charset="0"/>
              <a:cs typeface="Aptos" charset="0"/>
            </a:endParaRPr>
          </a:p>
        </p:txBody>
      </p:sp>
      <p:sp>
        <p:nvSpPr>
          <p:cNvPr id="12" name="Text Box 11"/>
          <p:cNvSpPr txBox="1"/>
          <p:nvPr/>
        </p:nvSpPr>
        <p:spPr>
          <a:xfrm>
            <a:off x="10452100" y="6413500"/>
            <a:ext cx="1079500" cy="207010"/>
          </a:xfrm>
          <a:prstGeom prst="rect">
            <a:avLst/>
          </a:prstGeom>
          <a:noFill/>
        </p:spPr>
        <p:txBody>
          <a:bodyPr wrap="square" lIns="0" tIns="0" rIns="0" rtlCol="0" anchor="t">
            <a:spAutoFit/>
          </a:bodyPr>
          <a:p>
            <a:pPr algn="r"/>
            <a:r>
              <a:rPr lang="en-US" sz="1050" b="1">
                <a:solidFill>
                  <a:srgbClr val="2F6BFF"/>
                </a:solidFill>
                <a:latin typeface="Aptos" charset="0"/>
                <a:cs typeface="Aptos" charset="0"/>
              </a:rPr>
              <a:t>01 / 25</a:t>
            </a:r>
            <a:endParaRPr lang="en-US" sz="1050" b="1">
              <a:solidFill>
                <a:srgbClr val="2F6BFF"/>
              </a:solidFill>
              <a:latin typeface="Aptos" charset="0"/>
              <a:cs typeface="Aptos"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2000" cy="68580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Rectangle 2"/>
          <p:cNvSpPr/>
          <p:nvPr/>
        </p:nvSpPr>
        <p:spPr>
          <a:xfrm>
            <a:off x="0" y="0"/>
            <a:ext cx="177800" cy="6858000"/>
          </a:xfrm>
          <a:prstGeom prst="rect">
            <a:avLst/>
          </a:prstGeom>
          <a:solidFill>
            <a:srgbClr val="2F6B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ext Box 3"/>
          <p:cNvSpPr txBox="1"/>
          <p:nvPr/>
        </p:nvSpPr>
        <p:spPr>
          <a:xfrm>
            <a:off x="635000" y="355600"/>
            <a:ext cx="10922000" cy="437515"/>
          </a:xfrm>
          <a:prstGeom prst="rect">
            <a:avLst/>
          </a:prstGeom>
          <a:noFill/>
        </p:spPr>
        <p:txBody>
          <a:bodyPr wrap="square" lIns="0" tIns="0" rIns="0" rtlCol="0" anchor="t">
            <a:spAutoFit/>
          </a:bodyPr>
          <a:p>
            <a:pPr algn="l"/>
            <a:r>
              <a:rPr lang="en-US" sz="2550" b="1">
                <a:solidFill>
                  <a:srgbClr val="0B1F33"/>
                </a:solidFill>
                <a:latin typeface="Aptos" charset="0"/>
                <a:cs typeface="Aptos" charset="0"/>
              </a:rPr>
              <a:t>Session-Based Recommendation là gì?</a:t>
            </a:r>
            <a:endParaRPr lang="en-US" sz="2550" b="1">
              <a:solidFill>
                <a:srgbClr val="0B1F33"/>
              </a:solidFill>
              <a:latin typeface="Aptos" charset="0"/>
              <a:cs typeface="Aptos" charset="0"/>
            </a:endParaRPr>
          </a:p>
        </p:txBody>
      </p:sp>
      <p:sp>
        <p:nvSpPr>
          <p:cNvPr id="5" name="Text Box 4"/>
          <p:cNvSpPr txBox="1"/>
          <p:nvPr/>
        </p:nvSpPr>
        <p:spPr>
          <a:xfrm>
            <a:off x="10515600" y="6477000"/>
            <a:ext cx="1016000" cy="207010"/>
          </a:xfrm>
          <a:prstGeom prst="rect">
            <a:avLst/>
          </a:prstGeom>
          <a:noFill/>
        </p:spPr>
        <p:txBody>
          <a:bodyPr wrap="square" lIns="0" tIns="0" rIns="0" rtlCol="0" anchor="t">
            <a:spAutoFit/>
          </a:bodyPr>
          <a:p>
            <a:pPr algn="r"/>
            <a:r>
              <a:rPr lang="en-US" sz="1050" b="1">
                <a:solidFill>
                  <a:srgbClr val="2F6BFF"/>
                </a:solidFill>
                <a:latin typeface="Aptos" charset="0"/>
                <a:cs typeface="Aptos" charset="0"/>
              </a:rPr>
              <a:t>02 / 25</a:t>
            </a:r>
            <a:endParaRPr lang="en-US" sz="1050" b="1">
              <a:solidFill>
                <a:srgbClr val="2F6BFF"/>
              </a:solidFill>
              <a:latin typeface="Aptos" charset="0"/>
              <a:cs typeface="Aptos" charset="0"/>
            </a:endParaRPr>
          </a:p>
        </p:txBody>
      </p:sp>
      <p:sp>
        <p:nvSpPr>
          <p:cNvPr id="6" name="Rounded Rectangle 5"/>
          <p:cNvSpPr/>
          <p:nvPr/>
        </p:nvSpPr>
        <p:spPr>
          <a:xfrm>
            <a:off x="635000" y="1219200"/>
            <a:ext cx="5334000" cy="19939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 name="Text Box 6"/>
          <p:cNvSpPr txBox="1"/>
          <p:nvPr/>
        </p:nvSpPr>
        <p:spPr>
          <a:xfrm>
            <a:off x="838200" y="1397000"/>
            <a:ext cx="533400" cy="306705"/>
          </a:xfrm>
          <a:prstGeom prst="rect">
            <a:avLst/>
          </a:prstGeom>
          <a:noFill/>
        </p:spPr>
        <p:txBody>
          <a:bodyPr wrap="square" lIns="0" tIns="0" rIns="0" rtlCol="0" anchor="t">
            <a:spAutoFit/>
          </a:bodyPr>
          <a:p>
            <a:pPr algn="l"/>
            <a:r>
              <a:rPr lang="en-US" sz="1700" b="1">
                <a:solidFill>
                  <a:srgbClr val="2F6BFF"/>
                </a:solidFill>
                <a:latin typeface="Aptos" charset="0"/>
                <a:cs typeface="Aptos" charset="0"/>
              </a:rPr>
              <a:t>01</a:t>
            </a:r>
            <a:endParaRPr lang="en-US" sz="1700" b="1">
              <a:solidFill>
                <a:srgbClr val="2F6BFF"/>
              </a:solidFill>
              <a:latin typeface="Aptos" charset="0"/>
              <a:cs typeface="Aptos" charset="0"/>
            </a:endParaRPr>
          </a:p>
        </p:txBody>
      </p:sp>
      <p:sp>
        <p:nvSpPr>
          <p:cNvPr id="8" name="Text Box 7"/>
          <p:cNvSpPr txBox="1"/>
          <p:nvPr/>
        </p:nvSpPr>
        <p:spPr>
          <a:xfrm>
            <a:off x="1422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Đơn vị phân tích</a:t>
            </a:r>
            <a:endParaRPr lang="en-US" sz="1350" b="1">
              <a:solidFill>
                <a:srgbClr val="0B1F33"/>
              </a:solidFill>
              <a:latin typeface="Aptos" charset="0"/>
              <a:cs typeface="Aptos" charset="0"/>
            </a:endParaRPr>
          </a:p>
        </p:txBody>
      </p:sp>
      <p:sp>
        <p:nvSpPr>
          <p:cNvPr id="9" name="Text Box 8"/>
          <p:cNvSpPr txBox="1"/>
          <p:nvPr/>
        </p:nvSpPr>
        <p:spPr>
          <a:xfrm>
            <a:off x="889000" y="18796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Một session là chuỗi các item mà người dùng tương tác trong một lần truy cập. Bài toán không cần lịch sử dài hạn của user, vì mô hình tập trung vào ý định trong phiên hiện tại.</a:t>
            </a:r>
            <a:endParaRPr lang="en-US" sz="1200">
              <a:solidFill>
                <a:srgbClr val="172B4D"/>
              </a:solidFill>
              <a:latin typeface="Aptos" charset="0"/>
              <a:cs typeface="Aptos" charset="0"/>
            </a:endParaRPr>
          </a:p>
        </p:txBody>
      </p:sp>
      <p:sp>
        <p:nvSpPr>
          <p:cNvPr id="10" name="Rounded Rectangle 9"/>
          <p:cNvSpPr/>
          <p:nvPr/>
        </p:nvSpPr>
        <p:spPr>
          <a:xfrm>
            <a:off x="6223000" y="1219200"/>
            <a:ext cx="5334000" cy="1993900"/>
          </a:xfrm>
          <a:prstGeom prst="roundRect">
            <a:avLst/>
          </a:prstGeom>
          <a:solidFill>
            <a:srgbClr val="E4F8F5"/>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Text Box 10"/>
          <p:cNvSpPr txBox="1"/>
          <p:nvPr/>
        </p:nvSpPr>
        <p:spPr>
          <a:xfrm>
            <a:off x="6426200" y="1397000"/>
            <a:ext cx="533400" cy="306705"/>
          </a:xfrm>
          <a:prstGeom prst="rect">
            <a:avLst/>
          </a:prstGeom>
          <a:noFill/>
        </p:spPr>
        <p:txBody>
          <a:bodyPr wrap="square" lIns="0" tIns="0" rIns="0" rtlCol="0" anchor="t">
            <a:spAutoFit/>
          </a:bodyPr>
          <a:p>
            <a:pPr algn="l"/>
            <a:r>
              <a:rPr lang="en-US" sz="1700" b="1">
                <a:solidFill>
                  <a:srgbClr val="16B3A3"/>
                </a:solidFill>
                <a:latin typeface="Aptos" charset="0"/>
                <a:cs typeface="Aptos" charset="0"/>
              </a:rPr>
              <a:t>02</a:t>
            </a:r>
            <a:endParaRPr lang="en-US" sz="1700" b="1">
              <a:solidFill>
                <a:srgbClr val="16B3A3"/>
              </a:solidFill>
              <a:latin typeface="Aptos" charset="0"/>
              <a:cs typeface="Aptos" charset="0"/>
            </a:endParaRPr>
          </a:p>
        </p:txBody>
      </p:sp>
      <p:sp>
        <p:nvSpPr>
          <p:cNvPr id="12" name="Text Box 11"/>
          <p:cNvSpPr txBox="1"/>
          <p:nvPr/>
        </p:nvSpPr>
        <p:spPr>
          <a:xfrm>
            <a:off x="7010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Mục tiêu dự đoán</a:t>
            </a:r>
            <a:endParaRPr lang="en-US" sz="1350" b="1">
              <a:solidFill>
                <a:srgbClr val="0B1F33"/>
              </a:solidFill>
              <a:latin typeface="Aptos" charset="0"/>
              <a:cs typeface="Aptos" charset="0"/>
            </a:endParaRPr>
          </a:p>
        </p:txBody>
      </p:sp>
      <p:sp>
        <p:nvSpPr>
          <p:cNvPr id="13" name="Text Box 12"/>
          <p:cNvSpPr txBox="1"/>
          <p:nvPr/>
        </p:nvSpPr>
        <p:spPr>
          <a:xfrm>
            <a:off x="6477000" y="18796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Từ lịch sử [A, B, C], mô hình tính điểm cho catalog và dự đoán item tiếp theo D. Kết quả cuối thường là danh sách Top-20 item có điểm cao nhất.</a:t>
            </a:r>
            <a:endParaRPr lang="en-US" sz="1200">
              <a:solidFill>
                <a:srgbClr val="172B4D"/>
              </a:solidFill>
              <a:latin typeface="Aptos" charset="0"/>
              <a:cs typeface="Aptos" charset="0"/>
            </a:endParaRPr>
          </a:p>
        </p:txBody>
      </p:sp>
      <p:sp>
        <p:nvSpPr>
          <p:cNvPr id="14" name="Rounded Rectangle 13"/>
          <p:cNvSpPr/>
          <p:nvPr/>
        </p:nvSpPr>
        <p:spPr>
          <a:xfrm>
            <a:off x="635000" y="3467100"/>
            <a:ext cx="5334000" cy="1993900"/>
          </a:xfrm>
          <a:prstGeom prst="roundRect">
            <a:avLst/>
          </a:prstGeom>
          <a:solidFill>
            <a:srgbClr val="FFF4E4"/>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Text Box 14"/>
          <p:cNvSpPr txBox="1"/>
          <p:nvPr/>
        </p:nvSpPr>
        <p:spPr>
          <a:xfrm>
            <a:off x="838200" y="3644900"/>
            <a:ext cx="533400" cy="306705"/>
          </a:xfrm>
          <a:prstGeom prst="rect">
            <a:avLst/>
          </a:prstGeom>
          <a:noFill/>
        </p:spPr>
        <p:txBody>
          <a:bodyPr wrap="square" lIns="0" tIns="0" rIns="0" rtlCol="0" anchor="t">
            <a:spAutoFit/>
          </a:bodyPr>
          <a:p>
            <a:pPr algn="l"/>
            <a:r>
              <a:rPr lang="en-US" sz="1700" b="1">
                <a:solidFill>
                  <a:srgbClr val="FF9F43"/>
                </a:solidFill>
                <a:latin typeface="Aptos" charset="0"/>
                <a:cs typeface="Aptos" charset="0"/>
              </a:rPr>
              <a:t>03</a:t>
            </a:r>
            <a:endParaRPr lang="en-US" sz="1700" b="1">
              <a:solidFill>
                <a:srgbClr val="FF9F43"/>
              </a:solidFill>
              <a:latin typeface="Aptos" charset="0"/>
              <a:cs typeface="Aptos" charset="0"/>
            </a:endParaRPr>
          </a:p>
        </p:txBody>
      </p:sp>
      <p:sp>
        <p:nvSpPr>
          <p:cNvPr id="16" name="Text Box 15"/>
          <p:cNvSpPr txBox="1"/>
          <p:nvPr/>
        </p:nvSpPr>
        <p:spPr>
          <a:xfrm>
            <a:off x="1422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Cách tạo mẫu</a:t>
            </a:r>
            <a:endParaRPr lang="en-US" sz="1350" b="1">
              <a:solidFill>
                <a:srgbClr val="0B1F33"/>
              </a:solidFill>
              <a:latin typeface="Aptos" charset="0"/>
              <a:cs typeface="Aptos" charset="0"/>
            </a:endParaRPr>
          </a:p>
        </p:txBody>
      </p:sp>
      <p:sp>
        <p:nvSpPr>
          <p:cNvPr id="17" name="Text Box 16"/>
          <p:cNvSpPr txBox="1"/>
          <p:nvPr/>
        </p:nvSpPr>
        <p:spPr>
          <a:xfrm>
            <a:off x="889000" y="41275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Session [A, B, C, D] có thể tạo [A]→B, [A,B]→C và [A,B,C]→D. Vì vậy session dài đóng góp nhiều mẫu huấn luyện hơn session ngắn.</a:t>
            </a:r>
            <a:endParaRPr lang="en-US" sz="1200">
              <a:solidFill>
                <a:srgbClr val="172B4D"/>
              </a:solidFill>
              <a:latin typeface="Aptos" charset="0"/>
              <a:cs typeface="Aptos" charset="0"/>
            </a:endParaRPr>
          </a:p>
        </p:txBody>
      </p:sp>
      <p:sp>
        <p:nvSpPr>
          <p:cNvPr id="18" name="Rounded Rectangle 17"/>
          <p:cNvSpPr/>
          <p:nvPr/>
        </p:nvSpPr>
        <p:spPr>
          <a:xfrm>
            <a:off x="6223000" y="3467100"/>
            <a:ext cx="5334000" cy="1993900"/>
          </a:xfrm>
          <a:prstGeom prst="roundRect">
            <a:avLst/>
          </a:prstGeom>
          <a:solidFill>
            <a:srgbClr val="F4F7FB"/>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9" name="Text Box 18"/>
          <p:cNvSpPr txBox="1"/>
          <p:nvPr/>
        </p:nvSpPr>
        <p:spPr>
          <a:xfrm>
            <a:off x="6426200" y="3644900"/>
            <a:ext cx="533400" cy="306705"/>
          </a:xfrm>
          <a:prstGeom prst="rect">
            <a:avLst/>
          </a:prstGeom>
          <a:noFill/>
        </p:spPr>
        <p:txBody>
          <a:bodyPr wrap="square" lIns="0" tIns="0" rIns="0" rtlCol="0" anchor="t">
            <a:spAutoFit/>
          </a:bodyPr>
          <a:p>
            <a:pPr algn="l"/>
            <a:r>
              <a:rPr lang="en-US" sz="1700" b="1">
                <a:solidFill>
                  <a:srgbClr val="E45756"/>
                </a:solidFill>
                <a:latin typeface="Aptos" charset="0"/>
                <a:cs typeface="Aptos" charset="0"/>
              </a:rPr>
              <a:t>04</a:t>
            </a:r>
            <a:endParaRPr lang="en-US" sz="1700" b="1">
              <a:solidFill>
                <a:srgbClr val="E45756"/>
              </a:solidFill>
              <a:latin typeface="Aptos" charset="0"/>
              <a:cs typeface="Aptos" charset="0"/>
            </a:endParaRPr>
          </a:p>
        </p:txBody>
      </p:sp>
      <p:sp>
        <p:nvSpPr>
          <p:cNvPr id="20" name="Text Box 19"/>
          <p:cNvSpPr txBox="1"/>
          <p:nvPr/>
        </p:nvSpPr>
        <p:spPr>
          <a:xfrm>
            <a:off x="7010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Ý nghĩa của thứ tự</a:t>
            </a:r>
            <a:endParaRPr lang="en-US" sz="1350" b="1">
              <a:solidFill>
                <a:srgbClr val="0B1F33"/>
              </a:solidFill>
              <a:latin typeface="Aptos" charset="0"/>
              <a:cs typeface="Aptos" charset="0"/>
            </a:endParaRPr>
          </a:p>
        </p:txBody>
      </p:sp>
      <p:sp>
        <p:nvSpPr>
          <p:cNvPr id="21" name="Text Box 20"/>
          <p:cNvSpPr txBox="1"/>
          <p:nvPr/>
        </p:nvSpPr>
        <p:spPr>
          <a:xfrm>
            <a:off x="6477000" y="41275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Nếu click bị đảo thứ tự, mô hình sẽ học sai quan hệ chuyển tiếp. Do đó việc sắp event theo đúng thời gian là điều kiện kỹ thuật bắt buộc, không phải thao tác trang trí dữ liệu.</a:t>
            </a:r>
            <a:endParaRPr lang="en-US" sz="1200">
              <a:solidFill>
                <a:srgbClr val="172B4D"/>
              </a:solidFill>
              <a:latin typeface="Aptos" charset="0"/>
              <a:cs typeface="Aptos" charset="0"/>
            </a:endParaRPr>
          </a:p>
        </p:txBody>
      </p:sp>
      <p:sp>
        <p:nvSpPr>
          <p:cNvPr id="22" name="Rounded Rectangle 21"/>
          <p:cNvSpPr/>
          <p:nvPr/>
        </p:nvSpPr>
        <p:spPr>
          <a:xfrm>
            <a:off x="2413000" y="5524500"/>
            <a:ext cx="7366000" cy="571500"/>
          </a:xfrm>
          <a:prstGeom prst="roundRect">
            <a:avLst/>
          </a:prstGeom>
          <a:solidFill>
            <a:srgbClr val="0B1F33"/>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3" name="Text Box 22"/>
          <p:cNvSpPr txBox="1"/>
          <p:nvPr/>
        </p:nvSpPr>
        <p:spPr>
          <a:xfrm>
            <a:off x="2667000" y="5689600"/>
            <a:ext cx="6858000" cy="214630"/>
          </a:xfrm>
          <a:prstGeom prst="rect">
            <a:avLst/>
          </a:prstGeom>
          <a:noFill/>
        </p:spPr>
        <p:txBody>
          <a:bodyPr wrap="square" lIns="0" tIns="0" rIns="0" rtlCol="0" anchor="t">
            <a:spAutoFit/>
          </a:bodyPr>
          <a:p>
            <a:pPr algn="ctr"/>
            <a:r>
              <a:rPr lang="en-US" sz="1100" b="1">
                <a:solidFill>
                  <a:srgbClr val="FFFFFF"/>
                </a:solidFill>
                <a:latin typeface="Aptos" charset="0"/>
                <a:cs typeface="Aptos" charset="0"/>
              </a:rPr>
              <a:t>Hiểu đơn giản: xem các item trước đó để đoán item kế tiếp trong cùng session.</a:t>
            </a:r>
            <a:endParaRPr lang="en-US" sz="1100" b="1">
              <a:solidFill>
                <a:srgbClr val="FFFFFF"/>
              </a:solidFill>
              <a:latin typeface="Aptos" charset="0"/>
              <a:cs typeface="Aptos"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2000" cy="68580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Rectangle 2"/>
          <p:cNvSpPr/>
          <p:nvPr/>
        </p:nvSpPr>
        <p:spPr>
          <a:xfrm>
            <a:off x="0" y="0"/>
            <a:ext cx="177800" cy="6858000"/>
          </a:xfrm>
          <a:prstGeom prst="rect">
            <a:avLst/>
          </a:prstGeom>
          <a:solidFill>
            <a:srgbClr val="2F6B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ext Box 3"/>
          <p:cNvSpPr txBox="1"/>
          <p:nvPr/>
        </p:nvSpPr>
        <p:spPr>
          <a:xfrm>
            <a:off x="635000" y="355600"/>
            <a:ext cx="10922000" cy="437515"/>
          </a:xfrm>
          <a:prstGeom prst="rect">
            <a:avLst/>
          </a:prstGeom>
          <a:noFill/>
        </p:spPr>
        <p:txBody>
          <a:bodyPr wrap="square" lIns="0" tIns="0" rIns="0" rtlCol="0" anchor="t">
            <a:spAutoFit/>
          </a:bodyPr>
          <a:p>
            <a:pPr algn="l"/>
            <a:r>
              <a:rPr lang="en-US" sz="2550" b="1">
                <a:solidFill>
                  <a:srgbClr val="0B1F33"/>
                </a:solidFill>
                <a:latin typeface="Aptos" charset="0"/>
                <a:cs typeface="Aptos" charset="0"/>
              </a:rPr>
              <a:t>Popularity bias là vấn đề gì?</a:t>
            </a:r>
            <a:endParaRPr lang="en-US" sz="2550" b="1">
              <a:solidFill>
                <a:srgbClr val="0B1F33"/>
              </a:solidFill>
              <a:latin typeface="Aptos" charset="0"/>
              <a:cs typeface="Aptos" charset="0"/>
            </a:endParaRPr>
          </a:p>
        </p:txBody>
      </p:sp>
      <p:sp>
        <p:nvSpPr>
          <p:cNvPr id="5" name="Text Box 4"/>
          <p:cNvSpPr txBox="1"/>
          <p:nvPr/>
        </p:nvSpPr>
        <p:spPr>
          <a:xfrm>
            <a:off x="10515600" y="6477000"/>
            <a:ext cx="1016000" cy="207010"/>
          </a:xfrm>
          <a:prstGeom prst="rect">
            <a:avLst/>
          </a:prstGeom>
          <a:noFill/>
        </p:spPr>
        <p:txBody>
          <a:bodyPr wrap="square" lIns="0" tIns="0" rIns="0" rtlCol="0" anchor="t">
            <a:spAutoFit/>
          </a:bodyPr>
          <a:p>
            <a:pPr algn="r"/>
            <a:r>
              <a:rPr lang="en-US" sz="1050" b="1">
                <a:solidFill>
                  <a:srgbClr val="2F6BFF"/>
                </a:solidFill>
                <a:latin typeface="Aptos" charset="0"/>
                <a:cs typeface="Aptos" charset="0"/>
              </a:rPr>
              <a:t>03 / 25</a:t>
            </a:r>
            <a:endParaRPr lang="en-US" sz="1050" b="1">
              <a:solidFill>
                <a:srgbClr val="2F6BFF"/>
              </a:solidFill>
              <a:latin typeface="Aptos" charset="0"/>
              <a:cs typeface="Aptos" charset="0"/>
            </a:endParaRPr>
          </a:p>
        </p:txBody>
      </p:sp>
      <p:sp>
        <p:nvSpPr>
          <p:cNvPr id="6" name="Rounded Rectangle 5"/>
          <p:cNvSpPr/>
          <p:nvPr/>
        </p:nvSpPr>
        <p:spPr>
          <a:xfrm>
            <a:off x="635000" y="1219200"/>
            <a:ext cx="5334000" cy="19939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 name="Text Box 6"/>
          <p:cNvSpPr txBox="1"/>
          <p:nvPr/>
        </p:nvSpPr>
        <p:spPr>
          <a:xfrm>
            <a:off x="838200" y="1397000"/>
            <a:ext cx="533400" cy="306705"/>
          </a:xfrm>
          <a:prstGeom prst="rect">
            <a:avLst/>
          </a:prstGeom>
          <a:noFill/>
        </p:spPr>
        <p:txBody>
          <a:bodyPr wrap="square" lIns="0" tIns="0" rIns="0" rtlCol="0" anchor="t">
            <a:spAutoFit/>
          </a:bodyPr>
          <a:p>
            <a:pPr algn="l"/>
            <a:r>
              <a:rPr lang="en-US" sz="1700" b="1">
                <a:solidFill>
                  <a:srgbClr val="2F6BFF"/>
                </a:solidFill>
                <a:latin typeface="Aptos" charset="0"/>
                <a:cs typeface="Aptos" charset="0"/>
              </a:rPr>
              <a:t>01</a:t>
            </a:r>
            <a:endParaRPr lang="en-US" sz="1700" b="1">
              <a:solidFill>
                <a:srgbClr val="2F6BFF"/>
              </a:solidFill>
              <a:latin typeface="Aptos" charset="0"/>
              <a:cs typeface="Aptos" charset="0"/>
            </a:endParaRPr>
          </a:p>
        </p:txBody>
      </p:sp>
      <p:sp>
        <p:nvSpPr>
          <p:cNvPr id="8" name="Text Box 7"/>
          <p:cNvSpPr txBox="1"/>
          <p:nvPr/>
        </p:nvSpPr>
        <p:spPr>
          <a:xfrm>
            <a:off x="1422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Định nghĩa</a:t>
            </a:r>
            <a:endParaRPr lang="en-US" sz="1350" b="1">
              <a:solidFill>
                <a:srgbClr val="0B1F33"/>
              </a:solidFill>
              <a:latin typeface="Aptos" charset="0"/>
              <a:cs typeface="Aptos" charset="0"/>
            </a:endParaRPr>
          </a:p>
        </p:txBody>
      </p:sp>
      <p:sp>
        <p:nvSpPr>
          <p:cNvPr id="9" name="Text Box 8"/>
          <p:cNvSpPr txBox="1"/>
          <p:nvPr/>
        </p:nvSpPr>
        <p:spPr>
          <a:xfrm>
            <a:off x="889000" y="18796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Popularity bias là xu hướng mô hình ưu tiên những item vốn đã xuất hiện nhiều trong train, trong khi item hiếm hoặc item mới ít có cơ hội xuất hiện trong danh sách gợi ý.</a:t>
            </a:r>
            <a:endParaRPr lang="en-US" sz="1200">
              <a:solidFill>
                <a:srgbClr val="172B4D"/>
              </a:solidFill>
              <a:latin typeface="Aptos" charset="0"/>
              <a:cs typeface="Aptos" charset="0"/>
            </a:endParaRPr>
          </a:p>
        </p:txBody>
      </p:sp>
      <p:sp>
        <p:nvSpPr>
          <p:cNvPr id="10" name="Rounded Rectangle 9"/>
          <p:cNvSpPr/>
          <p:nvPr/>
        </p:nvSpPr>
        <p:spPr>
          <a:xfrm>
            <a:off x="6223000" y="1219200"/>
            <a:ext cx="5334000" cy="1993900"/>
          </a:xfrm>
          <a:prstGeom prst="roundRect">
            <a:avLst/>
          </a:prstGeom>
          <a:solidFill>
            <a:srgbClr val="E4F8F5"/>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Text Box 10"/>
          <p:cNvSpPr txBox="1"/>
          <p:nvPr/>
        </p:nvSpPr>
        <p:spPr>
          <a:xfrm>
            <a:off x="6426200" y="1397000"/>
            <a:ext cx="533400" cy="306705"/>
          </a:xfrm>
          <a:prstGeom prst="rect">
            <a:avLst/>
          </a:prstGeom>
          <a:noFill/>
        </p:spPr>
        <p:txBody>
          <a:bodyPr wrap="square" lIns="0" tIns="0" rIns="0" rtlCol="0" anchor="t">
            <a:spAutoFit/>
          </a:bodyPr>
          <a:p>
            <a:pPr algn="l"/>
            <a:r>
              <a:rPr lang="en-US" sz="1700" b="1">
                <a:solidFill>
                  <a:srgbClr val="16B3A3"/>
                </a:solidFill>
                <a:latin typeface="Aptos" charset="0"/>
                <a:cs typeface="Aptos" charset="0"/>
              </a:rPr>
              <a:t>02</a:t>
            </a:r>
            <a:endParaRPr lang="en-US" sz="1700" b="1">
              <a:solidFill>
                <a:srgbClr val="16B3A3"/>
              </a:solidFill>
              <a:latin typeface="Aptos" charset="0"/>
              <a:cs typeface="Aptos" charset="0"/>
            </a:endParaRPr>
          </a:p>
        </p:txBody>
      </p:sp>
      <p:sp>
        <p:nvSpPr>
          <p:cNvPr id="12" name="Text Box 11"/>
          <p:cNvSpPr txBox="1"/>
          <p:nvPr/>
        </p:nvSpPr>
        <p:spPr>
          <a:xfrm>
            <a:off x="7010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Vòng lặp phản hồi</a:t>
            </a:r>
            <a:endParaRPr lang="en-US" sz="1350" b="1">
              <a:solidFill>
                <a:srgbClr val="0B1F33"/>
              </a:solidFill>
              <a:latin typeface="Aptos" charset="0"/>
              <a:cs typeface="Aptos" charset="0"/>
            </a:endParaRPr>
          </a:p>
        </p:txBody>
      </p:sp>
      <p:sp>
        <p:nvSpPr>
          <p:cNvPr id="13" name="Text Box 12"/>
          <p:cNvSpPr txBox="1"/>
          <p:nvPr/>
        </p:nvSpPr>
        <p:spPr>
          <a:xfrm>
            <a:off x="6477000" y="18796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Item đã phổ biến được gợi ý nhiều hơn, nhận thêm tương tác rồi tiếp tục trở nên phổ biến. Nếu không đo exposure, hệ thống có thể khuếch đại mất cân bằng vốn có.</a:t>
            </a:r>
            <a:endParaRPr lang="en-US" sz="1200">
              <a:solidFill>
                <a:srgbClr val="172B4D"/>
              </a:solidFill>
              <a:latin typeface="Aptos" charset="0"/>
              <a:cs typeface="Aptos" charset="0"/>
            </a:endParaRPr>
          </a:p>
        </p:txBody>
      </p:sp>
      <p:sp>
        <p:nvSpPr>
          <p:cNvPr id="14" name="Rounded Rectangle 13"/>
          <p:cNvSpPr/>
          <p:nvPr/>
        </p:nvSpPr>
        <p:spPr>
          <a:xfrm>
            <a:off x="635000" y="3467100"/>
            <a:ext cx="5334000" cy="1993900"/>
          </a:xfrm>
          <a:prstGeom prst="roundRect">
            <a:avLst/>
          </a:prstGeom>
          <a:solidFill>
            <a:srgbClr val="FFF4E4"/>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Text Box 14"/>
          <p:cNvSpPr txBox="1"/>
          <p:nvPr/>
        </p:nvSpPr>
        <p:spPr>
          <a:xfrm>
            <a:off x="838200" y="3644900"/>
            <a:ext cx="533400" cy="306705"/>
          </a:xfrm>
          <a:prstGeom prst="rect">
            <a:avLst/>
          </a:prstGeom>
          <a:noFill/>
        </p:spPr>
        <p:txBody>
          <a:bodyPr wrap="square" lIns="0" tIns="0" rIns="0" rtlCol="0" anchor="t">
            <a:spAutoFit/>
          </a:bodyPr>
          <a:p>
            <a:pPr algn="l"/>
            <a:r>
              <a:rPr lang="en-US" sz="1700" b="1">
                <a:solidFill>
                  <a:srgbClr val="FF9F43"/>
                </a:solidFill>
                <a:latin typeface="Aptos" charset="0"/>
                <a:cs typeface="Aptos" charset="0"/>
              </a:rPr>
              <a:t>03</a:t>
            </a:r>
            <a:endParaRPr lang="en-US" sz="1700" b="1">
              <a:solidFill>
                <a:srgbClr val="FF9F43"/>
              </a:solidFill>
              <a:latin typeface="Aptos" charset="0"/>
              <a:cs typeface="Aptos" charset="0"/>
            </a:endParaRPr>
          </a:p>
        </p:txBody>
      </p:sp>
      <p:sp>
        <p:nvSpPr>
          <p:cNvPr id="16" name="Text Box 15"/>
          <p:cNvSpPr txBox="1"/>
          <p:nvPr/>
        </p:nvSpPr>
        <p:spPr>
          <a:xfrm>
            <a:off x="1422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Accuracy chưa đủ</a:t>
            </a:r>
            <a:endParaRPr lang="en-US" sz="1350" b="1">
              <a:solidFill>
                <a:srgbClr val="0B1F33"/>
              </a:solidFill>
              <a:latin typeface="Aptos" charset="0"/>
              <a:cs typeface="Aptos" charset="0"/>
            </a:endParaRPr>
          </a:p>
        </p:txBody>
      </p:sp>
      <p:sp>
        <p:nvSpPr>
          <p:cNvPr id="17" name="Text Box 16"/>
          <p:cNvSpPr txBox="1"/>
          <p:nvPr/>
        </p:nvSpPr>
        <p:spPr>
          <a:xfrm>
            <a:off x="889000" y="41275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Recall, MRR và NDCG cho biết dự đoán có đúng hay không. Coverage, recommendation Gini và ARP cho biết các lượt gợi ý có tập trung vào item phổ biến hay không.</a:t>
            </a:r>
            <a:endParaRPr lang="en-US" sz="1200">
              <a:solidFill>
                <a:srgbClr val="172B4D"/>
              </a:solidFill>
              <a:latin typeface="Aptos" charset="0"/>
              <a:cs typeface="Aptos" charset="0"/>
            </a:endParaRPr>
          </a:p>
        </p:txBody>
      </p:sp>
      <p:sp>
        <p:nvSpPr>
          <p:cNvPr id="18" name="Rounded Rectangle 17"/>
          <p:cNvSpPr/>
          <p:nvPr/>
        </p:nvSpPr>
        <p:spPr>
          <a:xfrm>
            <a:off x="6223000" y="3467100"/>
            <a:ext cx="5334000" cy="1993900"/>
          </a:xfrm>
          <a:prstGeom prst="roundRect">
            <a:avLst/>
          </a:prstGeom>
          <a:solidFill>
            <a:srgbClr val="F4F7FB"/>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9" name="Text Box 18"/>
          <p:cNvSpPr txBox="1"/>
          <p:nvPr/>
        </p:nvSpPr>
        <p:spPr>
          <a:xfrm>
            <a:off x="6426200" y="3644900"/>
            <a:ext cx="533400" cy="306705"/>
          </a:xfrm>
          <a:prstGeom prst="rect">
            <a:avLst/>
          </a:prstGeom>
          <a:noFill/>
        </p:spPr>
        <p:txBody>
          <a:bodyPr wrap="square" lIns="0" tIns="0" rIns="0" rtlCol="0" anchor="t">
            <a:spAutoFit/>
          </a:bodyPr>
          <a:p>
            <a:pPr algn="l"/>
            <a:r>
              <a:rPr lang="en-US" sz="1700" b="1">
                <a:solidFill>
                  <a:srgbClr val="E45756"/>
                </a:solidFill>
                <a:latin typeface="Aptos" charset="0"/>
                <a:cs typeface="Aptos" charset="0"/>
              </a:rPr>
              <a:t>04</a:t>
            </a:r>
            <a:endParaRPr lang="en-US" sz="1700" b="1">
              <a:solidFill>
                <a:srgbClr val="E45756"/>
              </a:solidFill>
              <a:latin typeface="Aptos" charset="0"/>
              <a:cs typeface="Aptos" charset="0"/>
            </a:endParaRPr>
          </a:p>
        </p:txBody>
      </p:sp>
      <p:sp>
        <p:nvSpPr>
          <p:cNvPr id="20" name="Text Box 19"/>
          <p:cNvSpPr txBox="1"/>
          <p:nvPr/>
        </p:nvSpPr>
        <p:spPr>
          <a:xfrm>
            <a:off x="7010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Câu hỏi của đề tài</a:t>
            </a:r>
            <a:endParaRPr lang="en-US" sz="1350" b="1">
              <a:solidFill>
                <a:srgbClr val="0B1F33"/>
              </a:solidFill>
              <a:latin typeface="Aptos" charset="0"/>
              <a:cs typeface="Aptos" charset="0"/>
            </a:endParaRPr>
          </a:p>
        </p:txBody>
      </p:sp>
      <p:sp>
        <p:nvSpPr>
          <p:cNvPr id="21" name="Text Box 20"/>
          <p:cNvSpPr txBox="1"/>
          <p:nvPr/>
        </p:nvSpPr>
        <p:spPr>
          <a:xfrm>
            <a:off x="6477000" y="41275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Đề tài so sánh GRU4Rec, NARM và SASRec trên cùng dữ liệu để xem mô hình nào tập trung Top-20 mạnh hơn và hiện tượng đó có đi kèm khác biệt embedding hay không.</a:t>
            </a:r>
            <a:endParaRPr lang="en-US" sz="1200">
              <a:solidFill>
                <a:srgbClr val="172B4D"/>
              </a:solidFill>
              <a:latin typeface="Aptos" charset="0"/>
              <a:cs typeface="Aptos" charset="0"/>
            </a:endParaRPr>
          </a:p>
        </p:txBody>
      </p:sp>
      <p:sp>
        <p:nvSpPr>
          <p:cNvPr id="22" name="Rounded Rectangle 21"/>
          <p:cNvSpPr/>
          <p:nvPr/>
        </p:nvSpPr>
        <p:spPr>
          <a:xfrm>
            <a:off x="2222500" y="5524500"/>
            <a:ext cx="7747000" cy="571500"/>
          </a:xfrm>
          <a:prstGeom prst="roundRect">
            <a:avLst/>
          </a:prstGeom>
          <a:solidFill>
            <a:srgbClr val="FFF4E4"/>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3" name="Text Box 22"/>
          <p:cNvSpPr txBox="1"/>
          <p:nvPr/>
        </p:nvSpPr>
        <p:spPr>
          <a:xfrm>
            <a:off x="2476500" y="5676900"/>
            <a:ext cx="7239000" cy="207010"/>
          </a:xfrm>
          <a:prstGeom prst="rect">
            <a:avLst/>
          </a:prstGeom>
          <a:noFill/>
        </p:spPr>
        <p:txBody>
          <a:bodyPr wrap="square" lIns="0" tIns="0" rIns="0" rtlCol="0" anchor="t">
            <a:spAutoFit/>
          </a:bodyPr>
          <a:p>
            <a:pPr algn="ctr"/>
            <a:r>
              <a:rPr lang="en-US" sz="1050" b="1">
                <a:solidFill>
                  <a:srgbClr val="E45756"/>
                </a:solidFill>
                <a:latin typeface="Aptos" charset="0"/>
                <a:cs typeface="Aptos" charset="0"/>
              </a:rPr>
              <a:t>Không đánh đổi mù quáng: Gini thấp nhưng accuracy gần ngẫu nhiên cũng không phải kết quả tốt.</a:t>
            </a:r>
            <a:endParaRPr lang="en-US" sz="1050" b="1">
              <a:solidFill>
                <a:srgbClr val="E45756"/>
              </a:solidFill>
              <a:latin typeface="Aptos" charset="0"/>
              <a:cs typeface="Aptos"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2000" cy="68580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Rectangle 2"/>
          <p:cNvSpPr/>
          <p:nvPr/>
        </p:nvSpPr>
        <p:spPr>
          <a:xfrm>
            <a:off x="0" y="0"/>
            <a:ext cx="177800" cy="6858000"/>
          </a:xfrm>
          <a:prstGeom prst="rect">
            <a:avLst/>
          </a:prstGeom>
          <a:solidFill>
            <a:srgbClr val="2F6B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ext Box 3"/>
          <p:cNvSpPr txBox="1"/>
          <p:nvPr/>
        </p:nvSpPr>
        <p:spPr>
          <a:xfrm>
            <a:off x="635000" y="355600"/>
            <a:ext cx="10922000" cy="437515"/>
          </a:xfrm>
          <a:prstGeom prst="rect">
            <a:avLst/>
          </a:prstGeom>
          <a:noFill/>
        </p:spPr>
        <p:txBody>
          <a:bodyPr wrap="square" lIns="0" tIns="0" rIns="0" rtlCol="0" anchor="t">
            <a:spAutoFit/>
          </a:bodyPr>
          <a:p>
            <a:pPr algn="l"/>
            <a:r>
              <a:rPr lang="en-US" sz="2550" b="1">
                <a:solidFill>
                  <a:srgbClr val="0B1F33"/>
                </a:solidFill>
                <a:latin typeface="Aptos" charset="0"/>
                <a:cs typeface="Aptos" charset="0"/>
              </a:rPr>
              <a:t>Phân biệt popular, rare, warm và cold item</a:t>
            </a:r>
            <a:endParaRPr lang="en-US" sz="2550" b="1">
              <a:solidFill>
                <a:srgbClr val="0B1F33"/>
              </a:solidFill>
              <a:latin typeface="Aptos" charset="0"/>
              <a:cs typeface="Aptos" charset="0"/>
            </a:endParaRPr>
          </a:p>
        </p:txBody>
      </p:sp>
      <p:sp>
        <p:nvSpPr>
          <p:cNvPr id="5" name="Text Box 4"/>
          <p:cNvSpPr txBox="1"/>
          <p:nvPr/>
        </p:nvSpPr>
        <p:spPr>
          <a:xfrm>
            <a:off x="10515600" y="6477000"/>
            <a:ext cx="1016000" cy="207010"/>
          </a:xfrm>
          <a:prstGeom prst="rect">
            <a:avLst/>
          </a:prstGeom>
          <a:noFill/>
        </p:spPr>
        <p:txBody>
          <a:bodyPr wrap="square" lIns="0" tIns="0" rIns="0" rtlCol="0" anchor="t">
            <a:spAutoFit/>
          </a:bodyPr>
          <a:p>
            <a:pPr algn="r"/>
            <a:r>
              <a:rPr lang="en-US" sz="1050" b="1">
                <a:solidFill>
                  <a:srgbClr val="2F6BFF"/>
                </a:solidFill>
                <a:latin typeface="Aptos" charset="0"/>
                <a:cs typeface="Aptos" charset="0"/>
              </a:rPr>
              <a:t>04 / 25</a:t>
            </a:r>
            <a:endParaRPr lang="en-US" sz="1050" b="1">
              <a:solidFill>
                <a:srgbClr val="2F6BFF"/>
              </a:solidFill>
              <a:latin typeface="Aptos" charset="0"/>
              <a:cs typeface="Aptos" charset="0"/>
            </a:endParaRPr>
          </a:p>
        </p:txBody>
      </p:sp>
      <p:sp>
        <p:nvSpPr>
          <p:cNvPr id="6" name="Rounded Rectangle 5"/>
          <p:cNvSpPr/>
          <p:nvPr/>
        </p:nvSpPr>
        <p:spPr>
          <a:xfrm>
            <a:off x="635000" y="1219200"/>
            <a:ext cx="5334000" cy="19939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 name="Text Box 6"/>
          <p:cNvSpPr txBox="1"/>
          <p:nvPr/>
        </p:nvSpPr>
        <p:spPr>
          <a:xfrm>
            <a:off x="838200" y="1397000"/>
            <a:ext cx="533400" cy="306705"/>
          </a:xfrm>
          <a:prstGeom prst="rect">
            <a:avLst/>
          </a:prstGeom>
          <a:noFill/>
        </p:spPr>
        <p:txBody>
          <a:bodyPr wrap="square" lIns="0" tIns="0" rIns="0" rtlCol="0" anchor="t">
            <a:spAutoFit/>
          </a:bodyPr>
          <a:p>
            <a:pPr algn="l"/>
            <a:r>
              <a:rPr lang="en-US" sz="1700" b="1">
                <a:solidFill>
                  <a:srgbClr val="2F6BFF"/>
                </a:solidFill>
                <a:latin typeface="Aptos" charset="0"/>
                <a:cs typeface="Aptos" charset="0"/>
              </a:rPr>
              <a:t>01</a:t>
            </a:r>
            <a:endParaRPr lang="en-US" sz="1700" b="1">
              <a:solidFill>
                <a:srgbClr val="2F6BFF"/>
              </a:solidFill>
              <a:latin typeface="Aptos" charset="0"/>
              <a:cs typeface="Aptos" charset="0"/>
            </a:endParaRPr>
          </a:p>
        </p:txBody>
      </p:sp>
      <p:sp>
        <p:nvSpPr>
          <p:cNvPr id="8" name="Text Box 7"/>
          <p:cNvSpPr txBox="1"/>
          <p:nvPr/>
        </p:nvSpPr>
        <p:spPr>
          <a:xfrm>
            <a:off x="1422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Popular item</a:t>
            </a:r>
            <a:endParaRPr lang="en-US" sz="1350" b="1">
              <a:solidFill>
                <a:srgbClr val="0B1F33"/>
              </a:solidFill>
              <a:latin typeface="Aptos" charset="0"/>
              <a:cs typeface="Aptos" charset="0"/>
            </a:endParaRPr>
          </a:p>
        </p:txBody>
      </p:sp>
      <p:sp>
        <p:nvSpPr>
          <p:cNvPr id="9" name="Text Box 8"/>
          <p:cNvSpPr txBox="1"/>
          <p:nvPr/>
        </p:nvSpPr>
        <p:spPr>
          <a:xfrm>
            <a:off x="889000" y="18796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Item xuất hiện nhiều lần trong final train. Nó có nhiều ví dụ học và thường nhận nhiều lần cập nhật embedding hơn các item ở phần đuôi.</a:t>
            </a:r>
            <a:endParaRPr lang="en-US" sz="1200">
              <a:solidFill>
                <a:srgbClr val="172B4D"/>
              </a:solidFill>
              <a:latin typeface="Aptos" charset="0"/>
              <a:cs typeface="Aptos" charset="0"/>
            </a:endParaRPr>
          </a:p>
        </p:txBody>
      </p:sp>
      <p:sp>
        <p:nvSpPr>
          <p:cNvPr id="10" name="Rounded Rectangle 9"/>
          <p:cNvSpPr/>
          <p:nvPr/>
        </p:nvSpPr>
        <p:spPr>
          <a:xfrm>
            <a:off x="6223000" y="1219200"/>
            <a:ext cx="5334000" cy="1993900"/>
          </a:xfrm>
          <a:prstGeom prst="roundRect">
            <a:avLst/>
          </a:prstGeom>
          <a:solidFill>
            <a:srgbClr val="E4F8F5"/>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Text Box 10"/>
          <p:cNvSpPr txBox="1"/>
          <p:nvPr/>
        </p:nvSpPr>
        <p:spPr>
          <a:xfrm>
            <a:off x="6426200" y="1397000"/>
            <a:ext cx="533400" cy="306705"/>
          </a:xfrm>
          <a:prstGeom prst="rect">
            <a:avLst/>
          </a:prstGeom>
          <a:noFill/>
        </p:spPr>
        <p:txBody>
          <a:bodyPr wrap="square" lIns="0" tIns="0" rIns="0" rtlCol="0" anchor="t">
            <a:spAutoFit/>
          </a:bodyPr>
          <a:p>
            <a:pPr algn="l"/>
            <a:r>
              <a:rPr lang="en-US" sz="1700" b="1">
                <a:solidFill>
                  <a:srgbClr val="16B3A3"/>
                </a:solidFill>
                <a:latin typeface="Aptos" charset="0"/>
                <a:cs typeface="Aptos" charset="0"/>
              </a:rPr>
              <a:t>02</a:t>
            </a:r>
            <a:endParaRPr lang="en-US" sz="1700" b="1">
              <a:solidFill>
                <a:srgbClr val="16B3A3"/>
              </a:solidFill>
              <a:latin typeface="Aptos" charset="0"/>
              <a:cs typeface="Aptos" charset="0"/>
            </a:endParaRPr>
          </a:p>
        </p:txBody>
      </p:sp>
      <p:sp>
        <p:nvSpPr>
          <p:cNvPr id="12" name="Text Box 11"/>
          <p:cNvSpPr txBox="1"/>
          <p:nvPr/>
        </p:nvSpPr>
        <p:spPr>
          <a:xfrm>
            <a:off x="7010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Rare item</a:t>
            </a:r>
            <a:endParaRPr lang="en-US" sz="1350" b="1">
              <a:solidFill>
                <a:srgbClr val="0B1F33"/>
              </a:solidFill>
              <a:latin typeface="Aptos" charset="0"/>
              <a:cs typeface="Aptos" charset="0"/>
            </a:endParaRPr>
          </a:p>
        </p:txBody>
      </p:sp>
      <p:sp>
        <p:nvSpPr>
          <p:cNvPr id="13" name="Text Box 12"/>
          <p:cNvSpPr txBox="1"/>
          <p:nvPr/>
        </p:nvSpPr>
        <p:spPr>
          <a:xfrm>
            <a:off x="6477000" y="18796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Item vẫn xuất hiện trong train nhưng có tần suất thấp hơn. Rare không phải cold vì mô hình vẫn nhìn thấy item và vẫn có thể cập nhật embedding của nó.</a:t>
            </a:r>
            <a:endParaRPr lang="en-US" sz="1200">
              <a:solidFill>
                <a:srgbClr val="172B4D"/>
              </a:solidFill>
              <a:latin typeface="Aptos" charset="0"/>
              <a:cs typeface="Aptos" charset="0"/>
            </a:endParaRPr>
          </a:p>
        </p:txBody>
      </p:sp>
      <p:sp>
        <p:nvSpPr>
          <p:cNvPr id="14" name="Rounded Rectangle 13"/>
          <p:cNvSpPr/>
          <p:nvPr/>
        </p:nvSpPr>
        <p:spPr>
          <a:xfrm>
            <a:off x="635000" y="3467100"/>
            <a:ext cx="5334000" cy="1993900"/>
          </a:xfrm>
          <a:prstGeom prst="roundRect">
            <a:avLst/>
          </a:prstGeom>
          <a:solidFill>
            <a:srgbClr val="FFF4E4"/>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Text Box 14"/>
          <p:cNvSpPr txBox="1"/>
          <p:nvPr/>
        </p:nvSpPr>
        <p:spPr>
          <a:xfrm>
            <a:off x="838200" y="3644900"/>
            <a:ext cx="533400" cy="306705"/>
          </a:xfrm>
          <a:prstGeom prst="rect">
            <a:avLst/>
          </a:prstGeom>
          <a:noFill/>
        </p:spPr>
        <p:txBody>
          <a:bodyPr wrap="square" lIns="0" tIns="0" rIns="0" rtlCol="0" anchor="t">
            <a:spAutoFit/>
          </a:bodyPr>
          <a:p>
            <a:pPr algn="l"/>
            <a:r>
              <a:rPr lang="en-US" sz="1700" b="1">
                <a:solidFill>
                  <a:srgbClr val="FF9F43"/>
                </a:solidFill>
                <a:latin typeface="Aptos" charset="0"/>
                <a:cs typeface="Aptos" charset="0"/>
              </a:rPr>
              <a:t>03</a:t>
            </a:r>
            <a:endParaRPr lang="en-US" sz="1700" b="1">
              <a:solidFill>
                <a:srgbClr val="FF9F43"/>
              </a:solidFill>
              <a:latin typeface="Aptos" charset="0"/>
              <a:cs typeface="Aptos" charset="0"/>
            </a:endParaRPr>
          </a:p>
        </p:txBody>
      </p:sp>
      <p:sp>
        <p:nvSpPr>
          <p:cNvPr id="16" name="Text Box 15"/>
          <p:cNvSpPr txBox="1"/>
          <p:nvPr/>
        </p:nvSpPr>
        <p:spPr>
          <a:xfrm>
            <a:off x="1422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Warm item</a:t>
            </a:r>
            <a:endParaRPr lang="en-US" sz="1350" b="1">
              <a:solidFill>
                <a:srgbClr val="0B1F33"/>
              </a:solidFill>
              <a:latin typeface="Aptos" charset="0"/>
              <a:cs typeface="Aptos" charset="0"/>
            </a:endParaRPr>
          </a:p>
        </p:txBody>
      </p:sp>
      <p:sp>
        <p:nvSpPr>
          <p:cNvPr id="17" name="Text Box 16"/>
          <p:cNvSpPr txBox="1"/>
          <p:nvPr/>
        </p:nvSpPr>
        <p:spPr>
          <a:xfrm>
            <a:off x="889000" y="41275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Mọi item có ít nhất một interaction trong train đều là warm. Trong pipeline chính, warm item còn phải vượt ngưỡng hỗ trợ tối thiểu sau fixed-point filtering.</a:t>
            </a:r>
            <a:endParaRPr lang="en-US" sz="1200">
              <a:solidFill>
                <a:srgbClr val="172B4D"/>
              </a:solidFill>
              <a:latin typeface="Aptos" charset="0"/>
              <a:cs typeface="Aptos" charset="0"/>
            </a:endParaRPr>
          </a:p>
        </p:txBody>
      </p:sp>
      <p:sp>
        <p:nvSpPr>
          <p:cNvPr id="18" name="Rounded Rectangle 17"/>
          <p:cNvSpPr/>
          <p:nvPr/>
        </p:nvSpPr>
        <p:spPr>
          <a:xfrm>
            <a:off x="6223000" y="3467100"/>
            <a:ext cx="5334000" cy="1993900"/>
          </a:xfrm>
          <a:prstGeom prst="roundRect">
            <a:avLst/>
          </a:prstGeom>
          <a:solidFill>
            <a:srgbClr val="F4F7FB"/>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9" name="Text Box 18"/>
          <p:cNvSpPr txBox="1"/>
          <p:nvPr/>
        </p:nvSpPr>
        <p:spPr>
          <a:xfrm>
            <a:off x="6426200" y="3644900"/>
            <a:ext cx="533400" cy="306705"/>
          </a:xfrm>
          <a:prstGeom prst="rect">
            <a:avLst/>
          </a:prstGeom>
          <a:noFill/>
        </p:spPr>
        <p:txBody>
          <a:bodyPr wrap="square" lIns="0" tIns="0" rIns="0" rtlCol="0" anchor="t">
            <a:spAutoFit/>
          </a:bodyPr>
          <a:p>
            <a:pPr algn="l"/>
            <a:r>
              <a:rPr lang="en-US" sz="1700" b="1">
                <a:solidFill>
                  <a:srgbClr val="E45756"/>
                </a:solidFill>
                <a:latin typeface="Aptos" charset="0"/>
                <a:cs typeface="Aptos" charset="0"/>
              </a:rPr>
              <a:t>04</a:t>
            </a:r>
            <a:endParaRPr lang="en-US" sz="1700" b="1">
              <a:solidFill>
                <a:srgbClr val="E45756"/>
              </a:solidFill>
              <a:latin typeface="Aptos" charset="0"/>
              <a:cs typeface="Aptos" charset="0"/>
            </a:endParaRPr>
          </a:p>
        </p:txBody>
      </p:sp>
      <p:sp>
        <p:nvSpPr>
          <p:cNvPr id="20" name="Text Box 19"/>
          <p:cNvSpPr txBox="1"/>
          <p:nvPr/>
        </p:nvSpPr>
        <p:spPr>
          <a:xfrm>
            <a:off x="7010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Cold item</a:t>
            </a:r>
            <a:endParaRPr lang="en-US" sz="1350" b="1">
              <a:solidFill>
                <a:srgbClr val="0B1F33"/>
              </a:solidFill>
              <a:latin typeface="Aptos" charset="0"/>
              <a:cs typeface="Aptos" charset="0"/>
            </a:endParaRPr>
          </a:p>
        </p:txBody>
      </p:sp>
      <p:sp>
        <p:nvSpPr>
          <p:cNvPr id="21" name="Text Box 20"/>
          <p:cNvSpPr txBox="1"/>
          <p:nvPr/>
        </p:nvSpPr>
        <p:spPr>
          <a:xfrm>
            <a:off x="6477000" y="41275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Cold có frequency bằng 0 trong train. Controlled cold được chủ động holdout; natural temporal cold chỉ xuất hiện sau mốc train. Hai loại được theo dõi riêng.</a:t>
            </a:r>
            <a:endParaRPr lang="en-US" sz="1200">
              <a:solidFill>
                <a:srgbClr val="172B4D"/>
              </a:solidFill>
              <a:latin typeface="Aptos" charset="0"/>
              <a:cs typeface="Aptos" charset="0"/>
            </a:endParaRPr>
          </a:p>
        </p:txBody>
      </p:sp>
      <p:sp>
        <p:nvSpPr>
          <p:cNvPr id="22" name="Rounded Rectangle 21"/>
          <p:cNvSpPr/>
          <p:nvPr/>
        </p:nvSpPr>
        <p:spPr>
          <a:xfrm>
            <a:off x="2413000" y="5524500"/>
            <a:ext cx="7366000" cy="571500"/>
          </a:xfrm>
          <a:prstGeom prst="roundRect">
            <a:avLst/>
          </a:prstGeom>
          <a:solidFill>
            <a:srgbClr val="0B1F33"/>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3" name="Text Box 22"/>
          <p:cNvSpPr txBox="1"/>
          <p:nvPr/>
        </p:nvSpPr>
        <p:spPr>
          <a:xfrm>
            <a:off x="2667000" y="5689600"/>
            <a:ext cx="6858000" cy="214630"/>
          </a:xfrm>
          <a:prstGeom prst="rect">
            <a:avLst/>
          </a:prstGeom>
          <a:noFill/>
        </p:spPr>
        <p:txBody>
          <a:bodyPr wrap="square" lIns="0" tIns="0" rIns="0" rtlCol="0" anchor="t">
            <a:spAutoFit/>
          </a:bodyPr>
          <a:p>
            <a:pPr algn="ctr"/>
            <a:r>
              <a:rPr lang="en-US" sz="1100" b="1">
                <a:solidFill>
                  <a:srgbClr val="FFFFFF"/>
                </a:solidFill>
                <a:latin typeface="Aptos" charset="0"/>
                <a:cs typeface="Aptos" charset="0"/>
              </a:rPr>
              <a:t>Trục tần suất: popular → medium → rare (&gt;0) → cold (=0 trong train).</a:t>
            </a:r>
            <a:endParaRPr lang="en-US" sz="1100" b="1">
              <a:solidFill>
                <a:srgbClr val="FFFFFF"/>
              </a:solidFill>
              <a:latin typeface="Aptos" charset="0"/>
              <a:cs typeface="Aptos"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2000" cy="68580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Rectangle 2"/>
          <p:cNvSpPr/>
          <p:nvPr/>
        </p:nvSpPr>
        <p:spPr>
          <a:xfrm>
            <a:off x="0" y="0"/>
            <a:ext cx="177800" cy="6858000"/>
          </a:xfrm>
          <a:prstGeom prst="rect">
            <a:avLst/>
          </a:prstGeom>
          <a:solidFill>
            <a:srgbClr val="2F6B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ext Box 3"/>
          <p:cNvSpPr txBox="1"/>
          <p:nvPr/>
        </p:nvSpPr>
        <p:spPr>
          <a:xfrm>
            <a:off x="635000" y="355600"/>
            <a:ext cx="10922000" cy="437515"/>
          </a:xfrm>
          <a:prstGeom prst="rect">
            <a:avLst/>
          </a:prstGeom>
          <a:noFill/>
        </p:spPr>
        <p:txBody>
          <a:bodyPr wrap="square" lIns="0" tIns="0" rIns="0" rtlCol="0" anchor="t">
            <a:spAutoFit/>
          </a:bodyPr>
          <a:p>
            <a:pPr algn="l"/>
            <a:r>
              <a:rPr lang="en-US" sz="2550" b="1">
                <a:solidFill>
                  <a:srgbClr val="0B1F33"/>
                </a:solidFill>
                <a:latin typeface="Aptos" charset="0"/>
                <a:cs typeface="Aptos" charset="0"/>
              </a:rPr>
              <a:t>Ý tưởng nghiên cứu: nối đầu ra với embedding</a:t>
            </a:r>
            <a:endParaRPr lang="en-US" sz="2550" b="1">
              <a:solidFill>
                <a:srgbClr val="0B1F33"/>
              </a:solidFill>
              <a:latin typeface="Aptos" charset="0"/>
              <a:cs typeface="Aptos" charset="0"/>
            </a:endParaRPr>
          </a:p>
        </p:txBody>
      </p:sp>
      <p:sp>
        <p:nvSpPr>
          <p:cNvPr id="5" name="Text Box 4"/>
          <p:cNvSpPr txBox="1"/>
          <p:nvPr/>
        </p:nvSpPr>
        <p:spPr>
          <a:xfrm>
            <a:off x="10515600" y="6477000"/>
            <a:ext cx="1016000" cy="207010"/>
          </a:xfrm>
          <a:prstGeom prst="rect">
            <a:avLst/>
          </a:prstGeom>
          <a:noFill/>
        </p:spPr>
        <p:txBody>
          <a:bodyPr wrap="square" lIns="0" tIns="0" rIns="0" rtlCol="0" anchor="t">
            <a:spAutoFit/>
          </a:bodyPr>
          <a:p>
            <a:pPr algn="r"/>
            <a:r>
              <a:rPr lang="en-US" sz="1050" b="1">
                <a:solidFill>
                  <a:srgbClr val="2F6BFF"/>
                </a:solidFill>
                <a:latin typeface="Aptos" charset="0"/>
                <a:cs typeface="Aptos" charset="0"/>
              </a:rPr>
              <a:t>05 / 25</a:t>
            </a:r>
            <a:endParaRPr lang="en-US" sz="1050" b="1">
              <a:solidFill>
                <a:srgbClr val="2F6BFF"/>
              </a:solidFill>
              <a:latin typeface="Aptos" charset="0"/>
              <a:cs typeface="Aptos" charset="0"/>
            </a:endParaRPr>
          </a:p>
        </p:txBody>
      </p:sp>
      <p:sp>
        <p:nvSpPr>
          <p:cNvPr id="6" name="Rounded Rectangle 5"/>
          <p:cNvSpPr/>
          <p:nvPr/>
        </p:nvSpPr>
        <p:spPr>
          <a:xfrm>
            <a:off x="635000" y="1219200"/>
            <a:ext cx="5334000" cy="19939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 name="Text Box 6"/>
          <p:cNvSpPr txBox="1"/>
          <p:nvPr/>
        </p:nvSpPr>
        <p:spPr>
          <a:xfrm>
            <a:off x="838200" y="1397000"/>
            <a:ext cx="533400" cy="306705"/>
          </a:xfrm>
          <a:prstGeom prst="rect">
            <a:avLst/>
          </a:prstGeom>
          <a:noFill/>
        </p:spPr>
        <p:txBody>
          <a:bodyPr wrap="square" lIns="0" tIns="0" rIns="0" rtlCol="0" anchor="t">
            <a:spAutoFit/>
          </a:bodyPr>
          <a:p>
            <a:pPr algn="l"/>
            <a:r>
              <a:rPr lang="en-US" sz="1700" b="1">
                <a:solidFill>
                  <a:srgbClr val="2F6BFF"/>
                </a:solidFill>
                <a:latin typeface="Aptos" charset="0"/>
                <a:cs typeface="Aptos" charset="0"/>
              </a:rPr>
              <a:t>01</a:t>
            </a:r>
            <a:endParaRPr lang="en-US" sz="1700" b="1">
              <a:solidFill>
                <a:srgbClr val="2F6BFF"/>
              </a:solidFill>
              <a:latin typeface="Aptos" charset="0"/>
              <a:cs typeface="Aptos" charset="0"/>
            </a:endParaRPr>
          </a:p>
        </p:txBody>
      </p:sp>
      <p:sp>
        <p:nvSpPr>
          <p:cNvPr id="8" name="Text Box 7"/>
          <p:cNvSpPr txBox="1"/>
          <p:nvPr/>
        </p:nvSpPr>
        <p:spPr>
          <a:xfrm>
            <a:off x="1422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So sánh ba mô hình</a:t>
            </a:r>
            <a:endParaRPr lang="en-US" sz="1350" b="1">
              <a:solidFill>
                <a:srgbClr val="0B1F33"/>
              </a:solidFill>
              <a:latin typeface="Aptos" charset="0"/>
              <a:cs typeface="Aptos" charset="0"/>
            </a:endParaRPr>
          </a:p>
        </p:txBody>
      </p:sp>
      <p:sp>
        <p:nvSpPr>
          <p:cNvPr id="9" name="Text Box 8"/>
          <p:cNvSpPr txBox="1"/>
          <p:nvPr/>
        </p:nvSpPr>
        <p:spPr>
          <a:xfrm>
            <a:off x="889000" y="18796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GRU4Rec, NARM và SASRec phải dùng cùng split, mapping, candidate catalog, nhóm popularity và Top-20. Chạy hai seed giúp kiểm tra kết luận có ổn định hay không.</a:t>
            </a:r>
            <a:endParaRPr lang="en-US" sz="1200">
              <a:solidFill>
                <a:srgbClr val="172B4D"/>
              </a:solidFill>
              <a:latin typeface="Aptos" charset="0"/>
              <a:cs typeface="Aptos" charset="0"/>
            </a:endParaRPr>
          </a:p>
        </p:txBody>
      </p:sp>
      <p:sp>
        <p:nvSpPr>
          <p:cNvPr id="10" name="Rounded Rectangle 9"/>
          <p:cNvSpPr/>
          <p:nvPr/>
        </p:nvSpPr>
        <p:spPr>
          <a:xfrm>
            <a:off x="6223000" y="1219200"/>
            <a:ext cx="5334000" cy="1993900"/>
          </a:xfrm>
          <a:prstGeom prst="roundRect">
            <a:avLst/>
          </a:prstGeom>
          <a:solidFill>
            <a:srgbClr val="E4F8F5"/>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Text Box 10"/>
          <p:cNvSpPr txBox="1"/>
          <p:nvPr/>
        </p:nvSpPr>
        <p:spPr>
          <a:xfrm>
            <a:off x="6426200" y="1397000"/>
            <a:ext cx="533400" cy="306705"/>
          </a:xfrm>
          <a:prstGeom prst="rect">
            <a:avLst/>
          </a:prstGeom>
          <a:noFill/>
        </p:spPr>
        <p:txBody>
          <a:bodyPr wrap="square" lIns="0" tIns="0" rIns="0" rtlCol="0" anchor="t">
            <a:spAutoFit/>
          </a:bodyPr>
          <a:p>
            <a:pPr algn="l"/>
            <a:r>
              <a:rPr lang="en-US" sz="1700" b="1">
                <a:solidFill>
                  <a:srgbClr val="16B3A3"/>
                </a:solidFill>
                <a:latin typeface="Aptos" charset="0"/>
                <a:cs typeface="Aptos" charset="0"/>
              </a:rPr>
              <a:t>02</a:t>
            </a:r>
            <a:endParaRPr lang="en-US" sz="1700" b="1">
              <a:solidFill>
                <a:srgbClr val="16B3A3"/>
              </a:solidFill>
              <a:latin typeface="Aptos" charset="0"/>
              <a:cs typeface="Aptos" charset="0"/>
            </a:endParaRPr>
          </a:p>
        </p:txBody>
      </p:sp>
      <p:sp>
        <p:nvSpPr>
          <p:cNvPr id="12" name="Text Box 11"/>
          <p:cNvSpPr txBox="1"/>
          <p:nvPr/>
        </p:nvSpPr>
        <p:spPr>
          <a:xfrm>
            <a:off x="7010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Đo chất lượng</a:t>
            </a:r>
            <a:endParaRPr lang="en-US" sz="1350" b="1">
              <a:solidFill>
                <a:srgbClr val="0B1F33"/>
              </a:solidFill>
              <a:latin typeface="Aptos" charset="0"/>
              <a:cs typeface="Aptos" charset="0"/>
            </a:endParaRPr>
          </a:p>
        </p:txBody>
      </p:sp>
      <p:sp>
        <p:nvSpPr>
          <p:cNvPr id="13" name="Text Box 12"/>
          <p:cNvSpPr txBox="1"/>
          <p:nvPr/>
        </p:nvSpPr>
        <p:spPr>
          <a:xfrm>
            <a:off x="6477000" y="18796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Recall@20, MRR@20 và NDCG@20 là sanity check để chứng minh mô hình học được tín hiệu next-item, thay vì tạo danh sách đa dạng nhưng gần ngẫu nhiên.</a:t>
            </a:r>
            <a:endParaRPr lang="en-US" sz="1200">
              <a:solidFill>
                <a:srgbClr val="172B4D"/>
              </a:solidFill>
              <a:latin typeface="Aptos" charset="0"/>
              <a:cs typeface="Aptos" charset="0"/>
            </a:endParaRPr>
          </a:p>
        </p:txBody>
      </p:sp>
      <p:sp>
        <p:nvSpPr>
          <p:cNvPr id="14" name="Rounded Rectangle 13"/>
          <p:cNvSpPr/>
          <p:nvPr/>
        </p:nvSpPr>
        <p:spPr>
          <a:xfrm>
            <a:off x="635000" y="3467100"/>
            <a:ext cx="5334000" cy="1993900"/>
          </a:xfrm>
          <a:prstGeom prst="roundRect">
            <a:avLst/>
          </a:prstGeom>
          <a:solidFill>
            <a:srgbClr val="FFF4E4"/>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Text Box 14"/>
          <p:cNvSpPr txBox="1"/>
          <p:nvPr/>
        </p:nvSpPr>
        <p:spPr>
          <a:xfrm>
            <a:off x="838200" y="3644900"/>
            <a:ext cx="533400" cy="306705"/>
          </a:xfrm>
          <a:prstGeom prst="rect">
            <a:avLst/>
          </a:prstGeom>
          <a:noFill/>
        </p:spPr>
        <p:txBody>
          <a:bodyPr wrap="square" lIns="0" tIns="0" rIns="0" rtlCol="0" anchor="t">
            <a:spAutoFit/>
          </a:bodyPr>
          <a:p>
            <a:pPr algn="l"/>
            <a:r>
              <a:rPr lang="en-US" sz="1700" b="1">
                <a:solidFill>
                  <a:srgbClr val="FF9F43"/>
                </a:solidFill>
                <a:latin typeface="Aptos" charset="0"/>
                <a:cs typeface="Aptos" charset="0"/>
              </a:rPr>
              <a:t>03</a:t>
            </a:r>
            <a:endParaRPr lang="en-US" sz="1700" b="1">
              <a:solidFill>
                <a:srgbClr val="FF9F43"/>
              </a:solidFill>
              <a:latin typeface="Aptos" charset="0"/>
              <a:cs typeface="Aptos" charset="0"/>
            </a:endParaRPr>
          </a:p>
        </p:txBody>
      </p:sp>
      <p:sp>
        <p:nvSpPr>
          <p:cNvPr id="16" name="Text Box 15"/>
          <p:cNvSpPr txBox="1"/>
          <p:nvPr/>
        </p:nvSpPr>
        <p:spPr>
          <a:xfrm>
            <a:off x="1422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Đo output bias</a:t>
            </a:r>
            <a:endParaRPr lang="en-US" sz="1350" b="1">
              <a:solidFill>
                <a:srgbClr val="0B1F33"/>
              </a:solidFill>
              <a:latin typeface="Aptos" charset="0"/>
              <a:cs typeface="Aptos" charset="0"/>
            </a:endParaRPr>
          </a:p>
        </p:txBody>
      </p:sp>
      <p:sp>
        <p:nvSpPr>
          <p:cNvPr id="17" name="Text Box 16"/>
          <p:cNvSpPr txBox="1"/>
          <p:nvPr/>
        </p:nvSpPr>
        <p:spPr>
          <a:xfrm>
            <a:off x="889000" y="41275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Từ tất cả Top-20, đếm recommendation count theo item rồi tính Coverage@20, recommendation Gini và ARP. Đây mới là các chỉ số bias của đầu ra mô hình.</a:t>
            </a:r>
            <a:endParaRPr lang="en-US" sz="1200">
              <a:solidFill>
                <a:srgbClr val="172B4D"/>
              </a:solidFill>
              <a:latin typeface="Aptos" charset="0"/>
              <a:cs typeface="Aptos" charset="0"/>
            </a:endParaRPr>
          </a:p>
        </p:txBody>
      </p:sp>
      <p:sp>
        <p:nvSpPr>
          <p:cNvPr id="18" name="Rounded Rectangle 17"/>
          <p:cNvSpPr/>
          <p:nvPr/>
        </p:nvSpPr>
        <p:spPr>
          <a:xfrm>
            <a:off x="6223000" y="3467100"/>
            <a:ext cx="5334000" cy="1993900"/>
          </a:xfrm>
          <a:prstGeom prst="roundRect">
            <a:avLst/>
          </a:prstGeom>
          <a:solidFill>
            <a:srgbClr val="F4F7FB"/>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9" name="Text Box 18"/>
          <p:cNvSpPr txBox="1"/>
          <p:nvPr/>
        </p:nvSpPr>
        <p:spPr>
          <a:xfrm>
            <a:off x="6426200" y="3644900"/>
            <a:ext cx="533400" cy="306705"/>
          </a:xfrm>
          <a:prstGeom prst="rect">
            <a:avLst/>
          </a:prstGeom>
          <a:noFill/>
        </p:spPr>
        <p:txBody>
          <a:bodyPr wrap="square" lIns="0" tIns="0" rIns="0" rtlCol="0" anchor="t">
            <a:spAutoFit/>
          </a:bodyPr>
          <a:p>
            <a:pPr algn="l"/>
            <a:r>
              <a:rPr lang="en-US" sz="1700" b="1">
                <a:solidFill>
                  <a:srgbClr val="E45756"/>
                </a:solidFill>
                <a:latin typeface="Aptos" charset="0"/>
                <a:cs typeface="Aptos" charset="0"/>
              </a:rPr>
              <a:t>04</a:t>
            </a:r>
            <a:endParaRPr lang="en-US" sz="1700" b="1">
              <a:solidFill>
                <a:srgbClr val="E45756"/>
              </a:solidFill>
              <a:latin typeface="Aptos" charset="0"/>
              <a:cs typeface="Aptos" charset="0"/>
            </a:endParaRPr>
          </a:p>
        </p:txBody>
      </p:sp>
      <p:sp>
        <p:nvSpPr>
          <p:cNvPr id="20" name="Text Box 19"/>
          <p:cNvSpPr txBox="1"/>
          <p:nvPr/>
        </p:nvSpPr>
        <p:spPr>
          <a:xfrm>
            <a:off x="7010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Phân tích embedding</a:t>
            </a:r>
            <a:endParaRPr lang="en-US" sz="1350" b="1">
              <a:solidFill>
                <a:srgbClr val="0B1F33"/>
              </a:solidFill>
              <a:latin typeface="Aptos" charset="0"/>
              <a:cs typeface="Aptos" charset="0"/>
            </a:endParaRPr>
          </a:p>
        </p:txBody>
      </p:sp>
      <p:sp>
        <p:nvSpPr>
          <p:cNvPr id="21" name="Text Box 20"/>
          <p:cNvSpPr txBox="1"/>
          <p:nvPr/>
        </p:nvSpPr>
        <p:spPr>
          <a:xfrm>
            <a:off x="6477000" y="41275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Tính norm, Spearman với train frequency, cosine cùng/khác category và t-SNE. Sau đó liên hệ embedding norm với recommendation count ở cấp item.</a:t>
            </a:r>
            <a:endParaRPr lang="en-US" sz="1200">
              <a:solidFill>
                <a:srgbClr val="172B4D"/>
              </a:solidFill>
              <a:latin typeface="Aptos" charset="0"/>
              <a:cs typeface="Aptos" charset="0"/>
            </a:endParaRPr>
          </a:p>
        </p:txBody>
      </p:sp>
      <p:sp>
        <p:nvSpPr>
          <p:cNvPr id="22" name="Rounded Rectangle 21"/>
          <p:cNvSpPr/>
          <p:nvPr/>
        </p:nvSpPr>
        <p:spPr>
          <a:xfrm>
            <a:off x="1968500" y="5524500"/>
            <a:ext cx="8255000" cy="571500"/>
          </a:xfrm>
          <a:prstGeom prst="roundRect">
            <a:avLst/>
          </a:prstGeom>
          <a:solidFill>
            <a:srgbClr val="E4F8F5"/>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3" name="Text Box 22"/>
          <p:cNvSpPr txBox="1"/>
          <p:nvPr/>
        </p:nvSpPr>
        <p:spPr>
          <a:xfrm>
            <a:off x="2222500" y="5676900"/>
            <a:ext cx="7747000" cy="207010"/>
          </a:xfrm>
          <a:prstGeom prst="rect">
            <a:avLst/>
          </a:prstGeom>
          <a:noFill/>
        </p:spPr>
        <p:txBody>
          <a:bodyPr wrap="square" lIns="0" tIns="0" rIns="0" rtlCol="0" anchor="t">
            <a:spAutoFit/>
          </a:bodyPr>
          <a:p>
            <a:pPr algn="ctr"/>
            <a:r>
              <a:rPr lang="en-US" sz="1050" b="1">
                <a:solidFill>
                  <a:srgbClr val="16B3A3"/>
                </a:solidFill>
                <a:latin typeface="Aptos" charset="0"/>
                <a:cs typeface="Aptos" charset="0"/>
              </a:rPr>
              <a:t>Trạng thái hiện tại: đã chuẩn bị dữ liệu; các kết quả mô hình và embedding vẫn là bước tiếp theo.</a:t>
            </a:r>
            <a:endParaRPr lang="en-US" sz="1050" b="1">
              <a:solidFill>
                <a:srgbClr val="16B3A3"/>
              </a:solidFill>
              <a:latin typeface="Aptos" charset="0"/>
              <a:cs typeface="Aptos"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2000" cy="68580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Rectangle 2"/>
          <p:cNvSpPr/>
          <p:nvPr/>
        </p:nvSpPr>
        <p:spPr>
          <a:xfrm>
            <a:off x="0" y="0"/>
            <a:ext cx="177800" cy="6858000"/>
          </a:xfrm>
          <a:prstGeom prst="rect">
            <a:avLst/>
          </a:prstGeom>
          <a:solidFill>
            <a:srgbClr val="2F6B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ext Box 3"/>
          <p:cNvSpPr txBox="1"/>
          <p:nvPr/>
        </p:nvSpPr>
        <p:spPr>
          <a:xfrm>
            <a:off x="635000" y="355600"/>
            <a:ext cx="10922000" cy="437515"/>
          </a:xfrm>
          <a:prstGeom prst="rect">
            <a:avLst/>
          </a:prstGeom>
          <a:noFill/>
        </p:spPr>
        <p:txBody>
          <a:bodyPr wrap="square" lIns="0" tIns="0" rIns="0" rtlCol="0" anchor="t">
            <a:spAutoFit/>
          </a:bodyPr>
          <a:p>
            <a:pPr algn="l"/>
            <a:r>
              <a:rPr lang="en-US" sz="2550" b="1">
                <a:solidFill>
                  <a:srgbClr val="0B1F33"/>
                </a:solidFill>
                <a:latin typeface="Aptos" charset="0"/>
                <a:cs typeface="Aptos" charset="0"/>
              </a:rPr>
              <a:t>Diginetica cung cấp đúng loại dữ liệu đề tài cần</a:t>
            </a:r>
            <a:endParaRPr lang="en-US" sz="2550" b="1">
              <a:solidFill>
                <a:srgbClr val="0B1F33"/>
              </a:solidFill>
              <a:latin typeface="Aptos" charset="0"/>
              <a:cs typeface="Aptos" charset="0"/>
            </a:endParaRPr>
          </a:p>
        </p:txBody>
      </p:sp>
      <p:sp>
        <p:nvSpPr>
          <p:cNvPr id="5" name="Text Box 4"/>
          <p:cNvSpPr txBox="1"/>
          <p:nvPr/>
        </p:nvSpPr>
        <p:spPr>
          <a:xfrm>
            <a:off x="10515600" y="6477000"/>
            <a:ext cx="1016000" cy="207010"/>
          </a:xfrm>
          <a:prstGeom prst="rect">
            <a:avLst/>
          </a:prstGeom>
          <a:noFill/>
        </p:spPr>
        <p:txBody>
          <a:bodyPr wrap="square" lIns="0" tIns="0" rIns="0" rtlCol="0" anchor="t">
            <a:spAutoFit/>
          </a:bodyPr>
          <a:p>
            <a:pPr algn="r"/>
            <a:r>
              <a:rPr lang="en-US" sz="1050" b="1">
                <a:solidFill>
                  <a:srgbClr val="2F6BFF"/>
                </a:solidFill>
                <a:latin typeface="Aptos" charset="0"/>
                <a:cs typeface="Aptos" charset="0"/>
              </a:rPr>
              <a:t>06 / 25</a:t>
            </a:r>
            <a:endParaRPr lang="en-US" sz="1050" b="1">
              <a:solidFill>
                <a:srgbClr val="2F6BFF"/>
              </a:solidFill>
              <a:latin typeface="Aptos" charset="0"/>
              <a:cs typeface="Aptos" charset="0"/>
            </a:endParaRPr>
          </a:p>
        </p:txBody>
      </p:sp>
      <p:sp>
        <p:nvSpPr>
          <p:cNvPr id="6" name="Rounded Rectangle 5"/>
          <p:cNvSpPr/>
          <p:nvPr/>
        </p:nvSpPr>
        <p:spPr>
          <a:xfrm>
            <a:off x="635000" y="1600200"/>
            <a:ext cx="2514600" cy="10668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 name="Rounded Rectangle 6"/>
          <p:cNvSpPr/>
          <p:nvPr/>
        </p:nvSpPr>
        <p:spPr>
          <a:xfrm>
            <a:off x="635000" y="1600200"/>
            <a:ext cx="88900" cy="1066800"/>
          </a:xfrm>
          <a:prstGeom prst="roundRect">
            <a:avLst/>
          </a:prstGeom>
          <a:solidFill>
            <a:srgbClr val="2F6B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Text Box 7"/>
          <p:cNvSpPr txBox="1"/>
          <p:nvPr/>
        </p:nvSpPr>
        <p:spPr>
          <a:xfrm>
            <a:off x="863600" y="1765300"/>
            <a:ext cx="2159000" cy="384175"/>
          </a:xfrm>
          <a:prstGeom prst="rect">
            <a:avLst/>
          </a:prstGeom>
          <a:noFill/>
        </p:spPr>
        <p:txBody>
          <a:bodyPr wrap="square" lIns="0" tIns="0" rIns="0" rtlCol="0" anchor="t">
            <a:spAutoFit/>
          </a:bodyPr>
          <a:p>
            <a:pPr algn="l"/>
            <a:r>
              <a:rPr lang="en-US" sz="2200" b="1">
                <a:solidFill>
                  <a:srgbClr val="0B1F33"/>
                </a:solidFill>
                <a:latin typeface="Aptos" charset="0"/>
                <a:cs typeface="Aptos" charset="0"/>
              </a:rPr>
              <a:t>1.235.380</a:t>
            </a:r>
            <a:endParaRPr lang="en-US" sz="2200" b="1">
              <a:solidFill>
                <a:srgbClr val="0B1F33"/>
              </a:solidFill>
              <a:latin typeface="Aptos" charset="0"/>
              <a:cs typeface="Aptos" charset="0"/>
            </a:endParaRPr>
          </a:p>
        </p:txBody>
      </p:sp>
      <p:sp>
        <p:nvSpPr>
          <p:cNvPr id="9" name="Text Box 8"/>
          <p:cNvSpPr txBox="1"/>
          <p:nvPr/>
        </p:nvSpPr>
        <p:spPr>
          <a:xfrm>
            <a:off x="863600" y="2247900"/>
            <a:ext cx="2159000" cy="191770"/>
          </a:xfrm>
          <a:prstGeom prst="rect">
            <a:avLst/>
          </a:prstGeom>
          <a:noFill/>
        </p:spPr>
        <p:txBody>
          <a:bodyPr wrap="square" lIns="0" tIns="0" rIns="0" rtlCol="0" anchor="t">
            <a:spAutoFit/>
          </a:bodyPr>
          <a:p>
            <a:pPr algn="l"/>
            <a:r>
              <a:rPr lang="en-US" sz="950" b="1">
                <a:solidFill>
                  <a:srgbClr val="576884"/>
                </a:solidFill>
                <a:latin typeface="Aptos" charset="0"/>
                <a:cs typeface="Aptos" charset="0"/>
              </a:rPr>
              <a:t>INTERACTION</a:t>
            </a:r>
            <a:endParaRPr lang="en-US" sz="950" b="1">
              <a:solidFill>
                <a:srgbClr val="576884"/>
              </a:solidFill>
              <a:latin typeface="Aptos" charset="0"/>
              <a:cs typeface="Aptos" charset="0"/>
            </a:endParaRPr>
          </a:p>
        </p:txBody>
      </p:sp>
      <p:sp>
        <p:nvSpPr>
          <p:cNvPr id="10" name="Rounded Rectangle 9"/>
          <p:cNvSpPr/>
          <p:nvPr/>
        </p:nvSpPr>
        <p:spPr>
          <a:xfrm>
            <a:off x="3352800" y="1600200"/>
            <a:ext cx="2514600" cy="1066800"/>
          </a:xfrm>
          <a:prstGeom prst="roundRect">
            <a:avLst/>
          </a:prstGeom>
          <a:solidFill>
            <a:srgbClr val="E4F8F5"/>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Rounded Rectangle 10"/>
          <p:cNvSpPr/>
          <p:nvPr/>
        </p:nvSpPr>
        <p:spPr>
          <a:xfrm>
            <a:off x="3352800" y="1600200"/>
            <a:ext cx="88900" cy="1066800"/>
          </a:xfrm>
          <a:prstGeom prst="roundRect">
            <a:avLst/>
          </a:prstGeom>
          <a:solidFill>
            <a:srgbClr val="16B3A3"/>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2" name="Text Box 11"/>
          <p:cNvSpPr txBox="1"/>
          <p:nvPr/>
        </p:nvSpPr>
        <p:spPr>
          <a:xfrm>
            <a:off x="3581400" y="1765300"/>
            <a:ext cx="2159000" cy="384175"/>
          </a:xfrm>
          <a:prstGeom prst="rect">
            <a:avLst/>
          </a:prstGeom>
          <a:noFill/>
        </p:spPr>
        <p:txBody>
          <a:bodyPr wrap="square" lIns="0" tIns="0" rIns="0" rtlCol="0" anchor="t">
            <a:spAutoFit/>
          </a:bodyPr>
          <a:p>
            <a:pPr algn="l"/>
            <a:r>
              <a:rPr lang="en-US" sz="2200" b="1">
                <a:solidFill>
                  <a:srgbClr val="0B1F33"/>
                </a:solidFill>
                <a:latin typeface="Aptos" charset="0"/>
                <a:cs typeface="Aptos" charset="0"/>
              </a:rPr>
              <a:t>310.324</a:t>
            </a:r>
            <a:endParaRPr lang="en-US" sz="2200" b="1">
              <a:solidFill>
                <a:srgbClr val="0B1F33"/>
              </a:solidFill>
              <a:latin typeface="Aptos" charset="0"/>
              <a:cs typeface="Aptos" charset="0"/>
            </a:endParaRPr>
          </a:p>
        </p:txBody>
      </p:sp>
      <p:sp>
        <p:nvSpPr>
          <p:cNvPr id="13" name="Text Box 12"/>
          <p:cNvSpPr txBox="1"/>
          <p:nvPr/>
        </p:nvSpPr>
        <p:spPr>
          <a:xfrm>
            <a:off x="3581400" y="2247900"/>
            <a:ext cx="2159000" cy="191770"/>
          </a:xfrm>
          <a:prstGeom prst="rect">
            <a:avLst/>
          </a:prstGeom>
          <a:noFill/>
        </p:spPr>
        <p:txBody>
          <a:bodyPr wrap="square" lIns="0" tIns="0" rIns="0" rtlCol="0" anchor="t">
            <a:spAutoFit/>
          </a:bodyPr>
          <a:p>
            <a:pPr algn="l"/>
            <a:r>
              <a:rPr lang="en-US" sz="950" b="1">
                <a:solidFill>
                  <a:srgbClr val="576884"/>
                </a:solidFill>
                <a:latin typeface="Aptos" charset="0"/>
                <a:cs typeface="Aptos" charset="0"/>
              </a:rPr>
              <a:t>SESSION</a:t>
            </a:r>
            <a:endParaRPr lang="en-US" sz="950" b="1">
              <a:solidFill>
                <a:srgbClr val="576884"/>
              </a:solidFill>
              <a:latin typeface="Aptos" charset="0"/>
              <a:cs typeface="Aptos" charset="0"/>
            </a:endParaRPr>
          </a:p>
        </p:txBody>
      </p:sp>
      <p:sp>
        <p:nvSpPr>
          <p:cNvPr id="14" name="Rounded Rectangle 13"/>
          <p:cNvSpPr/>
          <p:nvPr/>
        </p:nvSpPr>
        <p:spPr>
          <a:xfrm>
            <a:off x="6070600" y="1600200"/>
            <a:ext cx="2514600" cy="1066800"/>
          </a:xfrm>
          <a:prstGeom prst="roundRect">
            <a:avLst/>
          </a:prstGeom>
          <a:solidFill>
            <a:srgbClr val="FFF4E4"/>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Rounded Rectangle 14"/>
          <p:cNvSpPr/>
          <p:nvPr/>
        </p:nvSpPr>
        <p:spPr>
          <a:xfrm>
            <a:off x="6070600" y="1600200"/>
            <a:ext cx="88900" cy="1066800"/>
          </a:xfrm>
          <a:prstGeom prst="roundRect">
            <a:avLst/>
          </a:prstGeom>
          <a:solidFill>
            <a:srgbClr val="FF9F43"/>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Text Box 15"/>
          <p:cNvSpPr txBox="1"/>
          <p:nvPr/>
        </p:nvSpPr>
        <p:spPr>
          <a:xfrm>
            <a:off x="6299200" y="1765300"/>
            <a:ext cx="2159000" cy="384175"/>
          </a:xfrm>
          <a:prstGeom prst="rect">
            <a:avLst/>
          </a:prstGeom>
          <a:noFill/>
        </p:spPr>
        <p:txBody>
          <a:bodyPr wrap="square" lIns="0" tIns="0" rIns="0" rtlCol="0" anchor="t">
            <a:spAutoFit/>
          </a:bodyPr>
          <a:p>
            <a:pPr algn="l"/>
            <a:r>
              <a:rPr lang="en-US" sz="2200" b="1">
                <a:solidFill>
                  <a:srgbClr val="0B1F33"/>
                </a:solidFill>
                <a:latin typeface="Aptos" charset="0"/>
                <a:cs typeface="Aptos" charset="0"/>
              </a:rPr>
              <a:t>122.993</a:t>
            </a:r>
            <a:endParaRPr lang="en-US" sz="2200" b="1">
              <a:solidFill>
                <a:srgbClr val="0B1F33"/>
              </a:solidFill>
              <a:latin typeface="Aptos" charset="0"/>
              <a:cs typeface="Aptos" charset="0"/>
            </a:endParaRPr>
          </a:p>
        </p:txBody>
      </p:sp>
      <p:sp>
        <p:nvSpPr>
          <p:cNvPr id="17" name="Text Box 16"/>
          <p:cNvSpPr txBox="1"/>
          <p:nvPr/>
        </p:nvSpPr>
        <p:spPr>
          <a:xfrm>
            <a:off x="6299200" y="2247900"/>
            <a:ext cx="2159000" cy="191770"/>
          </a:xfrm>
          <a:prstGeom prst="rect">
            <a:avLst/>
          </a:prstGeom>
          <a:noFill/>
        </p:spPr>
        <p:txBody>
          <a:bodyPr wrap="square" lIns="0" tIns="0" rIns="0" rtlCol="0" anchor="t">
            <a:spAutoFit/>
          </a:bodyPr>
          <a:p>
            <a:pPr algn="l"/>
            <a:r>
              <a:rPr lang="en-US" sz="950" b="1">
                <a:solidFill>
                  <a:srgbClr val="576884"/>
                </a:solidFill>
                <a:latin typeface="Aptos" charset="0"/>
                <a:cs typeface="Aptos" charset="0"/>
              </a:rPr>
              <a:t>ITEM CÓ TƯƠNG TÁC</a:t>
            </a:r>
            <a:endParaRPr lang="en-US" sz="950" b="1">
              <a:solidFill>
                <a:srgbClr val="576884"/>
              </a:solidFill>
              <a:latin typeface="Aptos" charset="0"/>
              <a:cs typeface="Aptos" charset="0"/>
            </a:endParaRPr>
          </a:p>
        </p:txBody>
      </p:sp>
      <p:sp>
        <p:nvSpPr>
          <p:cNvPr id="18" name="Rounded Rectangle 17"/>
          <p:cNvSpPr/>
          <p:nvPr/>
        </p:nvSpPr>
        <p:spPr>
          <a:xfrm>
            <a:off x="8788400" y="1600200"/>
            <a:ext cx="2590800" cy="1066800"/>
          </a:xfrm>
          <a:prstGeom prst="roundRect">
            <a:avLst/>
          </a:prstGeom>
          <a:solidFill>
            <a:srgbClr val="F4F7FB"/>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9" name="Rounded Rectangle 18"/>
          <p:cNvSpPr/>
          <p:nvPr/>
        </p:nvSpPr>
        <p:spPr>
          <a:xfrm>
            <a:off x="8788400" y="1600200"/>
            <a:ext cx="88900" cy="1066800"/>
          </a:xfrm>
          <a:prstGeom prst="roundRect">
            <a:avLst/>
          </a:prstGeom>
          <a:solidFill>
            <a:srgbClr val="E45756"/>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0" name="Text Box 19"/>
          <p:cNvSpPr txBox="1"/>
          <p:nvPr/>
        </p:nvSpPr>
        <p:spPr>
          <a:xfrm>
            <a:off x="9017000" y="1765300"/>
            <a:ext cx="2235200" cy="384175"/>
          </a:xfrm>
          <a:prstGeom prst="rect">
            <a:avLst/>
          </a:prstGeom>
          <a:noFill/>
        </p:spPr>
        <p:txBody>
          <a:bodyPr wrap="square" lIns="0" tIns="0" rIns="0" rtlCol="0" anchor="t">
            <a:spAutoFit/>
          </a:bodyPr>
          <a:p>
            <a:pPr algn="l"/>
            <a:r>
              <a:rPr lang="en-US" sz="2200" b="1">
                <a:solidFill>
                  <a:srgbClr val="0B1F33"/>
                </a:solidFill>
                <a:latin typeface="Aptos" charset="0"/>
                <a:cs typeface="Aptos" charset="0"/>
              </a:rPr>
              <a:t>1.217</a:t>
            </a:r>
            <a:endParaRPr lang="en-US" sz="2200" b="1">
              <a:solidFill>
                <a:srgbClr val="0B1F33"/>
              </a:solidFill>
              <a:latin typeface="Aptos" charset="0"/>
              <a:cs typeface="Aptos" charset="0"/>
            </a:endParaRPr>
          </a:p>
        </p:txBody>
      </p:sp>
      <p:sp>
        <p:nvSpPr>
          <p:cNvPr id="21" name="Text Box 20"/>
          <p:cNvSpPr txBox="1"/>
          <p:nvPr/>
        </p:nvSpPr>
        <p:spPr>
          <a:xfrm>
            <a:off x="9017000" y="2247900"/>
            <a:ext cx="2235200" cy="191770"/>
          </a:xfrm>
          <a:prstGeom prst="rect">
            <a:avLst/>
          </a:prstGeom>
          <a:noFill/>
        </p:spPr>
        <p:txBody>
          <a:bodyPr wrap="square" lIns="0" tIns="0" rIns="0" rtlCol="0" anchor="t">
            <a:spAutoFit/>
          </a:bodyPr>
          <a:p>
            <a:pPr algn="l"/>
            <a:r>
              <a:rPr lang="en-US" sz="950" b="1">
                <a:solidFill>
                  <a:srgbClr val="576884"/>
                </a:solidFill>
                <a:latin typeface="Aptos" charset="0"/>
                <a:cs typeface="Aptos" charset="0"/>
              </a:rPr>
              <a:t>CATEGORY METADATA</a:t>
            </a:r>
            <a:endParaRPr lang="en-US" sz="950" b="1">
              <a:solidFill>
                <a:srgbClr val="576884"/>
              </a:solidFill>
              <a:latin typeface="Aptos" charset="0"/>
              <a:cs typeface="Aptos" charset="0"/>
            </a:endParaRPr>
          </a:p>
        </p:txBody>
      </p:sp>
      <p:sp>
        <p:nvSpPr>
          <p:cNvPr id="22" name="Rounded Rectangle 21"/>
          <p:cNvSpPr/>
          <p:nvPr/>
        </p:nvSpPr>
        <p:spPr>
          <a:xfrm>
            <a:off x="635000" y="2984500"/>
            <a:ext cx="3429000" cy="2032000"/>
          </a:xfrm>
          <a:prstGeom prst="roundRect">
            <a:avLst/>
          </a:prstGeom>
          <a:solidFill>
            <a:srgbClr val="F4F7FB"/>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3" name="Text Box 22"/>
          <p:cNvSpPr txBox="1"/>
          <p:nvPr/>
        </p:nvSpPr>
        <p:spPr>
          <a:xfrm>
            <a:off x="838200" y="3162300"/>
            <a:ext cx="533400" cy="306705"/>
          </a:xfrm>
          <a:prstGeom prst="rect">
            <a:avLst/>
          </a:prstGeom>
          <a:noFill/>
        </p:spPr>
        <p:txBody>
          <a:bodyPr wrap="square" lIns="0" tIns="0" rIns="0" rtlCol="0" anchor="t">
            <a:spAutoFit/>
          </a:bodyPr>
          <a:p>
            <a:pPr algn="l"/>
            <a:r>
              <a:rPr lang="en-US" sz="1700" b="1">
                <a:solidFill>
                  <a:srgbClr val="2F6BFF"/>
                </a:solidFill>
                <a:latin typeface="Aptos" charset="0"/>
                <a:cs typeface="Aptos" charset="0"/>
              </a:rPr>
              <a:t>01</a:t>
            </a:r>
            <a:endParaRPr lang="en-US" sz="1700" b="1">
              <a:solidFill>
                <a:srgbClr val="2F6BFF"/>
              </a:solidFill>
              <a:latin typeface="Aptos" charset="0"/>
              <a:cs typeface="Aptos" charset="0"/>
            </a:endParaRPr>
          </a:p>
        </p:txBody>
      </p:sp>
      <p:sp>
        <p:nvSpPr>
          <p:cNvPr id="24" name="Text Box 23"/>
          <p:cNvSpPr txBox="1"/>
          <p:nvPr/>
        </p:nvSpPr>
        <p:spPr>
          <a:xfrm>
            <a:off x="1422400" y="3175000"/>
            <a:ext cx="2438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train-item-views.csv</a:t>
            </a:r>
            <a:endParaRPr lang="en-US" sz="1350" b="1">
              <a:solidFill>
                <a:srgbClr val="0B1F33"/>
              </a:solidFill>
              <a:latin typeface="Aptos" charset="0"/>
              <a:cs typeface="Aptos" charset="0"/>
            </a:endParaRPr>
          </a:p>
        </p:txBody>
      </p:sp>
      <p:sp>
        <p:nvSpPr>
          <p:cNvPr id="25" name="Text Box 24"/>
          <p:cNvSpPr txBox="1"/>
          <p:nvPr/>
        </p:nvSpPr>
        <p:spPr>
          <a:xfrm>
            <a:off x="889000" y="3644900"/>
            <a:ext cx="2921000" cy="78422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Chứa sessionId, itemId, eventdate và timeframe. Đây là nguồn chính để sắp chuỗi, chia theo thời gian và tạo mẫu next-item.</a:t>
            </a:r>
            <a:endParaRPr lang="en-US" sz="1200">
              <a:solidFill>
                <a:srgbClr val="172B4D"/>
              </a:solidFill>
              <a:latin typeface="Aptos" charset="0"/>
              <a:cs typeface="Aptos" charset="0"/>
            </a:endParaRPr>
          </a:p>
        </p:txBody>
      </p:sp>
      <p:sp>
        <p:nvSpPr>
          <p:cNvPr id="26" name="Rounded Rectangle 25"/>
          <p:cNvSpPr/>
          <p:nvPr/>
        </p:nvSpPr>
        <p:spPr>
          <a:xfrm>
            <a:off x="4381500" y="2984500"/>
            <a:ext cx="3429000" cy="2032000"/>
          </a:xfrm>
          <a:prstGeom prst="roundRect">
            <a:avLst/>
          </a:prstGeom>
          <a:solidFill>
            <a:srgbClr val="F4F7FB"/>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7" name="Text Box 26"/>
          <p:cNvSpPr txBox="1"/>
          <p:nvPr/>
        </p:nvSpPr>
        <p:spPr>
          <a:xfrm>
            <a:off x="4584700" y="3162300"/>
            <a:ext cx="533400" cy="306705"/>
          </a:xfrm>
          <a:prstGeom prst="rect">
            <a:avLst/>
          </a:prstGeom>
          <a:noFill/>
        </p:spPr>
        <p:txBody>
          <a:bodyPr wrap="square" lIns="0" tIns="0" rIns="0" rtlCol="0" anchor="t">
            <a:spAutoFit/>
          </a:bodyPr>
          <a:p>
            <a:pPr algn="l"/>
            <a:r>
              <a:rPr lang="en-US" sz="1700" b="1">
                <a:solidFill>
                  <a:srgbClr val="16B3A3"/>
                </a:solidFill>
                <a:latin typeface="Aptos" charset="0"/>
                <a:cs typeface="Aptos" charset="0"/>
              </a:rPr>
              <a:t>02</a:t>
            </a:r>
            <a:endParaRPr lang="en-US" sz="1700" b="1">
              <a:solidFill>
                <a:srgbClr val="16B3A3"/>
              </a:solidFill>
              <a:latin typeface="Aptos" charset="0"/>
              <a:cs typeface="Aptos" charset="0"/>
            </a:endParaRPr>
          </a:p>
        </p:txBody>
      </p:sp>
      <p:sp>
        <p:nvSpPr>
          <p:cNvPr id="28" name="Text Box 27"/>
          <p:cNvSpPr txBox="1"/>
          <p:nvPr/>
        </p:nvSpPr>
        <p:spPr>
          <a:xfrm>
            <a:off x="5168900" y="3175000"/>
            <a:ext cx="2438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product-categories.csv</a:t>
            </a:r>
            <a:endParaRPr lang="en-US" sz="1350" b="1">
              <a:solidFill>
                <a:srgbClr val="0B1F33"/>
              </a:solidFill>
              <a:latin typeface="Aptos" charset="0"/>
              <a:cs typeface="Aptos" charset="0"/>
            </a:endParaRPr>
          </a:p>
        </p:txBody>
      </p:sp>
      <p:sp>
        <p:nvSpPr>
          <p:cNvPr id="29" name="Text Box 28"/>
          <p:cNvSpPr txBox="1"/>
          <p:nvPr/>
        </p:nvSpPr>
        <p:spPr>
          <a:xfrm>
            <a:off x="4635500" y="3644900"/>
            <a:ext cx="2921000" cy="78422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Ánh xạ item sang category. File này phục vụ kiểm tra category transition, phân tầng controlled cold và cosine embedding sau huấn luyện.</a:t>
            </a:r>
            <a:endParaRPr lang="en-US" sz="1200">
              <a:solidFill>
                <a:srgbClr val="172B4D"/>
              </a:solidFill>
              <a:latin typeface="Aptos" charset="0"/>
              <a:cs typeface="Aptos" charset="0"/>
            </a:endParaRPr>
          </a:p>
        </p:txBody>
      </p:sp>
      <p:sp>
        <p:nvSpPr>
          <p:cNvPr id="30" name="Rounded Rectangle 29"/>
          <p:cNvSpPr/>
          <p:nvPr/>
        </p:nvSpPr>
        <p:spPr>
          <a:xfrm>
            <a:off x="8128000" y="2984500"/>
            <a:ext cx="3251200" cy="2032000"/>
          </a:xfrm>
          <a:prstGeom prst="roundRect">
            <a:avLst/>
          </a:prstGeom>
          <a:solidFill>
            <a:srgbClr val="F4F7FB"/>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1" name="Text Box 30"/>
          <p:cNvSpPr txBox="1"/>
          <p:nvPr/>
        </p:nvSpPr>
        <p:spPr>
          <a:xfrm>
            <a:off x="8331200" y="3162300"/>
            <a:ext cx="533400" cy="306705"/>
          </a:xfrm>
          <a:prstGeom prst="rect">
            <a:avLst/>
          </a:prstGeom>
          <a:noFill/>
        </p:spPr>
        <p:txBody>
          <a:bodyPr wrap="square" lIns="0" tIns="0" rIns="0" rtlCol="0" anchor="t">
            <a:spAutoFit/>
          </a:bodyPr>
          <a:p>
            <a:pPr algn="l"/>
            <a:r>
              <a:rPr lang="en-US" sz="1700" b="1">
                <a:solidFill>
                  <a:srgbClr val="FF9F43"/>
                </a:solidFill>
                <a:latin typeface="Aptos" charset="0"/>
                <a:cs typeface="Aptos" charset="0"/>
              </a:rPr>
              <a:t>03</a:t>
            </a:r>
            <a:endParaRPr lang="en-US" sz="1700" b="1">
              <a:solidFill>
                <a:srgbClr val="FF9F43"/>
              </a:solidFill>
              <a:latin typeface="Aptos" charset="0"/>
              <a:cs typeface="Aptos" charset="0"/>
            </a:endParaRPr>
          </a:p>
        </p:txBody>
      </p:sp>
      <p:sp>
        <p:nvSpPr>
          <p:cNvPr id="32" name="Text Box 31"/>
          <p:cNvSpPr txBox="1"/>
          <p:nvPr/>
        </p:nvSpPr>
        <p:spPr>
          <a:xfrm>
            <a:off x="8915400" y="3175000"/>
            <a:ext cx="22606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products.csv</a:t>
            </a:r>
            <a:endParaRPr lang="en-US" sz="1350" b="1">
              <a:solidFill>
                <a:srgbClr val="0B1F33"/>
              </a:solidFill>
              <a:latin typeface="Aptos" charset="0"/>
              <a:cs typeface="Aptos" charset="0"/>
            </a:endParaRPr>
          </a:p>
        </p:txBody>
      </p:sp>
      <p:sp>
        <p:nvSpPr>
          <p:cNvPr id="33" name="Text Box 32"/>
          <p:cNvSpPr txBox="1"/>
          <p:nvPr/>
        </p:nvSpPr>
        <p:spPr>
          <a:xfrm>
            <a:off x="8382000" y="3644900"/>
            <a:ext cx="2743200" cy="78422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Dùng để kiểm tra catalog và tính toàn vẹn metadata. Các trường giá/tên chưa được dùng vì ba baseline hiện tại là mô hình item-ID-based.</a:t>
            </a:r>
            <a:endParaRPr lang="en-US" sz="1200">
              <a:solidFill>
                <a:srgbClr val="172B4D"/>
              </a:solidFill>
              <a:latin typeface="Aptos" charset="0"/>
              <a:cs typeface="Aptos" charset="0"/>
            </a:endParaRPr>
          </a:p>
        </p:txBody>
      </p:sp>
      <p:sp>
        <p:nvSpPr>
          <p:cNvPr id="34" name="Rounded Rectangle 33"/>
          <p:cNvSpPr/>
          <p:nvPr/>
        </p:nvSpPr>
        <p:spPr>
          <a:xfrm>
            <a:off x="1803400" y="5397500"/>
            <a:ext cx="8585200" cy="635000"/>
          </a:xfrm>
          <a:prstGeom prst="roundRect">
            <a:avLst/>
          </a:prstGeom>
          <a:solidFill>
            <a:srgbClr val="0B1F33"/>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5" name="Text Box 34"/>
          <p:cNvSpPr txBox="1"/>
          <p:nvPr/>
        </p:nvSpPr>
        <p:spPr>
          <a:xfrm>
            <a:off x="2057400" y="5575300"/>
            <a:ext cx="8077200" cy="207010"/>
          </a:xfrm>
          <a:prstGeom prst="rect">
            <a:avLst/>
          </a:prstGeom>
          <a:noFill/>
        </p:spPr>
        <p:txBody>
          <a:bodyPr wrap="square" lIns="0" tIns="0" rIns="0" rtlCol="0" anchor="t">
            <a:spAutoFit/>
          </a:bodyPr>
          <a:p>
            <a:pPr algn="ctr"/>
            <a:r>
              <a:rPr lang="en-US" sz="1050" b="1">
                <a:solidFill>
                  <a:srgbClr val="FFFFFF"/>
                </a:solidFill>
                <a:latin typeface="Aptos" charset="0"/>
                <a:cs typeface="Aptos" charset="0"/>
              </a:rPr>
              <a:t>152 ngày có quan sát trong khoảng 01/01–01/06/2016 • ba file liên kết bằng itemId</a:t>
            </a:r>
            <a:endParaRPr lang="en-US" sz="1050" b="1">
              <a:solidFill>
                <a:srgbClr val="FFFFFF"/>
              </a:solidFill>
              <a:latin typeface="Aptos" charset="0"/>
              <a:cs typeface="Aptos"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2000" cy="68580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Rectangle 2"/>
          <p:cNvSpPr/>
          <p:nvPr/>
        </p:nvSpPr>
        <p:spPr>
          <a:xfrm>
            <a:off x="0" y="0"/>
            <a:ext cx="177800" cy="6858000"/>
          </a:xfrm>
          <a:prstGeom prst="rect">
            <a:avLst/>
          </a:prstGeom>
          <a:solidFill>
            <a:srgbClr val="2F6B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ext Box 3"/>
          <p:cNvSpPr txBox="1"/>
          <p:nvPr/>
        </p:nvSpPr>
        <p:spPr>
          <a:xfrm>
            <a:off x="635000" y="355600"/>
            <a:ext cx="10922000" cy="437515"/>
          </a:xfrm>
          <a:prstGeom prst="rect">
            <a:avLst/>
          </a:prstGeom>
          <a:noFill/>
        </p:spPr>
        <p:txBody>
          <a:bodyPr wrap="square" lIns="0" tIns="0" rIns="0" rtlCol="0" anchor="t">
            <a:spAutoFit/>
          </a:bodyPr>
          <a:p>
            <a:pPr algn="l"/>
            <a:r>
              <a:rPr lang="en-US" sz="2550" b="1">
                <a:solidFill>
                  <a:srgbClr val="0B1F33"/>
                </a:solidFill>
                <a:latin typeface="Aptos" charset="0"/>
                <a:cs typeface="Aptos" charset="0"/>
              </a:rPr>
              <a:t>Phần 1 — EDA: chúng ta đã kiểm tra những gì?</a:t>
            </a:r>
            <a:endParaRPr lang="en-US" sz="2550" b="1">
              <a:solidFill>
                <a:srgbClr val="0B1F33"/>
              </a:solidFill>
              <a:latin typeface="Aptos" charset="0"/>
              <a:cs typeface="Aptos" charset="0"/>
            </a:endParaRPr>
          </a:p>
        </p:txBody>
      </p:sp>
      <p:sp>
        <p:nvSpPr>
          <p:cNvPr id="5" name="Text Box 4"/>
          <p:cNvSpPr txBox="1"/>
          <p:nvPr/>
        </p:nvSpPr>
        <p:spPr>
          <a:xfrm>
            <a:off x="10515600" y="6477000"/>
            <a:ext cx="1016000" cy="207010"/>
          </a:xfrm>
          <a:prstGeom prst="rect">
            <a:avLst/>
          </a:prstGeom>
          <a:noFill/>
        </p:spPr>
        <p:txBody>
          <a:bodyPr wrap="square" lIns="0" tIns="0" rIns="0" rtlCol="0" anchor="t">
            <a:spAutoFit/>
          </a:bodyPr>
          <a:p>
            <a:pPr algn="r"/>
            <a:r>
              <a:rPr lang="en-US" sz="1050" b="1">
                <a:solidFill>
                  <a:srgbClr val="2F6BFF"/>
                </a:solidFill>
                <a:latin typeface="Aptos" charset="0"/>
                <a:cs typeface="Aptos" charset="0"/>
              </a:rPr>
              <a:t>07 / 25</a:t>
            </a:r>
            <a:endParaRPr lang="en-US" sz="1050" b="1">
              <a:solidFill>
                <a:srgbClr val="2F6BFF"/>
              </a:solidFill>
              <a:latin typeface="Aptos" charset="0"/>
              <a:cs typeface="Aptos" charset="0"/>
            </a:endParaRPr>
          </a:p>
        </p:txBody>
      </p:sp>
      <p:sp>
        <p:nvSpPr>
          <p:cNvPr id="6" name="Rounded Rectangle 5"/>
          <p:cNvSpPr/>
          <p:nvPr/>
        </p:nvSpPr>
        <p:spPr>
          <a:xfrm>
            <a:off x="635000" y="1206500"/>
            <a:ext cx="5334000" cy="13335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 name="Text Box 6"/>
          <p:cNvSpPr txBox="1"/>
          <p:nvPr/>
        </p:nvSpPr>
        <p:spPr>
          <a:xfrm>
            <a:off x="838200" y="1384300"/>
            <a:ext cx="533400" cy="306705"/>
          </a:xfrm>
          <a:prstGeom prst="rect">
            <a:avLst/>
          </a:prstGeom>
          <a:noFill/>
        </p:spPr>
        <p:txBody>
          <a:bodyPr wrap="square" lIns="0" tIns="0" rIns="0" rtlCol="0" anchor="t">
            <a:spAutoFit/>
          </a:bodyPr>
          <a:p>
            <a:pPr algn="l"/>
            <a:r>
              <a:rPr lang="en-US" sz="1700" b="1">
                <a:solidFill>
                  <a:srgbClr val="2F6BFF"/>
                </a:solidFill>
                <a:latin typeface="Aptos" charset="0"/>
                <a:cs typeface="Aptos" charset="0"/>
              </a:rPr>
              <a:t>01</a:t>
            </a:r>
            <a:endParaRPr lang="en-US" sz="1700" b="1">
              <a:solidFill>
                <a:srgbClr val="2F6BFF"/>
              </a:solidFill>
              <a:latin typeface="Aptos" charset="0"/>
              <a:cs typeface="Aptos" charset="0"/>
            </a:endParaRPr>
          </a:p>
        </p:txBody>
      </p:sp>
      <p:sp>
        <p:nvSpPr>
          <p:cNvPr id="8" name="Text Box 7"/>
          <p:cNvSpPr txBox="1"/>
          <p:nvPr/>
        </p:nvSpPr>
        <p:spPr>
          <a:xfrm>
            <a:off x="1422400" y="13970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Chất lượng và liên kết dữ liệu</a:t>
            </a:r>
            <a:endParaRPr lang="en-US" sz="1350" b="1">
              <a:solidFill>
                <a:srgbClr val="0B1F33"/>
              </a:solidFill>
              <a:latin typeface="Aptos" charset="0"/>
              <a:cs typeface="Aptos" charset="0"/>
            </a:endParaRPr>
          </a:p>
        </p:txBody>
      </p:sp>
      <p:sp>
        <p:nvSpPr>
          <p:cNvPr id="9" name="Text Box 8"/>
          <p:cNvSpPr txBox="1"/>
          <p:nvPr/>
        </p:nvSpPr>
        <p:spPr>
          <a:xfrm>
            <a:off x="889000" y="18669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Kiểm tra schema, missing, duplicate, khóa itemId, ngày và khả năng liên kết ba file raw.</a:t>
            </a:r>
            <a:endParaRPr lang="en-US" sz="1200">
              <a:solidFill>
                <a:srgbClr val="172B4D"/>
              </a:solidFill>
              <a:latin typeface="Aptos" charset="0"/>
              <a:cs typeface="Aptos" charset="0"/>
            </a:endParaRPr>
          </a:p>
        </p:txBody>
      </p:sp>
      <p:sp>
        <p:nvSpPr>
          <p:cNvPr id="10" name="Rounded Rectangle 9"/>
          <p:cNvSpPr/>
          <p:nvPr/>
        </p:nvSpPr>
        <p:spPr>
          <a:xfrm>
            <a:off x="6223000" y="1206500"/>
            <a:ext cx="5334000" cy="1333500"/>
          </a:xfrm>
          <a:prstGeom prst="roundRect">
            <a:avLst/>
          </a:prstGeom>
          <a:solidFill>
            <a:srgbClr val="E4F8F5"/>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Text Box 10"/>
          <p:cNvSpPr txBox="1"/>
          <p:nvPr/>
        </p:nvSpPr>
        <p:spPr>
          <a:xfrm>
            <a:off x="6426200" y="1384300"/>
            <a:ext cx="533400" cy="306705"/>
          </a:xfrm>
          <a:prstGeom prst="rect">
            <a:avLst/>
          </a:prstGeom>
          <a:noFill/>
        </p:spPr>
        <p:txBody>
          <a:bodyPr wrap="square" lIns="0" tIns="0" rIns="0" rtlCol="0" anchor="t">
            <a:spAutoFit/>
          </a:bodyPr>
          <a:p>
            <a:pPr algn="l"/>
            <a:r>
              <a:rPr lang="en-US" sz="1700" b="1">
                <a:solidFill>
                  <a:srgbClr val="16B3A3"/>
                </a:solidFill>
                <a:latin typeface="Aptos" charset="0"/>
                <a:cs typeface="Aptos" charset="0"/>
              </a:rPr>
              <a:t>02</a:t>
            </a:r>
            <a:endParaRPr lang="en-US" sz="1700" b="1">
              <a:solidFill>
                <a:srgbClr val="16B3A3"/>
              </a:solidFill>
              <a:latin typeface="Aptos" charset="0"/>
              <a:cs typeface="Aptos" charset="0"/>
            </a:endParaRPr>
          </a:p>
        </p:txBody>
      </p:sp>
      <p:sp>
        <p:nvSpPr>
          <p:cNvPr id="12" name="Text Box 11"/>
          <p:cNvSpPr txBox="1"/>
          <p:nvPr/>
        </p:nvSpPr>
        <p:spPr>
          <a:xfrm>
            <a:off x="7010400" y="13970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Thứ tự và thời gian session</a:t>
            </a:r>
            <a:endParaRPr lang="en-US" sz="1350" b="1">
              <a:solidFill>
                <a:srgbClr val="0B1F33"/>
              </a:solidFill>
              <a:latin typeface="Aptos" charset="0"/>
              <a:cs typeface="Aptos" charset="0"/>
            </a:endParaRPr>
          </a:p>
        </p:txBody>
      </p:sp>
      <p:sp>
        <p:nvSpPr>
          <p:cNvPr id="13" name="Text Box 12"/>
          <p:cNvSpPr txBox="1"/>
          <p:nvPr/>
        </p:nvSpPr>
        <p:spPr>
          <a:xfrm>
            <a:off x="6477000" y="18669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Kiểm tra thứ tự event, timeframe trùng nhau, session qua nửa đêm và khoảng ngày quan sát.</a:t>
            </a:r>
            <a:endParaRPr lang="en-US" sz="1200">
              <a:solidFill>
                <a:srgbClr val="172B4D"/>
              </a:solidFill>
              <a:latin typeface="Aptos" charset="0"/>
              <a:cs typeface="Aptos" charset="0"/>
            </a:endParaRPr>
          </a:p>
        </p:txBody>
      </p:sp>
      <p:sp>
        <p:nvSpPr>
          <p:cNvPr id="14" name="Rounded Rectangle 13"/>
          <p:cNvSpPr/>
          <p:nvPr/>
        </p:nvSpPr>
        <p:spPr>
          <a:xfrm>
            <a:off x="635000" y="2730500"/>
            <a:ext cx="5334000" cy="1333500"/>
          </a:xfrm>
          <a:prstGeom prst="roundRect">
            <a:avLst/>
          </a:prstGeom>
          <a:solidFill>
            <a:srgbClr val="FFF4E4"/>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Text Box 14"/>
          <p:cNvSpPr txBox="1"/>
          <p:nvPr/>
        </p:nvSpPr>
        <p:spPr>
          <a:xfrm>
            <a:off x="838200" y="2908300"/>
            <a:ext cx="533400" cy="306705"/>
          </a:xfrm>
          <a:prstGeom prst="rect">
            <a:avLst/>
          </a:prstGeom>
          <a:noFill/>
        </p:spPr>
        <p:txBody>
          <a:bodyPr wrap="square" lIns="0" tIns="0" rIns="0" rtlCol="0" anchor="t">
            <a:spAutoFit/>
          </a:bodyPr>
          <a:p>
            <a:pPr algn="l"/>
            <a:r>
              <a:rPr lang="en-US" sz="1700" b="1">
                <a:solidFill>
                  <a:srgbClr val="FF9F43"/>
                </a:solidFill>
                <a:latin typeface="Aptos" charset="0"/>
                <a:cs typeface="Aptos" charset="0"/>
              </a:rPr>
              <a:t>03</a:t>
            </a:r>
            <a:endParaRPr lang="en-US" sz="1700" b="1">
              <a:solidFill>
                <a:srgbClr val="FF9F43"/>
              </a:solidFill>
              <a:latin typeface="Aptos" charset="0"/>
              <a:cs typeface="Aptos" charset="0"/>
            </a:endParaRPr>
          </a:p>
        </p:txBody>
      </p:sp>
      <p:sp>
        <p:nvSpPr>
          <p:cNvPr id="16" name="Text Box 15"/>
          <p:cNvSpPr txBox="1"/>
          <p:nvPr/>
        </p:nvSpPr>
        <p:spPr>
          <a:xfrm>
            <a:off x="1422400" y="29210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Đặc điểm session</a:t>
            </a:r>
            <a:endParaRPr lang="en-US" sz="1350" b="1">
              <a:solidFill>
                <a:srgbClr val="0B1F33"/>
              </a:solidFill>
              <a:latin typeface="Aptos" charset="0"/>
              <a:cs typeface="Aptos" charset="0"/>
            </a:endParaRPr>
          </a:p>
        </p:txBody>
      </p:sp>
      <p:sp>
        <p:nvSpPr>
          <p:cNvPr id="17" name="Text Box 16"/>
          <p:cNvSpPr txBox="1"/>
          <p:nvPr/>
        </p:nvSpPr>
        <p:spPr>
          <a:xfrm>
            <a:off x="889000" y="33909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Phân tích độ dài session, session chỉ có một event, click lặp và ảnh hưởng của session dài.</a:t>
            </a:r>
            <a:endParaRPr lang="en-US" sz="1200">
              <a:solidFill>
                <a:srgbClr val="172B4D"/>
              </a:solidFill>
              <a:latin typeface="Aptos" charset="0"/>
              <a:cs typeface="Aptos" charset="0"/>
            </a:endParaRPr>
          </a:p>
        </p:txBody>
      </p:sp>
      <p:sp>
        <p:nvSpPr>
          <p:cNvPr id="18" name="Rounded Rectangle 17"/>
          <p:cNvSpPr/>
          <p:nvPr/>
        </p:nvSpPr>
        <p:spPr>
          <a:xfrm>
            <a:off x="6223000" y="2730500"/>
            <a:ext cx="5334000" cy="1333500"/>
          </a:xfrm>
          <a:prstGeom prst="roundRect">
            <a:avLst/>
          </a:prstGeom>
          <a:solidFill>
            <a:srgbClr val="F4F7FB"/>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9" name="Text Box 18"/>
          <p:cNvSpPr txBox="1"/>
          <p:nvPr/>
        </p:nvSpPr>
        <p:spPr>
          <a:xfrm>
            <a:off x="6426200" y="2908300"/>
            <a:ext cx="533400" cy="306705"/>
          </a:xfrm>
          <a:prstGeom prst="rect">
            <a:avLst/>
          </a:prstGeom>
          <a:noFill/>
        </p:spPr>
        <p:txBody>
          <a:bodyPr wrap="square" lIns="0" tIns="0" rIns="0" rtlCol="0" anchor="t">
            <a:spAutoFit/>
          </a:bodyPr>
          <a:p>
            <a:pPr algn="l"/>
            <a:r>
              <a:rPr lang="en-US" sz="1700" b="1">
                <a:solidFill>
                  <a:srgbClr val="E45756"/>
                </a:solidFill>
                <a:latin typeface="Aptos" charset="0"/>
                <a:cs typeface="Aptos" charset="0"/>
              </a:rPr>
              <a:t>04</a:t>
            </a:r>
            <a:endParaRPr lang="en-US" sz="1700" b="1">
              <a:solidFill>
                <a:srgbClr val="E45756"/>
              </a:solidFill>
              <a:latin typeface="Aptos" charset="0"/>
              <a:cs typeface="Aptos" charset="0"/>
            </a:endParaRPr>
          </a:p>
        </p:txBody>
      </p:sp>
      <p:sp>
        <p:nvSpPr>
          <p:cNvPr id="20" name="Text Box 19"/>
          <p:cNvSpPr txBox="1"/>
          <p:nvPr/>
        </p:nvSpPr>
        <p:spPr>
          <a:xfrm>
            <a:off x="7010400" y="29210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Long-tail và popularity đầu vào</a:t>
            </a:r>
            <a:endParaRPr lang="en-US" sz="1350" b="1">
              <a:solidFill>
                <a:srgbClr val="0B1F33"/>
              </a:solidFill>
              <a:latin typeface="Aptos" charset="0"/>
              <a:cs typeface="Aptos" charset="0"/>
            </a:endParaRPr>
          </a:p>
        </p:txBody>
      </p:sp>
      <p:sp>
        <p:nvSpPr>
          <p:cNvPr id="21" name="Text Box 20"/>
          <p:cNvSpPr txBox="1"/>
          <p:nvPr/>
        </p:nvSpPr>
        <p:spPr>
          <a:xfrm>
            <a:off x="6477000" y="33909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Đo tần suất item, tỷ trọng top item, đường Lorenz và Gini của interaction raw.</a:t>
            </a:r>
            <a:endParaRPr lang="en-US" sz="1200">
              <a:solidFill>
                <a:srgbClr val="172B4D"/>
              </a:solidFill>
              <a:latin typeface="Aptos" charset="0"/>
              <a:cs typeface="Aptos" charset="0"/>
            </a:endParaRPr>
          </a:p>
        </p:txBody>
      </p:sp>
      <p:sp>
        <p:nvSpPr>
          <p:cNvPr id="22" name="Rounded Rectangle 21"/>
          <p:cNvSpPr/>
          <p:nvPr/>
        </p:nvSpPr>
        <p:spPr>
          <a:xfrm>
            <a:off x="635000" y="4254500"/>
            <a:ext cx="5334000" cy="13335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3" name="Text Box 22"/>
          <p:cNvSpPr txBox="1"/>
          <p:nvPr/>
        </p:nvSpPr>
        <p:spPr>
          <a:xfrm>
            <a:off x="838200" y="4432300"/>
            <a:ext cx="533400" cy="306705"/>
          </a:xfrm>
          <a:prstGeom prst="rect">
            <a:avLst/>
          </a:prstGeom>
          <a:noFill/>
        </p:spPr>
        <p:txBody>
          <a:bodyPr wrap="square" lIns="0" tIns="0" rIns="0" rtlCol="0" anchor="t">
            <a:spAutoFit/>
          </a:bodyPr>
          <a:p>
            <a:pPr algn="l"/>
            <a:r>
              <a:rPr lang="en-US" sz="1700" b="1">
                <a:solidFill>
                  <a:srgbClr val="2F6BFF"/>
                </a:solidFill>
                <a:latin typeface="Aptos" charset="0"/>
                <a:cs typeface="Aptos" charset="0"/>
              </a:rPr>
              <a:t>05</a:t>
            </a:r>
            <a:endParaRPr lang="en-US" sz="1700" b="1">
              <a:solidFill>
                <a:srgbClr val="2F6BFF"/>
              </a:solidFill>
              <a:latin typeface="Aptos" charset="0"/>
              <a:cs typeface="Aptos" charset="0"/>
            </a:endParaRPr>
          </a:p>
        </p:txBody>
      </p:sp>
      <p:sp>
        <p:nvSpPr>
          <p:cNvPr id="24" name="Text Box 23"/>
          <p:cNvSpPr txBox="1"/>
          <p:nvPr/>
        </p:nvSpPr>
        <p:spPr>
          <a:xfrm>
            <a:off x="1422400" y="44450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Category và tuổi item</a:t>
            </a:r>
            <a:endParaRPr lang="en-US" sz="1350" b="1">
              <a:solidFill>
                <a:srgbClr val="0B1F33"/>
              </a:solidFill>
              <a:latin typeface="Aptos" charset="0"/>
              <a:cs typeface="Aptos" charset="0"/>
            </a:endParaRPr>
          </a:p>
        </p:txBody>
      </p:sp>
      <p:sp>
        <p:nvSpPr>
          <p:cNvPr id="25" name="Text Box 24"/>
          <p:cNvSpPr txBox="1"/>
          <p:nvPr/>
        </p:nvSpPr>
        <p:spPr>
          <a:xfrm>
            <a:off x="889000" y="49149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Kiểm tra chuyển tiếp cùng category và mối liên hệ giữa thời gian xuất hiện với frequency.</a:t>
            </a:r>
            <a:endParaRPr lang="en-US" sz="1200">
              <a:solidFill>
                <a:srgbClr val="172B4D"/>
              </a:solidFill>
              <a:latin typeface="Aptos" charset="0"/>
              <a:cs typeface="Aptos" charset="0"/>
            </a:endParaRPr>
          </a:p>
        </p:txBody>
      </p:sp>
      <p:sp>
        <p:nvSpPr>
          <p:cNvPr id="26" name="Rounded Rectangle 25"/>
          <p:cNvSpPr/>
          <p:nvPr/>
        </p:nvSpPr>
        <p:spPr>
          <a:xfrm>
            <a:off x="6223000" y="4254500"/>
            <a:ext cx="5334000" cy="1333500"/>
          </a:xfrm>
          <a:prstGeom prst="roundRect">
            <a:avLst/>
          </a:prstGeom>
          <a:solidFill>
            <a:srgbClr val="E4F8F5"/>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7" name="Text Box 26"/>
          <p:cNvSpPr txBox="1"/>
          <p:nvPr/>
        </p:nvSpPr>
        <p:spPr>
          <a:xfrm>
            <a:off x="6426200" y="4432300"/>
            <a:ext cx="533400" cy="306705"/>
          </a:xfrm>
          <a:prstGeom prst="rect">
            <a:avLst/>
          </a:prstGeom>
          <a:noFill/>
        </p:spPr>
        <p:txBody>
          <a:bodyPr wrap="square" lIns="0" tIns="0" rIns="0" rtlCol="0" anchor="t">
            <a:spAutoFit/>
          </a:bodyPr>
          <a:p>
            <a:pPr algn="l"/>
            <a:r>
              <a:rPr lang="en-US" sz="1700" b="1">
                <a:solidFill>
                  <a:srgbClr val="16B3A3"/>
                </a:solidFill>
                <a:latin typeface="Aptos" charset="0"/>
                <a:cs typeface="Aptos" charset="0"/>
              </a:rPr>
              <a:t>06</a:t>
            </a:r>
            <a:endParaRPr lang="en-US" sz="1700" b="1">
              <a:solidFill>
                <a:srgbClr val="16B3A3"/>
              </a:solidFill>
              <a:latin typeface="Aptos" charset="0"/>
              <a:cs typeface="Aptos" charset="0"/>
            </a:endParaRPr>
          </a:p>
        </p:txBody>
      </p:sp>
      <p:sp>
        <p:nvSpPr>
          <p:cNvPr id="28" name="Text Box 27"/>
          <p:cNvSpPr txBox="1"/>
          <p:nvPr/>
        </p:nvSpPr>
        <p:spPr>
          <a:xfrm>
            <a:off x="7010400" y="44450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Độ nhạy ngưỡng lọc</a:t>
            </a:r>
            <a:endParaRPr lang="en-US" sz="1350" b="1">
              <a:solidFill>
                <a:srgbClr val="0B1F33"/>
              </a:solidFill>
              <a:latin typeface="Aptos" charset="0"/>
              <a:cs typeface="Aptos" charset="0"/>
            </a:endParaRPr>
          </a:p>
        </p:txBody>
      </p:sp>
      <p:sp>
        <p:nvSpPr>
          <p:cNvPr id="29" name="Text Box 28"/>
          <p:cNvSpPr txBox="1"/>
          <p:nvPr/>
        </p:nvSpPr>
        <p:spPr>
          <a:xfrm>
            <a:off x="6477000" y="49149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So sánh các ngưỡng frequency để thấy số event, session, item và long-tail bị thay đổi ra sao.</a:t>
            </a:r>
            <a:endParaRPr lang="en-US" sz="1200">
              <a:solidFill>
                <a:srgbClr val="172B4D"/>
              </a:solidFill>
              <a:latin typeface="Aptos" charset="0"/>
              <a:cs typeface="Aptos" charset="0"/>
            </a:endParaRPr>
          </a:p>
        </p:txBody>
      </p:sp>
      <p:sp>
        <p:nvSpPr>
          <p:cNvPr id="30" name="Rounded Rectangle 29"/>
          <p:cNvSpPr/>
          <p:nvPr/>
        </p:nvSpPr>
        <p:spPr>
          <a:xfrm>
            <a:off x="2476500" y="5816600"/>
            <a:ext cx="7239000" cy="4572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1" name="Text Box 30"/>
          <p:cNvSpPr txBox="1"/>
          <p:nvPr/>
        </p:nvSpPr>
        <p:spPr>
          <a:xfrm>
            <a:off x="2730500" y="5930900"/>
            <a:ext cx="6731000" cy="229870"/>
          </a:xfrm>
          <a:prstGeom prst="rect">
            <a:avLst/>
          </a:prstGeom>
          <a:noFill/>
        </p:spPr>
        <p:txBody>
          <a:bodyPr wrap="square" lIns="0" tIns="0" rIns="0" rtlCol="0" anchor="t">
            <a:spAutoFit/>
          </a:bodyPr>
          <a:p>
            <a:pPr algn="ctr"/>
            <a:r>
              <a:rPr lang="en-US" sz="1200" b="1">
                <a:solidFill>
                  <a:srgbClr val="0B1F33"/>
                </a:solidFill>
                <a:latin typeface="Aptos" charset="0"/>
                <a:cs typeface="Aptos" charset="0"/>
              </a:rPr>
              <a:t>Các slide tiếp theo lần lượt trình bày kết quả của sáu nhóm kiểm tra này.</a:t>
            </a:r>
            <a:endParaRPr lang="en-US" sz="1200" b="1">
              <a:solidFill>
                <a:srgbClr val="0B1F33"/>
              </a:solidFill>
              <a:latin typeface="Aptos" charset="0"/>
              <a:cs typeface="Aptos"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2000" cy="68580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Rectangle 2"/>
          <p:cNvSpPr/>
          <p:nvPr/>
        </p:nvSpPr>
        <p:spPr>
          <a:xfrm>
            <a:off x="0" y="0"/>
            <a:ext cx="177800" cy="6858000"/>
          </a:xfrm>
          <a:prstGeom prst="rect">
            <a:avLst/>
          </a:prstGeom>
          <a:solidFill>
            <a:srgbClr val="2F6B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ext Box 3"/>
          <p:cNvSpPr txBox="1"/>
          <p:nvPr/>
        </p:nvSpPr>
        <p:spPr>
          <a:xfrm>
            <a:off x="635000" y="355600"/>
            <a:ext cx="10922000" cy="437515"/>
          </a:xfrm>
          <a:prstGeom prst="rect">
            <a:avLst/>
          </a:prstGeom>
          <a:noFill/>
        </p:spPr>
        <p:txBody>
          <a:bodyPr wrap="square" lIns="0" tIns="0" rIns="0" rtlCol="0" anchor="t">
            <a:spAutoFit/>
          </a:bodyPr>
          <a:p>
            <a:pPr algn="l"/>
            <a:r>
              <a:rPr lang="en-US" sz="2550" b="1">
                <a:solidFill>
                  <a:srgbClr val="0B1F33"/>
                </a:solidFill>
                <a:latin typeface="Aptos" charset="0"/>
                <a:cs typeface="Aptos" charset="0"/>
              </a:rPr>
              <a:t>EDA xác nhận dữ liệu đủ sạch để tiếp tục</a:t>
            </a:r>
            <a:endParaRPr lang="en-US" sz="2550" b="1">
              <a:solidFill>
                <a:srgbClr val="0B1F33"/>
              </a:solidFill>
              <a:latin typeface="Aptos" charset="0"/>
              <a:cs typeface="Aptos" charset="0"/>
            </a:endParaRPr>
          </a:p>
        </p:txBody>
      </p:sp>
      <p:sp>
        <p:nvSpPr>
          <p:cNvPr id="5" name="Text Box 4"/>
          <p:cNvSpPr txBox="1"/>
          <p:nvPr/>
        </p:nvSpPr>
        <p:spPr>
          <a:xfrm>
            <a:off x="10515600" y="6477000"/>
            <a:ext cx="1016000" cy="207010"/>
          </a:xfrm>
          <a:prstGeom prst="rect">
            <a:avLst/>
          </a:prstGeom>
          <a:noFill/>
        </p:spPr>
        <p:txBody>
          <a:bodyPr wrap="square" lIns="0" tIns="0" rIns="0" rtlCol="0" anchor="t">
            <a:spAutoFit/>
          </a:bodyPr>
          <a:p>
            <a:pPr algn="r"/>
            <a:r>
              <a:rPr lang="en-US" sz="1050" b="1">
                <a:solidFill>
                  <a:srgbClr val="2F6BFF"/>
                </a:solidFill>
                <a:latin typeface="Aptos" charset="0"/>
                <a:cs typeface="Aptos" charset="0"/>
              </a:rPr>
              <a:t>08 / 25</a:t>
            </a:r>
            <a:endParaRPr lang="en-US" sz="1050" b="1">
              <a:solidFill>
                <a:srgbClr val="2F6BFF"/>
              </a:solidFill>
              <a:latin typeface="Aptos" charset="0"/>
              <a:cs typeface="Aptos" charset="0"/>
            </a:endParaRPr>
          </a:p>
        </p:txBody>
      </p:sp>
      <p:sp>
        <p:nvSpPr>
          <p:cNvPr id="6" name="Rounded Rectangle 5"/>
          <p:cNvSpPr/>
          <p:nvPr/>
        </p:nvSpPr>
        <p:spPr>
          <a:xfrm>
            <a:off x="635000" y="1219200"/>
            <a:ext cx="5334000" cy="19939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 name="Text Box 6"/>
          <p:cNvSpPr txBox="1"/>
          <p:nvPr/>
        </p:nvSpPr>
        <p:spPr>
          <a:xfrm>
            <a:off x="838200" y="1397000"/>
            <a:ext cx="533400" cy="306705"/>
          </a:xfrm>
          <a:prstGeom prst="rect">
            <a:avLst/>
          </a:prstGeom>
          <a:noFill/>
        </p:spPr>
        <p:txBody>
          <a:bodyPr wrap="square" lIns="0" tIns="0" rIns="0" rtlCol="0" anchor="t">
            <a:spAutoFit/>
          </a:bodyPr>
          <a:p>
            <a:pPr algn="l"/>
            <a:r>
              <a:rPr lang="en-US" sz="1700" b="1">
                <a:solidFill>
                  <a:srgbClr val="2F6BFF"/>
                </a:solidFill>
                <a:latin typeface="Aptos" charset="0"/>
                <a:cs typeface="Aptos" charset="0"/>
              </a:rPr>
              <a:t>01</a:t>
            </a:r>
            <a:endParaRPr lang="en-US" sz="1700" b="1">
              <a:solidFill>
                <a:srgbClr val="2F6BFF"/>
              </a:solidFill>
              <a:latin typeface="Aptos" charset="0"/>
              <a:cs typeface="Aptos" charset="0"/>
            </a:endParaRPr>
          </a:p>
        </p:txBody>
      </p:sp>
      <p:sp>
        <p:nvSpPr>
          <p:cNvPr id="8" name="Text Box 7"/>
          <p:cNvSpPr txBox="1"/>
          <p:nvPr/>
        </p:nvSpPr>
        <p:spPr>
          <a:xfrm>
            <a:off x="1422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Liên kết đầy đủ</a:t>
            </a:r>
            <a:endParaRPr lang="en-US" sz="1350" b="1">
              <a:solidFill>
                <a:srgbClr val="0B1F33"/>
              </a:solidFill>
              <a:latin typeface="Aptos" charset="0"/>
              <a:cs typeface="Aptos" charset="0"/>
            </a:endParaRPr>
          </a:p>
        </p:txBody>
      </p:sp>
      <p:sp>
        <p:nvSpPr>
          <p:cNvPr id="9" name="Text Box 8"/>
          <p:cNvSpPr txBox="1"/>
          <p:nvPr/>
        </p:nvSpPr>
        <p:spPr>
          <a:xfrm>
            <a:off x="889000" y="18796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Không item nào đã tương tác bị thiếu category hoặc product metadata. Ba SHA-256 được lưu lại để notebook 02 xác nhận đang dùng đúng phiên bản raw đã EDA.</a:t>
            </a:r>
            <a:endParaRPr lang="en-US" sz="1200">
              <a:solidFill>
                <a:srgbClr val="172B4D"/>
              </a:solidFill>
              <a:latin typeface="Aptos" charset="0"/>
              <a:cs typeface="Aptos" charset="0"/>
            </a:endParaRPr>
          </a:p>
        </p:txBody>
      </p:sp>
      <p:sp>
        <p:nvSpPr>
          <p:cNvPr id="10" name="Rounded Rectangle 9"/>
          <p:cNvSpPr/>
          <p:nvPr/>
        </p:nvSpPr>
        <p:spPr>
          <a:xfrm>
            <a:off x="6223000" y="1219200"/>
            <a:ext cx="5334000" cy="1993900"/>
          </a:xfrm>
          <a:prstGeom prst="roundRect">
            <a:avLst/>
          </a:prstGeom>
          <a:solidFill>
            <a:srgbClr val="E4F8F5"/>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Text Box 10"/>
          <p:cNvSpPr txBox="1"/>
          <p:nvPr/>
        </p:nvSpPr>
        <p:spPr>
          <a:xfrm>
            <a:off x="6426200" y="1397000"/>
            <a:ext cx="533400" cy="306705"/>
          </a:xfrm>
          <a:prstGeom prst="rect">
            <a:avLst/>
          </a:prstGeom>
          <a:noFill/>
        </p:spPr>
        <p:txBody>
          <a:bodyPr wrap="square" lIns="0" tIns="0" rIns="0" rtlCol="0" anchor="t">
            <a:spAutoFit/>
          </a:bodyPr>
          <a:p>
            <a:pPr algn="l"/>
            <a:r>
              <a:rPr lang="en-US" sz="1700" b="1">
                <a:solidFill>
                  <a:srgbClr val="16B3A3"/>
                </a:solidFill>
                <a:latin typeface="Aptos" charset="0"/>
                <a:cs typeface="Aptos" charset="0"/>
              </a:rPr>
              <a:t>02</a:t>
            </a:r>
            <a:endParaRPr lang="en-US" sz="1700" b="1">
              <a:solidFill>
                <a:srgbClr val="16B3A3"/>
              </a:solidFill>
              <a:latin typeface="Aptos" charset="0"/>
              <a:cs typeface="Aptos" charset="0"/>
            </a:endParaRPr>
          </a:p>
        </p:txBody>
      </p:sp>
      <p:sp>
        <p:nvSpPr>
          <p:cNvPr id="12" name="Text Box 11"/>
          <p:cNvSpPr txBox="1"/>
          <p:nvPr/>
        </p:nvSpPr>
        <p:spPr>
          <a:xfrm>
            <a:off x="7010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Không có lỗi khóa chính</a:t>
            </a:r>
            <a:endParaRPr lang="en-US" sz="1350" b="1">
              <a:solidFill>
                <a:srgbClr val="0B1F33"/>
              </a:solidFill>
              <a:latin typeface="Aptos" charset="0"/>
              <a:cs typeface="Aptos" charset="0"/>
            </a:endParaRPr>
          </a:p>
        </p:txBody>
      </p:sp>
      <p:sp>
        <p:nvSpPr>
          <p:cNvPr id="13" name="Text Box 12"/>
          <p:cNvSpPr txBox="1"/>
          <p:nvPr/>
        </p:nvSpPr>
        <p:spPr>
          <a:xfrm>
            <a:off x="6477000" y="18796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Không có dòng trùng hoàn toàn, không có event trùng khóa, không có itemId trùng trong hai bảng metadata và không có timeframe âm.</a:t>
            </a:r>
            <a:endParaRPr lang="en-US" sz="1200">
              <a:solidFill>
                <a:srgbClr val="172B4D"/>
              </a:solidFill>
              <a:latin typeface="Aptos" charset="0"/>
              <a:cs typeface="Aptos" charset="0"/>
            </a:endParaRPr>
          </a:p>
        </p:txBody>
      </p:sp>
      <p:sp>
        <p:nvSpPr>
          <p:cNvPr id="14" name="Rounded Rectangle 13"/>
          <p:cNvSpPr/>
          <p:nvPr/>
        </p:nvSpPr>
        <p:spPr>
          <a:xfrm>
            <a:off x="635000" y="3467100"/>
            <a:ext cx="5334000" cy="1993900"/>
          </a:xfrm>
          <a:prstGeom prst="roundRect">
            <a:avLst/>
          </a:prstGeom>
          <a:solidFill>
            <a:srgbClr val="FFF4E4"/>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Text Box 14"/>
          <p:cNvSpPr txBox="1"/>
          <p:nvPr/>
        </p:nvSpPr>
        <p:spPr>
          <a:xfrm>
            <a:off x="838200" y="3644900"/>
            <a:ext cx="533400" cy="306705"/>
          </a:xfrm>
          <a:prstGeom prst="rect">
            <a:avLst/>
          </a:prstGeom>
          <a:noFill/>
        </p:spPr>
        <p:txBody>
          <a:bodyPr wrap="square" lIns="0" tIns="0" rIns="0" rtlCol="0" anchor="t">
            <a:spAutoFit/>
          </a:bodyPr>
          <a:p>
            <a:pPr algn="l"/>
            <a:r>
              <a:rPr lang="en-US" sz="1700" b="1">
                <a:solidFill>
                  <a:srgbClr val="FF9F43"/>
                </a:solidFill>
                <a:latin typeface="Aptos" charset="0"/>
                <a:cs typeface="Aptos" charset="0"/>
              </a:rPr>
              <a:t>03</a:t>
            </a:r>
            <a:endParaRPr lang="en-US" sz="1700" b="1">
              <a:solidFill>
                <a:srgbClr val="FF9F43"/>
              </a:solidFill>
              <a:latin typeface="Aptos" charset="0"/>
              <a:cs typeface="Aptos" charset="0"/>
            </a:endParaRPr>
          </a:p>
        </p:txBody>
      </p:sp>
      <p:sp>
        <p:nvSpPr>
          <p:cNvPr id="16" name="Text Box 15"/>
          <p:cNvSpPr txBox="1"/>
          <p:nvPr/>
        </p:nvSpPr>
        <p:spPr>
          <a:xfrm>
            <a:off x="1422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Ngày và catalog hợp lệ</a:t>
            </a:r>
            <a:endParaRPr lang="en-US" sz="1350" b="1">
              <a:solidFill>
                <a:srgbClr val="0B1F33"/>
              </a:solidFill>
              <a:latin typeface="Aptos" charset="0"/>
              <a:cs typeface="Aptos" charset="0"/>
            </a:endParaRPr>
          </a:p>
        </p:txBody>
      </p:sp>
      <p:sp>
        <p:nvSpPr>
          <p:cNvPr id="17" name="Text Box 16"/>
          <p:cNvSpPr txBox="1"/>
          <p:nvPr/>
        </p:nvSpPr>
        <p:spPr>
          <a:xfrm>
            <a:off x="889000" y="41275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Tất cả eventdate đều parse được. Có 61.054 item trong metadata chưa từng xuất hiện trong interaction; đây là catalog chưa hoạt động, không phải lỗi liên kết.</a:t>
            </a:r>
            <a:endParaRPr lang="en-US" sz="1200">
              <a:solidFill>
                <a:srgbClr val="172B4D"/>
              </a:solidFill>
              <a:latin typeface="Aptos" charset="0"/>
              <a:cs typeface="Aptos" charset="0"/>
            </a:endParaRPr>
          </a:p>
        </p:txBody>
      </p:sp>
      <p:sp>
        <p:nvSpPr>
          <p:cNvPr id="18" name="Rounded Rectangle 17"/>
          <p:cNvSpPr/>
          <p:nvPr/>
        </p:nvSpPr>
        <p:spPr>
          <a:xfrm>
            <a:off x="6223000" y="3467100"/>
            <a:ext cx="5334000" cy="1993900"/>
          </a:xfrm>
          <a:prstGeom prst="roundRect">
            <a:avLst/>
          </a:prstGeom>
          <a:solidFill>
            <a:srgbClr val="F4F7FB"/>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9" name="Text Box 18"/>
          <p:cNvSpPr txBox="1"/>
          <p:nvPr/>
        </p:nvSpPr>
        <p:spPr>
          <a:xfrm>
            <a:off x="6426200" y="3644900"/>
            <a:ext cx="533400" cy="306705"/>
          </a:xfrm>
          <a:prstGeom prst="rect">
            <a:avLst/>
          </a:prstGeom>
          <a:noFill/>
        </p:spPr>
        <p:txBody>
          <a:bodyPr wrap="square" lIns="0" tIns="0" rIns="0" rtlCol="0" anchor="t">
            <a:spAutoFit/>
          </a:bodyPr>
          <a:p>
            <a:pPr algn="l"/>
            <a:r>
              <a:rPr lang="en-US" sz="1700" b="1">
                <a:solidFill>
                  <a:srgbClr val="E45756"/>
                </a:solidFill>
                <a:latin typeface="Aptos" charset="0"/>
                <a:cs typeface="Aptos" charset="0"/>
              </a:rPr>
              <a:t>04</a:t>
            </a:r>
            <a:endParaRPr lang="en-US" sz="1700" b="1">
              <a:solidFill>
                <a:srgbClr val="E45756"/>
              </a:solidFill>
              <a:latin typeface="Aptos" charset="0"/>
              <a:cs typeface="Aptos" charset="0"/>
            </a:endParaRPr>
          </a:p>
        </p:txBody>
      </p:sp>
      <p:sp>
        <p:nvSpPr>
          <p:cNvPr id="20" name="Text Box 19"/>
          <p:cNvSpPr txBox="1"/>
          <p:nvPr/>
        </p:nvSpPr>
        <p:spPr>
          <a:xfrm>
            <a:off x="7010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UserId không dùng</a:t>
            </a:r>
            <a:endParaRPr lang="en-US" sz="1350" b="1">
              <a:solidFill>
                <a:srgbClr val="0B1F33"/>
              </a:solidFill>
              <a:latin typeface="Aptos" charset="0"/>
              <a:cs typeface="Aptos" charset="0"/>
            </a:endParaRPr>
          </a:p>
        </p:txBody>
      </p:sp>
      <p:sp>
        <p:nvSpPr>
          <p:cNvPr id="21" name="Text Box 20"/>
          <p:cNvSpPr txBox="1"/>
          <p:nvPr/>
        </p:nvSpPr>
        <p:spPr>
          <a:xfrm>
            <a:off x="6477000" y="41275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UserId thiếu 69,81%, nhưng không cản trở SBR vì đơn vị học là session. Pipeline không tự ý điền userId và không mở rộng sang mô hình hóa người dùng.</a:t>
            </a:r>
            <a:endParaRPr lang="en-US" sz="1200">
              <a:solidFill>
                <a:srgbClr val="172B4D"/>
              </a:solidFill>
              <a:latin typeface="Aptos" charset="0"/>
              <a:cs typeface="Aptos" charset="0"/>
            </a:endParaRPr>
          </a:p>
        </p:txBody>
      </p:sp>
      <p:sp>
        <p:nvSpPr>
          <p:cNvPr id="22" name="Rounded Rectangle 21"/>
          <p:cNvSpPr/>
          <p:nvPr/>
        </p:nvSpPr>
        <p:spPr>
          <a:xfrm>
            <a:off x="2413000" y="5524500"/>
            <a:ext cx="7366000" cy="571500"/>
          </a:xfrm>
          <a:prstGeom prst="roundRect">
            <a:avLst/>
          </a:prstGeom>
          <a:solidFill>
            <a:srgbClr val="E4F8F5"/>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3" name="Text Box 22"/>
          <p:cNvSpPr txBox="1"/>
          <p:nvPr/>
        </p:nvSpPr>
        <p:spPr>
          <a:xfrm>
            <a:off x="2667000" y="5689600"/>
            <a:ext cx="6858000" cy="214630"/>
          </a:xfrm>
          <a:prstGeom prst="rect">
            <a:avLst/>
          </a:prstGeom>
          <a:noFill/>
        </p:spPr>
        <p:txBody>
          <a:bodyPr wrap="square" lIns="0" tIns="0" rIns="0" rtlCol="0" anchor="t">
            <a:spAutoFit/>
          </a:bodyPr>
          <a:p>
            <a:pPr algn="ctr"/>
            <a:r>
              <a:rPr lang="en-US" sz="1100" b="1">
                <a:solidFill>
                  <a:srgbClr val="16B3A3"/>
                </a:solidFill>
                <a:latin typeface="Aptos" charset="0"/>
                <a:cs typeface="Aptos" charset="0"/>
              </a:rPr>
              <a:t>Kết luận EDA chất lượng: dữ liệu đủ tin cậy, nhưng vẫn phải sửa thứ tự click.</a:t>
            </a:r>
            <a:endParaRPr lang="en-US" sz="1100" b="1">
              <a:solidFill>
                <a:srgbClr val="16B3A3"/>
              </a:solidFill>
              <a:latin typeface="Aptos" charset="0"/>
              <a:cs typeface="Aptos"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2000" cy="68580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Rectangle 2"/>
          <p:cNvSpPr/>
          <p:nvPr/>
        </p:nvSpPr>
        <p:spPr>
          <a:xfrm>
            <a:off x="0" y="0"/>
            <a:ext cx="177800" cy="6858000"/>
          </a:xfrm>
          <a:prstGeom prst="rect">
            <a:avLst/>
          </a:prstGeom>
          <a:solidFill>
            <a:srgbClr val="2F6B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ext Box 3"/>
          <p:cNvSpPr txBox="1"/>
          <p:nvPr/>
        </p:nvSpPr>
        <p:spPr>
          <a:xfrm>
            <a:off x="635000" y="355600"/>
            <a:ext cx="10922000" cy="437515"/>
          </a:xfrm>
          <a:prstGeom prst="rect">
            <a:avLst/>
          </a:prstGeom>
          <a:noFill/>
        </p:spPr>
        <p:txBody>
          <a:bodyPr wrap="square" lIns="0" tIns="0" rIns="0" rtlCol="0" anchor="t">
            <a:spAutoFit/>
          </a:bodyPr>
          <a:p>
            <a:pPr algn="l"/>
            <a:r>
              <a:rPr lang="en-US" sz="2550" b="1">
                <a:solidFill>
                  <a:srgbClr val="0B1F33"/>
                </a:solidFill>
                <a:latin typeface="Aptos" charset="0"/>
                <a:cs typeface="Aptos" charset="0"/>
              </a:rPr>
              <a:t>Vấn đề nghiêm trọng nhất là thứ tự event trong session</a:t>
            </a:r>
            <a:endParaRPr lang="en-US" sz="2550" b="1">
              <a:solidFill>
                <a:srgbClr val="0B1F33"/>
              </a:solidFill>
              <a:latin typeface="Aptos" charset="0"/>
              <a:cs typeface="Aptos" charset="0"/>
            </a:endParaRPr>
          </a:p>
        </p:txBody>
      </p:sp>
      <p:sp>
        <p:nvSpPr>
          <p:cNvPr id="5" name="Text Box 4"/>
          <p:cNvSpPr txBox="1"/>
          <p:nvPr/>
        </p:nvSpPr>
        <p:spPr>
          <a:xfrm>
            <a:off x="10515600" y="6477000"/>
            <a:ext cx="1016000" cy="207010"/>
          </a:xfrm>
          <a:prstGeom prst="rect">
            <a:avLst/>
          </a:prstGeom>
          <a:noFill/>
        </p:spPr>
        <p:txBody>
          <a:bodyPr wrap="square" lIns="0" tIns="0" rIns="0" rtlCol="0" anchor="t">
            <a:spAutoFit/>
          </a:bodyPr>
          <a:p>
            <a:pPr algn="r"/>
            <a:r>
              <a:rPr lang="en-US" sz="1050" b="1">
                <a:solidFill>
                  <a:srgbClr val="2F6BFF"/>
                </a:solidFill>
                <a:latin typeface="Aptos" charset="0"/>
                <a:cs typeface="Aptos" charset="0"/>
              </a:rPr>
              <a:t>09 / 25</a:t>
            </a:r>
            <a:endParaRPr lang="en-US" sz="1050" b="1">
              <a:solidFill>
                <a:srgbClr val="2F6BFF"/>
              </a:solidFill>
              <a:latin typeface="Aptos" charset="0"/>
              <a:cs typeface="Aptos" charset="0"/>
            </a:endParaRPr>
          </a:p>
        </p:txBody>
      </p:sp>
      <p:sp>
        <p:nvSpPr>
          <p:cNvPr id="6" name="Rounded Rectangle 5"/>
          <p:cNvSpPr/>
          <p:nvPr/>
        </p:nvSpPr>
        <p:spPr>
          <a:xfrm>
            <a:off x="635000" y="1219200"/>
            <a:ext cx="5334000" cy="19939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 name="Text Box 6"/>
          <p:cNvSpPr txBox="1"/>
          <p:nvPr/>
        </p:nvSpPr>
        <p:spPr>
          <a:xfrm>
            <a:off x="838200" y="1397000"/>
            <a:ext cx="533400" cy="306705"/>
          </a:xfrm>
          <a:prstGeom prst="rect">
            <a:avLst/>
          </a:prstGeom>
          <a:noFill/>
        </p:spPr>
        <p:txBody>
          <a:bodyPr wrap="square" lIns="0" tIns="0" rIns="0" rtlCol="0" anchor="t">
            <a:spAutoFit/>
          </a:bodyPr>
          <a:p>
            <a:pPr algn="l"/>
            <a:r>
              <a:rPr lang="en-US" sz="1700" b="1">
                <a:solidFill>
                  <a:srgbClr val="2F6BFF"/>
                </a:solidFill>
                <a:latin typeface="Aptos" charset="0"/>
                <a:cs typeface="Aptos" charset="0"/>
              </a:rPr>
              <a:t>01</a:t>
            </a:r>
            <a:endParaRPr lang="en-US" sz="1700" b="1">
              <a:solidFill>
                <a:srgbClr val="2F6BFF"/>
              </a:solidFill>
              <a:latin typeface="Aptos" charset="0"/>
              <a:cs typeface="Aptos" charset="0"/>
            </a:endParaRPr>
          </a:p>
        </p:txBody>
      </p:sp>
      <p:sp>
        <p:nvSpPr>
          <p:cNvPr id="8" name="Text Box 7"/>
          <p:cNvSpPr txBox="1"/>
          <p:nvPr/>
        </p:nvSpPr>
        <p:spPr>
          <a:xfrm>
            <a:off x="1422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58,21% session sai thứ tự raw</a:t>
            </a:r>
            <a:endParaRPr lang="en-US" sz="1350" b="1">
              <a:solidFill>
                <a:srgbClr val="0B1F33"/>
              </a:solidFill>
              <a:latin typeface="Aptos" charset="0"/>
              <a:cs typeface="Aptos" charset="0"/>
            </a:endParaRPr>
          </a:p>
        </p:txBody>
      </p:sp>
      <p:sp>
        <p:nvSpPr>
          <p:cNvPr id="9" name="Text Box 8"/>
          <p:cNvSpPr txBox="1"/>
          <p:nvPr/>
        </p:nvSpPr>
        <p:spPr>
          <a:xfrm>
            <a:off x="889000" y="18796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Có 180.643 session không tăng theo timeframe nếu giữ nguyên thứ tự dòng trong CSV. Vì vậy không thể dùng row order làm thứ tự chuỗi chính.</a:t>
            </a:r>
            <a:endParaRPr lang="en-US" sz="1200">
              <a:solidFill>
                <a:srgbClr val="172B4D"/>
              </a:solidFill>
              <a:latin typeface="Aptos" charset="0"/>
              <a:cs typeface="Aptos" charset="0"/>
            </a:endParaRPr>
          </a:p>
        </p:txBody>
      </p:sp>
      <p:sp>
        <p:nvSpPr>
          <p:cNvPr id="10" name="Rounded Rectangle 9"/>
          <p:cNvSpPr/>
          <p:nvPr/>
        </p:nvSpPr>
        <p:spPr>
          <a:xfrm>
            <a:off x="6223000" y="1219200"/>
            <a:ext cx="5334000" cy="1993900"/>
          </a:xfrm>
          <a:prstGeom prst="roundRect">
            <a:avLst/>
          </a:prstGeom>
          <a:solidFill>
            <a:srgbClr val="E4F8F5"/>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Text Box 10"/>
          <p:cNvSpPr txBox="1"/>
          <p:nvPr/>
        </p:nvSpPr>
        <p:spPr>
          <a:xfrm>
            <a:off x="6426200" y="1397000"/>
            <a:ext cx="533400" cy="306705"/>
          </a:xfrm>
          <a:prstGeom prst="rect">
            <a:avLst/>
          </a:prstGeom>
          <a:noFill/>
        </p:spPr>
        <p:txBody>
          <a:bodyPr wrap="square" lIns="0" tIns="0" rIns="0" rtlCol="0" anchor="t">
            <a:spAutoFit/>
          </a:bodyPr>
          <a:p>
            <a:pPr algn="l"/>
            <a:r>
              <a:rPr lang="en-US" sz="1700" b="1">
                <a:solidFill>
                  <a:srgbClr val="16B3A3"/>
                </a:solidFill>
                <a:latin typeface="Aptos" charset="0"/>
                <a:cs typeface="Aptos" charset="0"/>
              </a:rPr>
              <a:t>02</a:t>
            </a:r>
            <a:endParaRPr lang="en-US" sz="1700" b="1">
              <a:solidFill>
                <a:srgbClr val="16B3A3"/>
              </a:solidFill>
              <a:latin typeface="Aptos" charset="0"/>
              <a:cs typeface="Aptos" charset="0"/>
            </a:endParaRPr>
          </a:p>
        </p:txBody>
      </p:sp>
      <p:sp>
        <p:nvSpPr>
          <p:cNvPr id="12" name="Text Box 11"/>
          <p:cNvSpPr txBox="1"/>
          <p:nvPr/>
        </p:nvSpPr>
        <p:spPr>
          <a:xfrm>
            <a:off x="7010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Quy tắc sắp ổn định</a:t>
            </a:r>
            <a:endParaRPr lang="en-US" sz="1350" b="1">
              <a:solidFill>
                <a:srgbClr val="0B1F33"/>
              </a:solidFill>
              <a:latin typeface="Aptos" charset="0"/>
              <a:cs typeface="Aptos" charset="0"/>
            </a:endParaRPr>
          </a:p>
        </p:txBody>
      </p:sp>
      <p:sp>
        <p:nvSpPr>
          <p:cNvPr id="13" name="Text Box 12"/>
          <p:cNvSpPr txBox="1"/>
          <p:nvPr/>
        </p:nvSpPr>
        <p:spPr>
          <a:xfrm>
            <a:off x="6477000" y="18796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Event được sắp theo sessionId → timeframe → row_order. Timeframe xác định thứ tự trong session; row_order chỉ dùng để phá hòa khi thời gian bằng nhau.</a:t>
            </a:r>
            <a:endParaRPr lang="en-US" sz="1200">
              <a:solidFill>
                <a:srgbClr val="172B4D"/>
              </a:solidFill>
              <a:latin typeface="Aptos" charset="0"/>
              <a:cs typeface="Aptos" charset="0"/>
            </a:endParaRPr>
          </a:p>
        </p:txBody>
      </p:sp>
      <p:sp>
        <p:nvSpPr>
          <p:cNvPr id="14" name="Rounded Rectangle 13"/>
          <p:cNvSpPr/>
          <p:nvPr/>
        </p:nvSpPr>
        <p:spPr>
          <a:xfrm>
            <a:off x="635000" y="3467100"/>
            <a:ext cx="5334000" cy="1993900"/>
          </a:xfrm>
          <a:prstGeom prst="roundRect">
            <a:avLst/>
          </a:prstGeom>
          <a:solidFill>
            <a:srgbClr val="FFF4E4"/>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Text Box 14"/>
          <p:cNvSpPr txBox="1"/>
          <p:nvPr/>
        </p:nvSpPr>
        <p:spPr>
          <a:xfrm>
            <a:off x="838200" y="3644900"/>
            <a:ext cx="533400" cy="306705"/>
          </a:xfrm>
          <a:prstGeom prst="rect">
            <a:avLst/>
          </a:prstGeom>
          <a:noFill/>
        </p:spPr>
        <p:txBody>
          <a:bodyPr wrap="square" lIns="0" tIns="0" rIns="0" rtlCol="0" anchor="t">
            <a:spAutoFit/>
          </a:bodyPr>
          <a:p>
            <a:pPr algn="l"/>
            <a:r>
              <a:rPr lang="en-US" sz="1700" b="1">
                <a:solidFill>
                  <a:srgbClr val="FF9F43"/>
                </a:solidFill>
                <a:latin typeface="Aptos" charset="0"/>
                <a:cs typeface="Aptos" charset="0"/>
              </a:rPr>
              <a:t>03</a:t>
            </a:r>
            <a:endParaRPr lang="en-US" sz="1700" b="1">
              <a:solidFill>
                <a:srgbClr val="FF9F43"/>
              </a:solidFill>
              <a:latin typeface="Aptos" charset="0"/>
              <a:cs typeface="Aptos" charset="0"/>
            </a:endParaRPr>
          </a:p>
        </p:txBody>
      </p:sp>
      <p:sp>
        <p:nvSpPr>
          <p:cNvPr id="16" name="Text Box 15"/>
          <p:cNvSpPr txBox="1"/>
          <p:nvPr/>
        </p:nvSpPr>
        <p:spPr>
          <a:xfrm>
            <a:off x="1422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Bốn nhóm trùng timeframe</a:t>
            </a:r>
            <a:endParaRPr lang="en-US" sz="1350" b="1">
              <a:solidFill>
                <a:srgbClr val="0B1F33"/>
              </a:solidFill>
              <a:latin typeface="Aptos" charset="0"/>
              <a:cs typeface="Aptos" charset="0"/>
            </a:endParaRPr>
          </a:p>
        </p:txBody>
      </p:sp>
      <p:sp>
        <p:nvSpPr>
          <p:cNvPr id="17" name="Text Box 16"/>
          <p:cNvSpPr txBox="1"/>
          <p:nvPr/>
        </p:nvSpPr>
        <p:spPr>
          <a:xfrm>
            <a:off x="889000" y="41275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Các nhóm trùng gồm hai item khác nhau tại cùng một thời điểm. Không có căn cứ để xóa một event, nên pipeline giữ cả hai và dùng stable sort.</a:t>
            </a:r>
            <a:endParaRPr lang="en-US" sz="1200">
              <a:solidFill>
                <a:srgbClr val="172B4D"/>
              </a:solidFill>
              <a:latin typeface="Aptos" charset="0"/>
              <a:cs typeface="Aptos" charset="0"/>
            </a:endParaRPr>
          </a:p>
        </p:txBody>
      </p:sp>
      <p:sp>
        <p:nvSpPr>
          <p:cNvPr id="18" name="Rounded Rectangle 17"/>
          <p:cNvSpPr/>
          <p:nvPr/>
        </p:nvSpPr>
        <p:spPr>
          <a:xfrm>
            <a:off x="6223000" y="3467100"/>
            <a:ext cx="5334000" cy="1993900"/>
          </a:xfrm>
          <a:prstGeom prst="roundRect">
            <a:avLst/>
          </a:prstGeom>
          <a:solidFill>
            <a:srgbClr val="F4F7FB"/>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9" name="Text Box 18"/>
          <p:cNvSpPr txBox="1"/>
          <p:nvPr/>
        </p:nvSpPr>
        <p:spPr>
          <a:xfrm>
            <a:off x="6426200" y="3644900"/>
            <a:ext cx="533400" cy="306705"/>
          </a:xfrm>
          <a:prstGeom prst="rect">
            <a:avLst/>
          </a:prstGeom>
          <a:noFill/>
        </p:spPr>
        <p:txBody>
          <a:bodyPr wrap="square" lIns="0" tIns="0" rIns="0" rtlCol="0" anchor="t">
            <a:spAutoFit/>
          </a:bodyPr>
          <a:p>
            <a:pPr algn="l"/>
            <a:r>
              <a:rPr lang="en-US" sz="1700" b="1">
                <a:solidFill>
                  <a:srgbClr val="E45756"/>
                </a:solidFill>
                <a:latin typeface="Aptos" charset="0"/>
                <a:cs typeface="Aptos" charset="0"/>
              </a:rPr>
              <a:t>04</a:t>
            </a:r>
            <a:endParaRPr lang="en-US" sz="1700" b="1">
              <a:solidFill>
                <a:srgbClr val="E45756"/>
              </a:solidFill>
              <a:latin typeface="Aptos" charset="0"/>
              <a:cs typeface="Aptos" charset="0"/>
            </a:endParaRPr>
          </a:p>
        </p:txBody>
      </p:sp>
      <p:sp>
        <p:nvSpPr>
          <p:cNvPr id="20" name="Text Box 19"/>
          <p:cNvSpPr txBox="1"/>
          <p:nvPr/>
        </p:nvSpPr>
        <p:spPr>
          <a:xfrm>
            <a:off x="7010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260 session qua nửa đêm</a:t>
            </a:r>
            <a:endParaRPr lang="en-US" sz="1350" b="1">
              <a:solidFill>
                <a:srgbClr val="0B1F33"/>
              </a:solidFill>
              <a:latin typeface="Aptos" charset="0"/>
              <a:cs typeface="Aptos" charset="0"/>
            </a:endParaRPr>
          </a:p>
        </p:txBody>
      </p:sp>
      <p:sp>
        <p:nvSpPr>
          <p:cNvPr id="21" name="Text Box 20"/>
          <p:cNvSpPr txBox="1"/>
          <p:nvPr/>
        </p:nvSpPr>
        <p:spPr>
          <a:xfrm>
            <a:off x="6477000" y="41275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Các session này kéo dài tối đa khoảng 19 phút 57 giây và chỉ đi qua hai ngày liên tiếp. Pipeline giữ nguyên session và chia tập theo ngày event cuối.</a:t>
            </a:r>
            <a:endParaRPr lang="en-US" sz="1200">
              <a:solidFill>
                <a:srgbClr val="172B4D"/>
              </a:solidFill>
              <a:latin typeface="Aptos" charset="0"/>
              <a:cs typeface="Aptos" charset="0"/>
            </a:endParaRPr>
          </a:p>
        </p:txBody>
      </p:sp>
      <p:sp>
        <p:nvSpPr>
          <p:cNvPr id="22" name="Rounded Rectangle 21"/>
          <p:cNvSpPr/>
          <p:nvPr/>
        </p:nvSpPr>
        <p:spPr>
          <a:xfrm>
            <a:off x="2286000" y="5524500"/>
            <a:ext cx="7620000" cy="571500"/>
          </a:xfrm>
          <a:prstGeom prst="roundRect">
            <a:avLst/>
          </a:prstGeom>
          <a:solidFill>
            <a:srgbClr val="0B1F33"/>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3" name="Text Box 22"/>
          <p:cNvSpPr txBox="1"/>
          <p:nvPr/>
        </p:nvSpPr>
        <p:spPr>
          <a:xfrm>
            <a:off x="2540000" y="5689600"/>
            <a:ext cx="7112000" cy="214630"/>
          </a:xfrm>
          <a:prstGeom prst="rect">
            <a:avLst/>
          </a:prstGeom>
          <a:noFill/>
        </p:spPr>
        <p:txBody>
          <a:bodyPr wrap="square" lIns="0" tIns="0" rIns="0" rtlCol="0" anchor="t">
            <a:spAutoFit/>
          </a:bodyPr>
          <a:p>
            <a:pPr algn="ctr"/>
            <a:r>
              <a:rPr lang="en-US" sz="1100" b="1">
                <a:solidFill>
                  <a:srgbClr val="FFFFFF"/>
                </a:solidFill>
                <a:latin typeface="Aptos" charset="0"/>
                <a:cs typeface="Aptos" charset="0"/>
              </a:rPr>
              <a:t>Quyết định: sửa thứ tự bên trong session, nhưng không chia nhỏ session theo ngày.</a:t>
            </a:r>
            <a:endParaRPr lang="en-US" sz="1100" b="1">
              <a:solidFill>
                <a:srgbClr val="FFFFFF"/>
              </a:solidFill>
              <a:latin typeface="Aptos" charset="0"/>
              <a:cs typeface="Aptos"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2000" cy="68580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Rectangle 2"/>
          <p:cNvSpPr/>
          <p:nvPr/>
        </p:nvSpPr>
        <p:spPr>
          <a:xfrm>
            <a:off x="0" y="0"/>
            <a:ext cx="177800" cy="6858000"/>
          </a:xfrm>
          <a:prstGeom prst="rect">
            <a:avLst/>
          </a:prstGeom>
          <a:solidFill>
            <a:srgbClr val="2F6B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ext Box 3"/>
          <p:cNvSpPr txBox="1"/>
          <p:nvPr/>
        </p:nvSpPr>
        <p:spPr>
          <a:xfrm>
            <a:off x="635000" y="355600"/>
            <a:ext cx="10922000" cy="437515"/>
          </a:xfrm>
          <a:prstGeom prst="rect">
            <a:avLst/>
          </a:prstGeom>
          <a:noFill/>
        </p:spPr>
        <p:txBody>
          <a:bodyPr wrap="square" lIns="0" tIns="0" rIns="0" rtlCol="0" anchor="t">
            <a:spAutoFit/>
          </a:bodyPr>
          <a:p>
            <a:pPr algn="l"/>
            <a:r>
              <a:rPr lang="en-US" sz="2550" b="1">
                <a:solidFill>
                  <a:srgbClr val="0B1F33"/>
                </a:solidFill>
                <a:latin typeface="Aptos" charset="0"/>
                <a:cs typeface="Aptos" charset="0"/>
              </a:rPr>
              <a:t>Biểu đồ 1: phân bố độ dài session</a:t>
            </a:r>
            <a:endParaRPr lang="en-US" sz="2550" b="1">
              <a:solidFill>
                <a:srgbClr val="0B1F33"/>
              </a:solidFill>
              <a:latin typeface="Aptos" charset="0"/>
              <a:cs typeface="Aptos" charset="0"/>
            </a:endParaRPr>
          </a:p>
        </p:txBody>
      </p:sp>
      <p:sp>
        <p:nvSpPr>
          <p:cNvPr id="5" name="Text Box 4"/>
          <p:cNvSpPr txBox="1"/>
          <p:nvPr/>
        </p:nvSpPr>
        <p:spPr>
          <a:xfrm>
            <a:off x="10515600" y="6477000"/>
            <a:ext cx="1016000" cy="207010"/>
          </a:xfrm>
          <a:prstGeom prst="rect">
            <a:avLst/>
          </a:prstGeom>
          <a:noFill/>
        </p:spPr>
        <p:txBody>
          <a:bodyPr wrap="square" lIns="0" tIns="0" rIns="0" rtlCol="0" anchor="t">
            <a:spAutoFit/>
          </a:bodyPr>
          <a:p>
            <a:pPr algn="r"/>
            <a:r>
              <a:rPr lang="en-US" sz="1050" b="1">
                <a:solidFill>
                  <a:srgbClr val="2F6BFF"/>
                </a:solidFill>
                <a:latin typeface="Aptos" charset="0"/>
                <a:cs typeface="Aptos" charset="0"/>
              </a:rPr>
              <a:t>10 / 25</a:t>
            </a:r>
            <a:endParaRPr lang="en-US" sz="1050" b="1">
              <a:solidFill>
                <a:srgbClr val="2F6BFF"/>
              </a:solidFill>
              <a:latin typeface="Aptos" charset="0"/>
              <a:cs typeface="Aptos" charset="0"/>
            </a:endParaRPr>
          </a:p>
        </p:txBody>
      </p:sp>
      <p:pic>
        <p:nvPicPr>
          <p:cNvPr id="6" name="Picture 5" descr="eda_session_length_histogram_ecdf"/>
          <p:cNvPicPr>
            <a:picLocks noChangeAspect="1"/>
          </p:cNvPicPr>
          <p:nvPr/>
        </p:nvPicPr>
        <p:blipFill>
          <a:blip r:embed="rId1"/>
          <a:stretch>
            <a:fillRect/>
          </a:stretch>
        </p:blipFill>
        <p:spPr>
          <a:xfrm>
            <a:off x="27420" y="1368660"/>
            <a:ext cx="12137159" cy="423497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2000" cy="68580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Rectangle 2"/>
          <p:cNvSpPr/>
          <p:nvPr/>
        </p:nvSpPr>
        <p:spPr>
          <a:xfrm>
            <a:off x="0" y="0"/>
            <a:ext cx="177800" cy="6858000"/>
          </a:xfrm>
          <a:prstGeom prst="rect">
            <a:avLst/>
          </a:prstGeom>
          <a:solidFill>
            <a:srgbClr val="2F6B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ext Box 3"/>
          <p:cNvSpPr txBox="1"/>
          <p:nvPr/>
        </p:nvSpPr>
        <p:spPr>
          <a:xfrm>
            <a:off x="635000" y="355600"/>
            <a:ext cx="10922000" cy="437515"/>
          </a:xfrm>
          <a:prstGeom prst="rect">
            <a:avLst/>
          </a:prstGeom>
          <a:noFill/>
        </p:spPr>
        <p:txBody>
          <a:bodyPr wrap="square" lIns="0" tIns="0" rIns="0" rtlCol="0" anchor="t">
            <a:spAutoFit/>
          </a:bodyPr>
          <a:p>
            <a:pPr algn="l"/>
            <a:r>
              <a:rPr lang="en-US" sz="2550" b="1">
                <a:solidFill>
                  <a:srgbClr val="0B1F33"/>
                </a:solidFill>
                <a:latin typeface="Aptos" charset="0"/>
                <a:cs typeface="Aptos" charset="0"/>
              </a:rPr>
              <a:t>Biểu đồ độ dài session cho biết điều gì?</a:t>
            </a:r>
            <a:endParaRPr lang="en-US" sz="2550" b="1">
              <a:solidFill>
                <a:srgbClr val="0B1F33"/>
              </a:solidFill>
              <a:latin typeface="Aptos" charset="0"/>
              <a:cs typeface="Aptos" charset="0"/>
            </a:endParaRPr>
          </a:p>
        </p:txBody>
      </p:sp>
      <p:sp>
        <p:nvSpPr>
          <p:cNvPr id="5" name="Text Box 4"/>
          <p:cNvSpPr txBox="1"/>
          <p:nvPr/>
        </p:nvSpPr>
        <p:spPr>
          <a:xfrm>
            <a:off x="10515600" y="6477000"/>
            <a:ext cx="1016000" cy="207010"/>
          </a:xfrm>
          <a:prstGeom prst="rect">
            <a:avLst/>
          </a:prstGeom>
          <a:noFill/>
        </p:spPr>
        <p:txBody>
          <a:bodyPr wrap="square" lIns="0" tIns="0" rIns="0" rtlCol="0" anchor="t">
            <a:spAutoFit/>
          </a:bodyPr>
          <a:p>
            <a:pPr algn="r"/>
            <a:r>
              <a:rPr lang="en-US" sz="1050" b="1">
                <a:solidFill>
                  <a:srgbClr val="2F6BFF"/>
                </a:solidFill>
                <a:latin typeface="Aptos" charset="0"/>
                <a:cs typeface="Aptos" charset="0"/>
              </a:rPr>
              <a:t>11 / 25</a:t>
            </a:r>
            <a:endParaRPr lang="en-US" sz="1050" b="1">
              <a:solidFill>
                <a:srgbClr val="2F6BFF"/>
              </a:solidFill>
              <a:latin typeface="Aptos" charset="0"/>
              <a:cs typeface="Aptos" charset="0"/>
            </a:endParaRPr>
          </a:p>
        </p:txBody>
      </p:sp>
      <p:sp>
        <p:nvSpPr>
          <p:cNvPr id="6" name="Rounded Rectangle 5"/>
          <p:cNvSpPr/>
          <p:nvPr/>
        </p:nvSpPr>
        <p:spPr>
          <a:xfrm>
            <a:off x="635000" y="1219200"/>
            <a:ext cx="5334000" cy="19939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 name="Text Box 6"/>
          <p:cNvSpPr txBox="1"/>
          <p:nvPr/>
        </p:nvSpPr>
        <p:spPr>
          <a:xfrm>
            <a:off x="838200" y="1397000"/>
            <a:ext cx="533400" cy="306705"/>
          </a:xfrm>
          <a:prstGeom prst="rect">
            <a:avLst/>
          </a:prstGeom>
          <a:noFill/>
        </p:spPr>
        <p:txBody>
          <a:bodyPr wrap="square" lIns="0" tIns="0" rIns="0" rtlCol="0" anchor="t">
            <a:spAutoFit/>
          </a:bodyPr>
          <a:p>
            <a:pPr algn="l"/>
            <a:r>
              <a:rPr lang="en-US" sz="1700" b="1">
                <a:solidFill>
                  <a:srgbClr val="2F6BFF"/>
                </a:solidFill>
                <a:latin typeface="Aptos" charset="0"/>
                <a:cs typeface="Aptos" charset="0"/>
              </a:rPr>
              <a:t>01</a:t>
            </a:r>
            <a:endParaRPr lang="en-US" sz="1700" b="1">
              <a:solidFill>
                <a:srgbClr val="2F6BFF"/>
              </a:solidFill>
              <a:latin typeface="Aptos" charset="0"/>
              <a:cs typeface="Aptos" charset="0"/>
            </a:endParaRPr>
          </a:p>
        </p:txBody>
      </p:sp>
      <p:sp>
        <p:nvSpPr>
          <p:cNvPr id="8" name="Text Box 7"/>
          <p:cNvSpPr txBox="1"/>
          <p:nvPr/>
        </p:nvSpPr>
        <p:spPr>
          <a:xfrm>
            <a:off x="1422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Cách đọc biểu đồ</a:t>
            </a:r>
            <a:endParaRPr lang="en-US" sz="1350" b="1">
              <a:solidFill>
                <a:srgbClr val="0B1F33"/>
              </a:solidFill>
              <a:latin typeface="Aptos" charset="0"/>
              <a:cs typeface="Aptos" charset="0"/>
            </a:endParaRPr>
          </a:p>
        </p:txBody>
      </p:sp>
      <p:sp>
        <p:nvSpPr>
          <p:cNvPr id="9" name="Text Box 8"/>
          <p:cNvSpPr txBox="1"/>
          <p:nvPr/>
        </p:nvSpPr>
        <p:spPr>
          <a:xfrm>
            <a:off x="889000" y="18796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Biểu đồ cột đếm số session theo độ dài. Đường ECDF cho biết tỷ lệ session có độ dài nhỏ hơn hoặc bằng một giá trị trên trục ngang.</a:t>
            </a:r>
            <a:endParaRPr lang="en-US" sz="1200">
              <a:solidFill>
                <a:srgbClr val="172B4D"/>
              </a:solidFill>
              <a:latin typeface="Aptos" charset="0"/>
              <a:cs typeface="Aptos" charset="0"/>
            </a:endParaRPr>
          </a:p>
        </p:txBody>
      </p:sp>
      <p:sp>
        <p:nvSpPr>
          <p:cNvPr id="10" name="Rounded Rectangle 9"/>
          <p:cNvSpPr/>
          <p:nvPr/>
        </p:nvSpPr>
        <p:spPr>
          <a:xfrm>
            <a:off x="6223000" y="1219200"/>
            <a:ext cx="5334000" cy="1993900"/>
          </a:xfrm>
          <a:prstGeom prst="roundRect">
            <a:avLst/>
          </a:prstGeom>
          <a:solidFill>
            <a:srgbClr val="E4F8F5"/>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Text Box 10"/>
          <p:cNvSpPr txBox="1"/>
          <p:nvPr/>
        </p:nvSpPr>
        <p:spPr>
          <a:xfrm>
            <a:off x="6426200" y="1397000"/>
            <a:ext cx="533400" cy="306705"/>
          </a:xfrm>
          <a:prstGeom prst="rect">
            <a:avLst/>
          </a:prstGeom>
          <a:noFill/>
        </p:spPr>
        <p:txBody>
          <a:bodyPr wrap="square" lIns="0" tIns="0" rIns="0" rtlCol="0" anchor="t">
            <a:spAutoFit/>
          </a:bodyPr>
          <a:p>
            <a:pPr algn="l"/>
            <a:r>
              <a:rPr lang="en-US" sz="1700" b="1">
                <a:solidFill>
                  <a:srgbClr val="16B3A3"/>
                </a:solidFill>
                <a:latin typeface="Aptos" charset="0"/>
                <a:cs typeface="Aptos" charset="0"/>
              </a:rPr>
              <a:t>02</a:t>
            </a:r>
            <a:endParaRPr lang="en-US" sz="1700" b="1">
              <a:solidFill>
                <a:srgbClr val="16B3A3"/>
              </a:solidFill>
              <a:latin typeface="Aptos" charset="0"/>
              <a:cs typeface="Aptos" charset="0"/>
            </a:endParaRPr>
          </a:p>
        </p:txBody>
      </p:sp>
      <p:sp>
        <p:nvSpPr>
          <p:cNvPr id="12" name="Text Box 11"/>
          <p:cNvSpPr txBox="1"/>
          <p:nvPr/>
        </p:nvSpPr>
        <p:spPr>
          <a:xfrm>
            <a:off x="7010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Kết quả chính</a:t>
            </a:r>
            <a:endParaRPr lang="en-US" sz="1350" b="1">
              <a:solidFill>
                <a:srgbClr val="0B1F33"/>
              </a:solidFill>
              <a:latin typeface="Aptos" charset="0"/>
              <a:cs typeface="Aptos" charset="0"/>
            </a:endParaRPr>
          </a:p>
        </p:txBody>
      </p:sp>
      <p:sp>
        <p:nvSpPr>
          <p:cNvPr id="13" name="Text Box 12"/>
          <p:cNvSpPr txBox="1"/>
          <p:nvPr/>
        </p:nvSpPr>
        <p:spPr>
          <a:xfrm>
            <a:off x="6477000" y="18796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Median session length bằng 3 và 77,07% session dài không quá 5. Diginetica chủ yếu gồm các chuỗi hành vi ngắn.</a:t>
            </a:r>
            <a:endParaRPr lang="en-US" sz="1200">
              <a:solidFill>
                <a:srgbClr val="172B4D"/>
              </a:solidFill>
              <a:latin typeface="Aptos" charset="0"/>
              <a:cs typeface="Aptos" charset="0"/>
            </a:endParaRPr>
          </a:p>
        </p:txBody>
      </p:sp>
      <p:sp>
        <p:nvSpPr>
          <p:cNvPr id="14" name="Rounded Rectangle 13"/>
          <p:cNvSpPr/>
          <p:nvPr/>
        </p:nvSpPr>
        <p:spPr>
          <a:xfrm>
            <a:off x="635000" y="3467100"/>
            <a:ext cx="5334000" cy="1993900"/>
          </a:xfrm>
          <a:prstGeom prst="roundRect">
            <a:avLst/>
          </a:prstGeom>
          <a:solidFill>
            <a:srgbClr val="FFF4E4"/>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Text Box 14"/>
          <p:cNvSpPr txBox="1"/>
          <p:nvPr/>
        </p:nvSpPr>
        <p:spPr>
          <a:xfrm>
            <a:off x="838200" y="3644900"/>
            <a:ext cx="533400" cy="306705"/>
          </a:xfrm>
          <a:prstGeom prst="rect">
            <a:avLst/>
          </a:prstGeom>
          <a:noFill/>
        </p:spPr>
        <p:txBody>
          <a:bodyPr wrap="square" lIns="0" tIns="0" rIns="0" rtlCol="0" anchor="t">
            <a:spAutoFit/>
          </a:bodyPr>
          <a:p>
            <a:pPr algn="l"/>
            <a:r>
              <a:rPr lang="en-US" sz="1700" b="1">
                <a:solidFill>
                  <a:srgbClr val="FF9F43"/>
                </a:solidFill>
                <a:latin typeface="Aptos" charset="0"/>
                <a:cs typeface="Aptos" charset="0"/>
              </a:rPr>
              <a:t>03</a:t>
            </a:r>
            <a:endParaRPr lang="en-US" sz="1700" b="1">
              <a:solidFill>
                <a:srgbClr val="FF9F43"/>
              </a:solidFill>
              <a:latin typeface="Aptos" charset="0"/>
              <a:cs typeface="Aptos" charset="0"/>
            </a:endParaRPr>
          </a:p>
        </p:txBody>
      </p:sp>
      <p:sp>
        <p:nvSpPr>
          <p:cNvPr id="16" name="Text Box 15"/>
          <p:cNvSpPr txBox="1"/>
          <p:nvPr/>
        </p:nvSpPr>
        <p:spPr>
          <a:xfrm>
            <a:off x="1422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Quyết định xử lý</a:t>
            </a:r>
            <a:endParaRPr lang="en-US" sz="1350" b="1">
              <a:solidFill>
                <a:srgbClr val="0B1F33"/>
              </a:solidFill>
              <a:latin typeface="Aptos" charset="0"/>
              <a:cs typeface="Aptos" charset="0"/>
            </a:endParaRPr>
          </a:p>
        </p:txBody>
      </p:sp>
      <p:sp>
        <p:nvSpPr>
          <p:cNvPr id="17" name="Text Box 16"/>
          <p:cNvSpPr txBox="1"/>
          <p:nvPr/>
        </p:nvSpPr>
        <p:spPr>
          <a:xfrm>
            <a:off x="889000" y="41275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29,23% session chỉ có một event nên không tạo được lịch sử → target và phải loại. Click lặp được giữ vì có thể là hành vi thật.</a:t>
            </a:r>
            <a:endParaRPr lang="en-US" sz="1200">
              <a:solidFill>
                <a:srgbClr val="172B4D"/>
              </a:solidFill>
              <a:latin typeface="Aptos" charset="0"/>
              <a:cs typeface="Aptos" charset="0"/>
            </a:endParaRPr>
          </a:p>
        </p:txBody>
      </p:sp>
      <p:sp>
        <p:nvSpPr>
          <p:cNvPr id="18" name="Rounded Rectangle 17"/>
          <p:cNvSpPr/>
          <p:nvPr/>
        </p:nvSpPr>
        <p:spPr>
          <a:xfrm>
            <a:off x="6223000" y="3467100"/>
            <a:ext cx="5334000" cy="1993900"/>
          </a:xfrm>
          <a:prstGeom prst="roundRect">
            <a:avLst/>
          </a:prstGeom>
          <a:solidFill>
            <a:srgbClr val="F4F7FB"/>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9" name="Text Box 18"/>
          <p:cNvSpPr txBox="1"/>
          <p:nvPr/>
        </p:nvSpPr>
        <p:spPr>
          <a:xfrm>
            <a:off x="6426200" y="3644900"/>
            <a:ext cx="533400" cy="306705"/>
          </a:xfrm>
          <a:prstGeom prst="rect">
            <a:avLst/>
          </a:prstGeom>
          <a:noFill/>
        </p:spPr>
        <p:txBody>
          <a:bodyPr wrap="square" lIns="0" tIns="0" rIns="0" rtlCol="0" anchor="t">
            <a:spAutoFit/>
          </a:bodyPr>
          <a:p>
            <a:pPr algn="l"/>
            <a:r>
              <a:rPr lang="en-US" sz="1700" b="1">
                <a:solidFill>
                  <a:srgbClr val="E45756"/>
                </a:solidFill>
                <a:latin typeface="Aptos" charset="0"/>
                <a:cs typeface="Aptos" charset="0"/>
              </a:rPr>
              <a:t>04</a:t>
            </a:r>
            <a:endParaRPr lang="en-US" sz="1700" b="1">
              <a:solidFill>
                <a:srgbClr val="E45756"/>
              </a:solidFill>
              <a:latin typeface="Aptos" charset="0"/>
              <a:cs typeface="Aptos" charset="0"/>
            </a:endParaRPr>
          </a:p>
        </p:txBody>
      </p:sp>
      <p:sp>
        <p:nvSpPr>
          <p:cNvPr id="20" name="Text Box 19"/>
          <p:cNvSpPr txBox="1"/>
          <p:nvPr/>
        </p:nvSpPr>
        <p:spPr>
          <a:xfrm>
            <a:off x="7010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Điểm cần kiểm soát</a:t>
            </a:r>
            <a:endParaRPr lang="en-US" sz="1350" b="1">
              <a:solidFill>
                <a:srgbClr val="0B1F33"/>
              </a:solidFill>
              <a:latin typeface="Aptos" charset="0"/>
              <a:cs typeface="Aptos" charset="0"/>
            </a:endParaRPr>
          </a:p>
        </p:txBody>
      </p:sp>
      <p:sp>
        <p:nvSpPr>
          <p:cNvPr id="21" name="Text Box 20"/>
          <p:cNvSpPr txBox="1"/>
          <p:nvPr/>
        </p:nvSpPr>
        <p:spPr>
          <a:xfrm>
            <a:off x="6477000" y="41275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Session dài hơn 10 chỉ chiếm 6,59% nhưng chứa 24,72% event. All-prefix training khiến chúng đóng góp nhiều mẫu hơn session ngắn.</a:t>
            </a:r>
            <a:endParaRPr lang="en-US" sz="1200">
              <a:solidFill>
                <a:srgbClr val="172B4D"/>
              </a:solidFill>
              <a:latin typeface="Aptos" charset="0"/>
              <a:cs typeface="Aptos" charset="0"/>
            </a:endParaRPr>
          </a:p>
        </p:txBody>
      </p:sp>
      <p:sp>
        <p:nvSpPr>
          <p:cNvPr id="22" name="Rounded Rectangle 21"/>
          <p:cNvSpPr/>
          <p:nvPr/>
        </p:nvSpPr>
        <p:spPr>
          <a:xfrm>
            <a:off x="2159000" y="5651500"/>
            <a:ext cx="7874000" cy="5334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3" name="Text Box 22"/>
          <p:cNvSpPr txBox="1"/>
          <p:nvPr/>
        </p:nvSpPr>
        <p:spPr>
          <a:xfrm>
            <a:off x="2413000" y="5791200"/>
            <a:ext cx="7366000" cy="229870"/>
          </a:xfrm>
          <a:prstGeom prst="rect">
            <a:avLst/>
          </a:prstGeom>
          <a:noFill/>
        </p:spPr>
        <p:txBody>
          <a:bodyPr wrap="square" lIns="0" tIns="0" rIns="0" rtlCol="0" anchor="t">
            <a:spAutoFit/>
          </a:bodyPr>
          <a:p>
            <a:pPr algn="ctr"/>
            <a:r>
              <a:rPr lang="en-US" sz="1200" b="1">
                <a:solidFill>
                  <a:srgbClr val="0B1F33"/>
                </a:solidFill>
                <a:latin typeface="Aptos" charset="0"/>
                <a:cs typeface="Aptos" charset="0"/>
              </a:rPr>
              <a:t>Kết luận: bỏ session length 1, giữ click lặp và theo dõi ảnh hưởng của session dài.</a:t>
            </a:r>
            <a:endParaRPr lang="en-US" sz="1200" b="1">
              <a:solidFill>
                <a:srgbClr val="0B1F33"/>
              </a:solidFill>
              <a:latin typeface="Aptos" charset="0"/>
              <a:cs typeface="Aptos"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2000" cy="68580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Rectangle 2"/>
          <p:cNvSpPr/>
          <p:nvPr/>
        </p:nvSpPr>
        <p:spPr>
          <a:xfrm>
            <a:off x="0" y="0"/>
            <a:ext cx="177800" cy="6858000"/>
          </a:xfrm>
          <a:prstGeom prst="rect">
            <a:avLst/>
          </a:prstGeom>
          <a:solidFill>
            <a:srgbClr val="2F6B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ext Box 3"/>
          <p:cNvSpPr txBox="1"/>
          <p:nvPr/>
        </p:nvSpPr>
        <p:spPr>
          <a:xfrm>
            <a:off x="635000" y="355600"/>
            <a:ext cx="10922000" cy="437515"/>
          </a:xfrm>
          <a:prstGeom prst="rect">
            <a:avLst/>
          </a:prstGeom>
          <a:noFill/>
        </p:spPr>
        <p:txBody>
          <a:bodyPr wrap="square" lIns="0" tIns="0" rIns="0" rtlCol="0" anchor="t">
            <a:spAutoFit/>
          </a:bodyPr>
          <a:p>
            <a:pPr algn="l"/>
            <a:r>
              <a:rPr lang="en-US" sz="2550" b="1">
                <a:solidFill>
                  <a:srgbClr val="0B1F33"/>
                </a:solidFill>
                <a:latin typeface="Aptos" charset="0"/>
                <a:cs typeface="Aptos" charset="0"/>
              </a:rPr>
              <a:t>Biểu đồ 2: đường Lorenz của interaction theo item</a:t>
            </a:r>
            <a:endParaRPr lang="en-US" sz="2550" b="1">
              <a:solidFill>
                <a:srgbClr val="0B1F33"/>
              </a:solidFill>
              <a:latin typeface="Aptos" charset="0"/>
              <a:cs typeface="Aptos" charset="0"/>
            </a:endParaRPr>
          </a:p>
        </p:txBody>
      </p:sp>
      <p:sp>
        <p:nvSpPr>
          <p:cNvPr id="5" name="Text Box 4"/>
          <p:cNvSpPr txBox="1"/>
          <p:nvPr/>
        </p:nvSpPr>
        <p:spPr>
          <a:xfrm>
            <a:off x="10515600" y="6477000"/>
            <a:ext cx="1016000" cy="207010"/>
          </a:xfrm>
          <a:prstGeom prst="rect">
            <a:avLst/>
          </a:prstGeom>
          <a:noFill/>
        </p:spPr>
        <p:txBody>
          <a:bodyPr wrap="square" lIns="0" tIns="0" rIns="0" rtlCol="0" anchor="t">
            <a:spAutoFit/>
          </a:bodyPr>
          <a:p>
            <a:pPr algn="r"/>
            <a:r>
              <a:rPr lang="en-US" sz="1050" b="1">
                <a:solidFill>
                  <a:srgbClr val="2F6BFF"/>
                </a:solidFill>
                <a:latin typeface="Aptos" charset="0"/>
                <a:cs typeface="Aptos" charset="0"/>
              </a:rPr>
              <a:t>12 / 25</a:t>
            </a:r>
            <a:endParaRPr lang="en-US" sz="1050" b="1">
              <a:solidFill>
                <a:srgbClr val="2F6BFF"/>
              </a:solidFill>
              <a:latin typeface="Aptos" charset="0"/>
              <a:cs typeface="Aptos" charset="0"/>
            </a:endParaRPr>
          </a:p>
        </p:txBody>
      </p:sp>
      <p:pic>
        <p:nvPicPr>
          <p:cNvPr id="6" name="Picture 5" descr="eda_interaction_lorenz_curve"/>
          <p:cNvPicPr>
            <a:picLocks noChangeAspect="1"/>
          </p:cNvPicPr>
          <p:nvPr/>
        </p:nvPicPr>
        <p:blipFill>
          <a:blip r:embed="rId1"/>
          <a:stretch>
            <a:fillRect/>
          </a:stretch>
        </p:blipFill>
        <p:spPr>
          <a:xfrm>
            <a:off x="3919361" y="1475317"/>
            <a:ext cx="4353278" cy="433916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2000" cy="68580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Rectangle 2"/>
          <p:cNvSpPr/>
          <p:nvPr/>
        </p:nvSpPr>
        <p:spPr>
          <a:xfrm>
            <a:off x="0" y="0"/>
            <a:ext cx="177800" cy="6858000"/>
          </a:xfrm>
          <a:prstGeom prst="rect">
            <a:avLst/>
          </a:prstGeom>
          <a:solidFill>
            <a:srgbClr val="2F6B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ext Box 3"/>
          <p:cNvSpPr txBox="1"/>
          <p:nvPr/>
        </p:nvSpPr>
        <p:spPr>
          <a:xfrm>
            <a:off x="635000" y="355600"/>
            <a:ext cx="10922000" cy="437515"/>
          </a:xfrm>
          <a:prstGeom prst="rect">
            <a:avLst/>
          </a:prstGeom>
          <a:noFill/>
        </p:spPr>
        <p:txBody>
          <a:bodyPr wrap="square" lIns="0" tIns="0" rIns="0" rtlCol="0" anchor="t">
            <a:spAutoFit/>
          </a:bodyPr>
          <a:p>
            <a:pPr algn="l"/>
            <a:r>
              <a:rPr lang="en-US" sz="2550" b="1">
                <a:solidFill>
                  <a:srgbClr val="0B1F33"/>
                </a:solidFill>
                <a:latin typeface="Aptos" charset="0"/>
                <a:cs typeface="Aptos" charset="0"/>
              </a:rPr>
              <a:t>Đường Lorenz chứng minh long-tail như thế nào?</a:t>
            </a:r>
            <a:endParaRPr lang="en-US" sz="2550" b="1">
              <a:solidFill>
                <a:srgbClr val="0B1F33"/>
              </a:solidFill>
              <a:latin typeface="Aptos" charset="0"/>
              <a:cs typeface="Aptos" charset="0"/>
            </a:endParaRPr>
          </a:p>
        </p:txBody>
      </p:sp>
      <p:sp>
        <p:nvSpPr>
          <p:cNvPr id="5" name="Text Box 4"/>
          <p:cNvSpPr txBox="1"/>
          <p:nvPr/>
        </p:nvSpPr>
        <p:spPr>
          <a:xfrm>
            <a:off x="10515600" y="6477000"/>
            <a:ext cx="1016000" cy="207010"/>
          </a:xfrm>
          <a:prstGeom prst="rect">
            <a:avLst/>
          </a:prstGeom>
          <a:noFill/>
        </p:spPr>
        <p:txBody>
          <a:bodyPr wrap="square" lIns="0" tIns="0" rIns="0" rtlCol="0" anchor="t">
            <a:spAutoFit/>
          </a:bodyPr>
          <a:p>
            <a:pPr algn="r"/>
            <a:r>
              <a:rPr lang="en-US" sz="1050" b="1">
                <a:solidFill>
                  <a:srgbClr val="2F6BFF"/>
                </a:solidFill>
                <a:latin typeface="Aptos" charset="0"/>
                <a:cs typeface="Aptos" charset="0"/>
              </a:rPr>
              <a:t>13 / 25</a:t>
            </a:r>
            <a:endParaRPr lang="en-US" sz="1050" b="1">
              <a:solidFill>
                <a:srgbClr val="2F6BFF"/>
              </a:solidFill>
              <a:latin typeface="Aptos" charset="0"/>
              <a:cs typeface="Aptos" charset="0"/>
            </a:endParaRPr>
          </a:p>
        </p:txBody>
      </p:sp>
      <p:sp>
        <p:nvSpPr>
          <p:cNvPr id="6" name="Rounded Rectangle 5"/>
          <p:cNvSpPr/>
          <p:nvPr/>
        </p:nvSpPr>
        <p:spPr>
          <a:xfrm>
            <a:off x="635000" y="1219200"/>
            <a:ext cx="5334000" cy="19939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 name="Text Box 6"/>
          <p:cNvSpPr txBox="1"/>
          <p:nvPr/>
        </p:nvSpPr>
        <p:spPr>
          <a:xfrm>
            <a:off x="838200" y="1397000"/>
            <a:ext cx="533400" cy="306705"/>
          </a:xfrm>
          <a:prstGeom prst="rect">
            <a:avLst/>
          </a:prstGeom>
          <a:noFill/>
        </p:spPr>
        <p:txBody>
          <a:bodyPr wrap="square" lIns="0" tIns="0" rIns="0" rtlCol="0" anchor="t">
            <a:spAutoFit/>
          </a:bodyPr>
          <a:p>
            <a:pPr algn="l"/>
            <a:r>
              <a:rPr lang="en-US" sz="1700" b="1">
                <a:solidFill>
                  <a:srgbClr val="2F6BFF"/>
                </a:solidFill>
                <a:latin typeface="Aptos" charset="0"/>
                <a:cs typeface="Aptos" charset="0"/>
              </a:rPr>
              <a:t>01</a:t>
            </a:r>
            <a:endParaRPr lang="en-US" sz="1700" b="1">
              <a:solidFill>
                <a:srgbClr val="2F6BFF"/>
              </a:solidFill>
              <a:latin typeface="Aptos" charset="0"/>
              <a:cs typeface="Aptos" charset="0"/>
            </a:endParaRPr>
          </a:p>
        </p:txBody>
      </p:sp>
      <p:sp>
        <p:nvSpPr>
          <p:cNvPr id="8" name="Text Box 7"/>
          <p:cNvSpPr txBox="1"/>
          <p:nvPr/>
        </p:nvSpPr>
        <p:spPr>
          <a:xfrm>
            <a:off x="1422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Cách đọc biểu đồ</a:t>
            </a:r>
            <a:endParaRPr lang="en-US" sz="1350" b="1">
              <a:solidFill>
                <a:srgbClr val="0B1F33"/>
              </a:solidFill>
              <a:latin typeface="Aptos" charset="0"/>
              <a:cs typeface="Aptos" charset="0"/>
            </a:endParaRPr>
          </a:p>
        </p:txBody>
      </p:sp>
      <p:sp>
        <p:nvSpPr>
          <p:cNvPr id="9" name="Text Box 8"/>
          <p:cNvSpPr txBox="1"/>
          <p:nvPr/>
        </p:nvSpPr>
        <p:spPr>
          <a:xfrm>
            <a:off x="889000" y="18796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Trục ngang là tỷ lệ item tích lũy; trục dọc là tỷ lệ interaction tích lũy. Đường đỏ càng xa đường chéo thì phân phối càng bất bình đẳng.</a:t>
            </a:r>
            <a:endParaRPr lang="en-US" sz="1200">
              <a:solidFill>
                <a:srgbClr val="172B4D"/>
              </a:solidFill>
              <a:latin typeface="Aptos" charset="0"/>
              <a:cs typeface="Aptos" charset="0"/>
            </a:endParaRPr>
          </a:p>
        </p:txBody>
      </p:sp>
      <p:sp>
        <p:nvSpPr>
          <p:cNvPr id="10" name="Rounded Rectangle 9"/>
          <p:cNvSpPr/>
          <p:nvPr/>
        </p:nvSpPr>
        <p:spPr>
          <a:xfrm>
            <a:off x="6223000" y="1219200"/>
            <a:ext cx="5334000" cy="1993900"/>
          </a:xfrm>
          <a:prstGeom prst="roundRect">
            <a:avLst/>
          </a:prstGeom>
          <a:solidFill>
            <a:srgbClr val="E4F8F5"/>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Text Box 10"/>
          <p:cNvSpPr txBox="1"/>
          <p:nvPr/>
        </p:nvSpPr>
        <p:spPr>
          <a:xfrm>
            <a:off x="6426200" y="1397000"/>
            <a:ext cx="533400" cy="306705"/>
          </a:xfrm>
          <a:prstGeom prst="rect">
            <a:avLst/>
          </a:prstGeom>
          <a:noFill/>
        </p:spPr>
        <p:txBody>
          <a:bodyPr wrap="square" lIns="0" tIns="0" rIns="0" rtlCol="0" anchor="t">
            <a:spAutoFit/>
          </a:bodyPr>
          <a:p>
            <a:pPr algn="l"/>
            <a:r>
              <a:rPr lang="en-US" sz="1700" b="1">
                <a:solidFill>
                  <a:srgbClr val="16B3A3"/>
                </a:solidFill>
                <a:latin typeface="Aptos" charset="0"/>
                <a:cs typeface="Aptos" charset="0"/>
              </a:rPr>
              <a:t>02</a:t>
            </a:r>
            <a:endParaRPr lang="en-US" sz="1700" b="1">
              <a:solidFill>
                <a:srgbClr val="16B3A3"/>
              </a:solidFill>
              <a:latin typeface="Aptos" charset="0"/>
              <a:cs typeface="Aptos" charset="0"/>
            </a:endParaRPr>
          </a:p>
        </p:txBody>
      </p:sp>
      <p:sp>
        <p:nvSpPr>
          <p:cNvPr id="12" name="Text Box 11"/>
          <p:cNvSpPr txBox="1"/>
          <p:nvPr/>
        </p:nvSpPr>
        <p:spPr>
          <a:xfrm>
            <a:off x="7010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Độ dài phần đuôi</a:t>
            </a:r>
            <a:endParaRPr lang="en-US" sz="1350" b="1">
              <a:solidFill>
                <a:srgbClr val="0B1F33"/>
              </a:solidFill>
              <a:latin typeface="Aptos" charset="0"/>
              <a:cs typeface="Aptos" charset="0"/>
            </a:endParaRPr>
          </a:p>
        </p:txBody>
      </p:sp>
      <p:sp>
        <p:nvSpPr>
          <p:cNvPr id="13" name="Text Box 12"/>
          <p:cNvSpPr txBox="1"/>
          <p:nvPr/>
        </p:nvSpPr>
        <p:spPr>
          <a:xfrm>
            <a:off x="6477000" y="18796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34,20% item chỉ xuất hiện đúng một lần và 63,80% item xuất hiện dưới 5 lần. Catalog có phần đuôi rất dài và thưa.</a:t>
            </a:r>
            <a:endParaRPr lang="en-US" sz="1200">
              <a:solidFill>
                <a:srgbClr val="172B4D"/>
              </a:solidFill>
              <a:latin typeface="Aptos" charset="0"/>
              <a:cs typeface="Aptos" charset="0"/>
            </a:endParaRPr>
          </a:p>
        </p:txBody>
      </p:sp>
      <p:sp>
        <p:nvSpPr>
          <p:cNvPr id="14" name="Rounded Rectangle 13"/>
          <p:cNvSpPr/>
          <p:nvPr/>
        </p:nvSpPr>
        <p:spPr>
          <a:xfrm>
            <a:off x="635000" y="3467100"/>
            <a:ext cx="5334000" cy="1993900"/>
          </a:xfrm>
          <a:prstGeom prst="roundRect">
            <a:avLst/>
          </a:prstGeom>
          <a:solidFill>
            <a:srgbClr val="FFF4E4"/>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Text Box 14"/>
          <p:cNvSpPr txBox="1"/>
          <p:nvPr/>
        </p:nvSpPr>
        <p:spPr>
          <a:xfrm>
            <a:off x="838200" y="3644900"/>
            <a:ext cx="533400" cy="306705"/>
          </a:xfrm>
          <a:prstGeom prst="rect">
            <a:avLst/>
          </a:prstGeom>
          <a:noFill/>
        </p:spPr>
        <p:txBody>
          <a:bodyPr wrap="square" lIns="0" tIns="0" rIns="0" rtlCol="0" anchor="t">
            <a:spAutoFit/>
          </a:bodyPr>
          <a:p>
            <a:pPr algn="l"/>
            <a:r>
              <a:rPr lang="en-US" sz="1700" b="1">
                <a:solidFill>
                  <a:srgbClr val="FF9F43"/>
                </a:solidFill>
                <a:latin typeface="Aptos" charset="0"/>
                <a:cs typeface="Aptos" charset="0"/>
              </a:rPr>
              <a:t>03</a:t>
            </a:r>
            <a:endParaRPr lang="en-US" sz="1700" b="1">
              <a:solidFill>
                <a:srgbClr val="FF9F43"/>
              </a:solidFill>
              <a:latin typeface="Aptos" charset="0"/>
              <a:cs typeface="Aptos" charset="0"/>
            </a:endParaRPr>
          </a:p>
        </p:txBody>
      </p:sp>
      <p:sp>
        <p:nvSpPr>
          <p:cNvPr id="16" name="Text Box 15"/>
          <p:cNvSpPr txBox="1"/>
          <p:nvPr/>
        </p:nvSpPr>
        <p:spPr>
          <a:xfrm>
            <a:off x="1422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Mức độ tập trung</a:t>
            </a:r>
            <a:endParaRPr lang="en-US" sz="1350" b="1">
              <a:solidFill>
                <a:srgbClr val="0B1F33"/>
              </a:solidFill>
              <a:latin typeface="Aptos" charset="0"/>
              <a:cs typeface="Aptos" charset="0"/>
            </a:endParaRPr>
          </a:p>
        </p:txBody>
      </p:sp>
      <p:sp>
        <p:nvSpPr>
          <p:cNvPr id="17" name="Text Box 16"/>
          <p:cNvSpPr txBox="1"/>
          <p:nvPr/>
        </p:nvSpPr>
        <p:spPr>
          <a:xfrm>
            <a:off x="889000" y="41275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Top 1% item nhận 21,65% interaction; top 20% item nhận 77,54%. Gini đầu vào bằng 0,726.</a:t>
            </a:r>
            <a:endParaRPr lang="en-US" sz="1200">
              <a:solidFill>
                <a:srgbClr val="172B4D"/>
              </a:solidFill>
              <a:latin typeface="Aptos" charset="0"/>
              <a:cs typeface="Aptos" charset="0"/>
            </a:endParaRPr>
          </a:p>
        </p:txBody>
      </p:sp>
      <p:sp>
        <p:nvSpPr>
          <p:cNvPr id="18" name="Rounded Rectangle 17"/>
          <p:cNvSpPr/>
          <p:nvPr/>
        </p:nvSpPr>
        <p:spPr>
          <a:xfrm>
            <a:off x="6223000" y="3467100"/>
            <a:ext cx="5334000" cy="1993900"/>
          </a:xfrm>
          <a:prstGeom prst="roundRect">
            <a:avLst/>
          </a:prstGeom>
          <a:solidFill>
            <a:srgbClr val="F4F7FB"/>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9" name="Text Box 18"/>
          <p:cNvSpPr txBox="1"/>
          <p:nvPr/>
        </p:nvSpPr>
        <p:spPr>
          <a:xfrm>
            <a:off x="6426200" y="3644900"/>
            <a:ext cx="533400" cy="306705"/>
          </a:xfrm>
          <a:prstGeom prst="rect">
            <a:avLst/>
          </a:prstGeom>
          <a:noFill/>
        </p:spPr>
        <p:txBody>
          <a:bodyPr wrap="square" lIns="0" tIns="0" rIns="0" rtlCol="0" anchor="t">
            <a:spAutoFit/>
          </a:bodyPr>
          <a:p>
            <a:pPr algn="l"/>
            <a:r>
              <a:rPr lang="en-US" sz="1700" b="1">
                <a:solidFill>
                  <a:srgbClr val="E45756"/>
                </a:solidFill>
                <a:latin typeface="Aptos" charset="0"/>
                <a:cs typeface="Aptos" charset="0"/>
              </a:rPr>
              <a:t>04</a:t>
            </a:r>
            <a:endParaRPr lang="en-US" sz="1700" b="1">
              <a:solidFill>
                <a:srgbClr val="E45756"/>
              </a:solidFill>
              <a:latin typeface="Aptos" charset="0"/>
              <a:cs typeface="Aptos" charset="0"/>
            </a:endParaRPr>
          </a:p>
        </p:txBody>
      </p:sp>
      <p:sp>
        <p:nvSpPr>
          <p:cNvPr id="20" name="Text Box 19"/>
          <p:cNvSpPr txBox="1"/>
          <p:nvPr/>
        </p:nvSpPr>
        <p:spPr>
          <a:xfrm>
            <a:off x="7010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Giới hạn kết luận</a:t>
            </a:r>
            <a:endParaRPr lang="en-US" sz="1350" b="1">
              <a:solidFill>
                <a:srgbClr val="0B1F33"/>
              </a:solidFill>
              <a:latin typeface="Aptos" charset="0"/>
              <a:cs typeface="Aptos" charset="0"/>
            </a:endParaRPr>
          </a:p>
        </p:txBody>
      </p:sp>
      <p:sp>
        <p:nvSpPr>
          <p:cNvPr id="21" name="Text Box 20"/>
          <p:cNvSpPr txBox="1"/>
          <p:nvPr/>
        </p:nvSpPr>
        <p:spPr>
          <a:xfrm>
            <a:off x="6477000" y="41275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Kết quả này chứng minh dữ liệu có long-tail, chưa chứng minh mô hình bị bias. Recommendation Gini chỉ được tính sau khi có Top-20 của mô hình.</a:t>
            </a:r>
            <a:endParaRPr lang="en-US" sz="1200">
              <a:solidFill>
                <a:srgbClr val="172B4D"/>
              </a:solidFill>
              <a:latin typeface="Aptos" charset="0"/>
              <a:cs typeface="Aptos" charset="0"/>
            </a:endParaRPr>
          </a:p>
        </p:txBody>
      </p:sp>
      <p:sp>
        <p:nvSpPr>
          <p:cNvPr id="22" name="Rounded Rectangle 21"/>
          <p:cNvSpPr/>
          <p:nvPr/>
        </p:nvSpPr>
        <p:spPr>
          <a:xfrm>
            <a:off x="2349500" y="5651500"/>
            <a:ext cx="7493000" cy="533400"/>
          </a:xfrm>
          <a:prstGeom prst="roundRect">
            <a:avLst/>
          </a:prstGeom>
          <a:solidFill>
            <a:srgbClr val="FFF4E4"/>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3" name="Text Box 22"/>
          <p:cNvSpPr txBox="1"/>
          <p:nvPr/>
        </p:nvSpPr>
        <p:spPr>
          <a:xfrm>
            <a:off x="2603500" y="5778500"/>
            <a:ext cx="6985000" cy="229870"/>
          </a:xfrm>
          <a:prstGeom prst="rect">
            <a:avLst/>
          </a:prstGeom>
          <a:noFill/>
        </p:spPr>
        <p:txBody>
          <a:bodyPr wrap="square" lIns="0" tIns="0" rIns="0" rtlCol="0" anchor="t">
            <a:spAutoFit/>
          </a:bodyPr>
          <a:p>
            <a:pPr algn="ctr"/>
            <a:r>
              <a:rPr lang="en-US" sz="1200" b="1">
                <a:solidFill>
                  <a:srgbClr val="E45756"/>
                </a:solidFill>
                <a:latin typeface="Aptos" charset="0"/>
                <a:cs typeface="Aptos" charset="0"/>
              </a:rPr>
              <a:t>Diginetica phù hợp để nghiên cứu popularity bias, nhưng bias đầu ra vẫn phải đo sau huấn luyện.</a:t>
            </a:r>
            <a:endParaRPr lang="en-US" sz="1200" b="1">
              <a:solidFill>
                <a:srgbClr val="E45756"/>
              </a:solidFill>
              <a:latin typeface="Aptos" charset="0"/>
              <a:cs typeface="Aptos"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2000" cy="68580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Rectangle 2"/>
          <p:cNvSpPr/>
          <p:nvPr/>
        </p:nvSpPr>
        <p:spPr>
          <a:xfrm>
            <a:off x="0" y="0"/>
            <a:ext cx="177800" cy="6858000"/>
          </a:xfrm>
          <a:prstGeom prst="rect">
            <a:avLst/>
          </a:prstGeom>
          <a:solidFill>
            <a:srgbClr val="2F6B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ext Box 3"/>
          <p:cNvSpPr txBox="1"/>
          <p:nvPr/>
        </p:nvSpPr>
        <p:spPr>
          <a:xfrm>
            <a:off x="635000" y="355600"/>
            <a:ext cx="10922000" cy="437515"/>
          </a:xfrm>
          <a:prstGeom prst="rect">
            <a:avLst/>
          </a:prstGeom>
          <a:noFill/>
        </p:spPr>
        <p:txBody>
          <a:bodyPr wrap="square" lIns="0" tIns="0" rIns="0" rtlCol="0" anchor="t">
            <a:spAutoFit/>
          </a:bodyPr>
          <a:p>
            <a:pPr algn="l"/>
            <a:r>
              <a:rPr lang="en-US" sz="2550" b="1">
                <a:solidFill>
                  <a:srgbClr val="0B1F33"/>
                </a:solidFill>
                <a:latin typeface="Aptos" charset="0"/>
                <a:cs typeface="Aptos" charset="0"/>
              </a:rPr>
              <a:t>Biểu đồ 3: cấu trúc category và chuyển tiếp trong session</a:t>
            </a:r>
            <a:endParaRPr lang="en-US" sz="2550" b="1">
              <a:solidFill>
                <a:srgbClr val="0B1F33"/>
              </a:solidFill>
              <a:latin typeface="Aptos" charset="0"/>
              <a:cs typeface="Aptos" charset="0"/>
            </a:endParaRPr>
          </a:p>
        </p:txBody>
      </p:sp>
      <p:sp>
        <p:nvSpPr>
          <p:cNvPr id="5" name="Text Box 4"/>
          <p:cNvSpPr txBox="1"/>
          <p:nvPr/>
        </p:nvSpPr>
        <p:spPr>
          <a:xfrm>
            <a:off x="10515600" y="6477000"/>
            <a:ext cx="1016000" cy="207010"/>
          </a:xfrm>
          <a:prstGeom prst="rect">
            <a:avLst/>
          </a:prstGeom>
          <a:noFill/>
        </p:spPr>
        <p:txBody>
          <a:bodyPr wrap="square" lIns="0" tIns="0" rIns="0" rtlCol="0" anchor="t">
            <a:spAutoFit/>
          </a:bodyPr>
          <a:p>
            <a:pPr algn="r"/>
            <a:r>
              <a:rPr lang="en-US" sz="1050" b="1">
                <a:solidFill>
                  <a:srgbClr val="2F6BFF"/>
                </a:solidFill>
                <a:latin typeface="Aptos" charset="0"/>
                <a:cs typeface="Aptos" charset="0"/>
              </a:rPr>
              <a:t>14 / 25</a:t>
            </a:r>
            <a:endParaRPr lang="en-US" sz="1050" b="1">
              <a:solidFill>
                <a:srgbClr val="2F6BFF"/>
              </a:solidFill>
              <a:latin typeface="Aptos" charset="0"/>
              <a:cs typeface="Aptos" charset="0"/>
            </a:endParaRPr>
          </a:p>
        </p:txBody>
      </p:sp>
      <p:pic>
        <p:nvPicPr>
          <p:cNvPr id="6" name="Picture 5" descr="eda_category_structure_and_transition"/>
          <p:cNvPicPr>
            <a:picLocks noChangeAspect="1"/>
          </p:cNvPicPr>
          <p:nvPr/>
        </p:nvPicPr>
        <p:blipFill>
          <a:blip r:embed="rId1"/>
          <a:stretch>
            <a:fillRect/>
          </a:stretch>
        </p:blipFill>
        <p:spPr>
          <a:xfrm>
            <a:off x="27038" y="1734316"/>
            <a:ext cx="12137924" cy="350366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2000" cy="68580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Rectangle 2"/>
          <p:cNvSpPr/>
          <p:nvPr/>
        </p:nvSpPr>
        <p:spPr>
          <a:xfrm>
            <a:off x="0" y="0"/>
            <a:ext cx="177800" cy="6858000"/>
          </a:xfrm>
          <a:prstGeom prst="rect">
            <a:avLst/>
          </a:prstGeom>
          <a:solidFill>
            <a:srgbClr val="2F6B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ext Box 3"/>
          <p:cNvSpPr txBox="1"/>
          <p:nvPr/>
        </p:nvSpPr>
        <p:spPr>
          <a:xfrm>
            <a:off x="635000" y="355600"/>
            <a:ext cx="10922000" cy="437515"/>
          </a:xfrm>
          <a:prstGeom prst="rect">
            <a:avLst/>
          </a:prstGeom>
          <a:noFill/>
        </p:spPr>
        <p:txBody>
          <a:bodyPr wrap="square" lIns="0" tIns="0" rIns="0" rtlCol="0" anchor="t">
            <a:spAutoFit/>
          </a:bodyPr>
          <a:p>
            <a:pPr algn="l"/>
            <a:r>
              <a:rPr lang="en-US" sz="2550" b="1">
                <a:solidFill>
                  <a:srgbClr val="0B1F33"/>
                </a:solidFill>
                <a:latin typeface="Aptos" charset="0"/>
                <a:cs typeface="Aptos" charset="0"/>
              </a:rPr>
              <a:t>Biểu đồ category có ý nghĩa gì với embedding?</a:t>
            </a:r>
            <a:endParaRPr lang="en-US" sz="2550" b="1">
              <a:solidFill>
                <a:srgbClr val="0B1F33"/>
              </a:solidFill>
              <a:latin typeface="Aptos" charset="0"/>
              <a:cs typeface="Aptos" charset="0"/>
            </a:endParaRPr>
          </a:p>
        </p:txBody>
      </p:sp>
      <p:sp>
        <p:nvSpPr>
          <p:cNvPr id="5" name="Text Box 4"/>
          <p:cNvSpPr txBox="1"/>
          <p:nvPr/>
        </p:nvSpPr>
        <p:spPr>
          <a:xfrm>
            <a:off x="10515600" y="6477000"/>
            <a:ext cx="1016000" cy="207010"/>
          </a:xfrm>
          <a:prstGeom prst="rect">
            <a:avLst/>
          </a:prstGeom>
          <a:noFill/>
        </p:spPr>
        <p:txBody>
          <a:bodyPr wrap="square" lIns="0" tIns="0" rIns="0" rtlCol="0" anchor="t">
            <a:spAutoFit/>
          </a:bodyPr>
          <a:p>
            <a:pPr algn="r"/>
            <a:r>
              <a:rPr lang="en-US" sz="1050" b="1">
                <a:solidFill>
                  <a:srgbClr val="2F6BFF"/>
                </a:solidFill>
                <a:latin typeface="Aptos" charset="0"/>
                <a:cs typeface="Aptos" charset="0"/>
              </a:rPr>
              <a:t>15 / 25</a:t>
            </a:r>
            <a:endParaRPr lang="en-US" sz="1050" b="1">
              <a:solidFill>
                <a:srgbClr val="2F6BFF"/>
              </a:solidFill>
              <a:latin typeface="Aptos" charset="0"/>
              <a:cs typeface="Aptos" charset="0"/>
            </a:endParaRPr>
          </a:p>
        </p:txBody>
      </p:sp>
      <p:sp>
        <p:nvSpPr>
          <p:cNvPr id="6" name="Rounded Rectangle 5"/>
          <p:cNvSpPr/>
          <p:nvPr/>
        </p:nvSpPr>
        <p:spPr>
          <a:xfrm>
            <a:off x="635000" y="1219200"/>
            <a:ext cx="5334000" cy="19939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 name="Text Box 6"/>
          <p:cNvSpPr txBox="1"/>
          <p:nvPr/>
        </p:nvSpPr>
        <p:spPr>
          <a:xfrm>
            <a:off x="838200" y="1397000"/>
            <a:ext cx="533400" cy="306705"/>
          </a:xfrm>
          <a:prstGeom prst="rect">
            <a:avLst/>
          </a:prstGeom>
          <a:noFill/>
        </p:spPr>
        <p:txBody>
          <a:bodyPr wrap="square" lIns="0" tIns="0" rIns="0" rtlCol="0" anchor="t">
            <a:spAutoFit/>
          </a:bodyPr>
          <a:p>
            <a:pPr algn="l"/>
            <a:r>
              <a:rPr lang="en-US" sz="1700" b="1">
                <a:solidFill>
                  <a:srgbClr val="2F6BFF"/>
                </a:solidFill>
                <a:latin typeface="Aptos" charset="0"/>
                <a:cs typeface="Aptos" charset="0"/>
              </a:rPr>
              <a:t>01</a:t>
            </a:r>
            <a:endParaRPr lang="en-US" sz="1700" b="1">
              <a:solidFill>
                <a:srgbClr val="2F6BFF"/>
              </a:solidFill>
              <a:latin typeface="Aptos" charset="0"/>
              <a:cs typeface="Aptos" charset="0"/>
            </a:endParaRPr>
          </a:p>
        </p:txBody>
      </p:sp>
      <p:sp>
        <p:nvSpPr>
          <p:cNvPr id="8" name="Text Box 7"/>
          <p:cNvSpPr txBox="1"/>
          <p:nvPr/>
        </p:nvSpPr>
        <p:spPr>
          <a:xfrm>
            <a:off x="1422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Ba phần của biểu đồ</a:t>
            </a:r>
            <a:endParaRPr lang="en-US" sz="1350" b="1">
              <a:solidFill>
                <a:srgbClr val="0B1F33"/>
              </a:solidFill>
              <a:latin typeface="Aptos" charset="0"/>
              <a:cs typeface="Aptos" charset="0"/>
            </a:endParaRPr>
          </a:p>
        </p:txBody>
      </p:sp>
      <p:sp>
        <p:nvSpPr>
          <p:cNvPr id="9" name="Text Box 8"/>
          <p:cNvSpPr txBox="1"/>
          <p:nvPr/>
        </p:nvSpPr>
        <p:spPr>
          <a:xfrm>
            <a:off x="889000" y="18796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Ba ô lần lượt mô tả quy mô category, số category trong mỗi session và tỷ lệ chuyển tiếp cùng category so với baseline ngẫu nhiên.</a:t>
            </a:r>
            <a:endParaRPr lang="en-US" sz="1200">
              <a:solidFill>
                <a:srgbClr val="172B4D"/>
              </a:solidFill>
              <a:latin typeface="Aptos" charset="0"/>
              <a:cs typeface="Aptos" charset="0"/>
            </a:endParaRPr>
          </a:p>
        </p:txBody>
      </p:sp>
      <p:sp>
        <p:nvSpPr>
          <p:cNvPr id="10" name="Rounded Rectangle 9"/>
          <p:cNvSpPr/>
          <p:nvPr/>
        </p:nvSpPr>
        <p:spPr>
          <a:xfrm>
            <a:off x="6223000" y="1219200"/>
            <a:ext cx="5334000" cy="1993900"/>
          </a:xfrm>
          <a:prstGeom prst="roundRect">
            <a:avLst/>
          </a:prstGeom>
          <a:solidFill>
            <a:srgbClr val="E4F8F5"/>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Text Box 10"/>
          <p:cNvSpPr txBox="1"/>
          <p:nvPr/>
        </p:nvSpPr>
        <p:spPr>
          <a:xfrm>
            <a:off x="6426200" y="1397000"/>
            <a:ext cx="533400" cy="306705"/>
          </a:xfrm>
          <a:prstGeom prst="rect">
            <a:avLst/>
          </a:prstGeom>
          <a:noFill/>
        </p:spPr>
        <p:txBody>
          <a:bodyPr wrap="square" lIns="0" tIns="0" rIns="0" rtlCol="0" anchor="t">
            <a:spAutoFit/>
          </a:bodyPr>
          <a:p>
            <a:pPr algn="l"/>
            <a:r>
              <a:rPr lang="en-US" sz="1700" b="1">
                <a:solidFill>
                  <a:srgbClr val="16B3A3"/>
                </a:solidFill>
                <a:latin typeface="Aptos" charset="0"/>
                <a:cs typeface="Aptos" charset="0"/>
              </a:rPr>
              <a:t>02</a:t>
            </a:r>
            <a:endParaRPr lang="en-US" sz="1700" b="1">
              <a:solidFill>
                <a:srgbClr val="16B3A3"/>
              </a:solidFill>
              <a:latin typeface="Aptos" charset="0"/>
              <a:cs typeface="Aptos" charset="0"/>
            </a:endParaRPr>
          </a:p>
        </p:txBody>
      </p:sp>
      <p:sp>
        <p:nvSpPr>
          <p:cNvPr id="12" name="Text Box 11"/>
          <p:cNvSpPr txBox="1"/>
          <p:nvPr/>
        </p:nvSpPr>
        <p:spPr>
          <a:xfrm>
            <a:off x="7010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Tín hiệu trong session</a:t>
            </a:r>
            <a:endParaRPr lang="en-US" sz="1350" b="1">
              <a:solidFill>
                <a:srgbClr val="0B1F33"/>
              </a:solidFill>
              <a:latin typeface="Aptos" charset="0"/>
              <a:cs typeface="Aptos" charset="0"/>
            </a:endParaRPr>
          </a:p>
        </p:txBody>
      </p:sp>
      <p:sp>
        <p:nvSpPr>
          <p:cNvPr id="13" name="Text Box 12"/>
          <p:cNvSpPr txBox="1"/>
          <p:nvPr/>
        </p:nvSpPr>
        <p:spPr>
          <a:xfrm>
            <a:off x="6477000" y="18796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80,95% session chỉ chứa một category. Sau khi bỏ self-repeat, 87,45% chuyển tiếp liên tiếp vẫn cùng category.</a:t>
            </a:r>
            <a:endParaRPr lang="en-US" sz="1200">
              <a:solidFill>
                <a:srgbClr val="172B4D"/>
              </a:solidFill>
              <a:latin typeface="Aptos" charset="0"/>
              <a:cs typeface="Aptos" charset="0"/>
            </a:endParaRPr>
          </a:p>
        </p:txBody>
      </p:sp>
      <p:sp>
        <p:nvSpPr>
          <p:cNvPr id="14" name="Rounded Rectangle 13"/>
          <p:cNvSpPr/>
          <p:nvPr/>
        </p:nvSpPr>
        <p:spPr>
          <a:xfrm>
            <a:off x="635000" y="3467100"/>
            <a:ext cx="5334000" cy="1993900"/>
          </a:xfrm>
          <a:prstGeom prst="roundRect">
            <a:avLst/>
          </a:prstGeom>
          <a:solidFill>
            <a:srgbClr val="FFF4E4"/>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Text Box 14"/>
          <p:cNvSpPr txBox="1"/>
          <p:nvPr/>
        </p:nvSpPr>
        <p:spPr>
          <a:xfrm>
            <a:off x="838200" y="3644900"/>
            <a:ext cx="533400" cy="306705"/>
          </a:xfrm>
          <a:prstGeom prst="rect">
            <a:avLst/>
          </a:prstGeom>
          <a:noFill/>
        </p:spPr>
        <p:txBody>
          <a:bodyPr wrap="square" lIns="0" tIns="0" rIns="0" rtlCol="0" anchor="t">
            <a:spAutoFit/>
          </a:bodyPr>
          <a:p>
            <a:pPr algn="l"/>
            <a:r>
              <a:rPr lang="en-US" sz="1700" b="1">
                <a:solidFill>
                  <a:srgbClr val="FF9F43"/>
                </a:solidFill>
                <a:latin typeface="Aptos" charset="0"/>
                <a:cs typeface="Aptos" charset="0"/>
              </a:rPr>
              <a:t>03</a:t>
            </a:r>
            <a:endParaRPr lang="en-US" sz="1700" b="1">
              <a:solidFill>
                <a:srgbClr val="FF9F43"/>
              </a:solidFill>
              <a:latin typeface="Aptos" charset="0"/>
              <a:cs typeface="Aptos" charset="0"/>
            </a:endParaRPr>
          </a:p>
        </p:txBody>
      </p:sp>
      <p:sp>
        <p:nvSpPr>
          <p:cNvPr id="16" name="Text Box 15"/>
          <p:cNvSpPr txBox="1"/>
          <p:nvPr/>
        </p:nvSpPr>
        <p:spPr>
          <a:xfrm>
            <a:off x="1422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So với ngẫu nhiên</a:t>
            </a:r>
            <a:endParaRPr lang="en-US" sz="1350" b="1">
              <a:solidFill>
                <a:srgbClr val="0B1F33"/>
              </a:solidFill>
              <a:latin typeface="Aptos" charset="0"/>
              <a:cs typeface="Aptos" charset="0"/>
            </a:endParaRPr>
          </a:p>
        </p:txBody>
      </p:sp>
      <p:sp>
        <p:nvSpPr>
          <p:cNvPr id="17" name="Text Box 16"/>
          <p:cNvSpPr txBox="1"/>
          <p:nvPr/>
        </p:nvSpPr>
        <p:spPr>
          <a:xfrm>
            <a:off x="889000" y="41275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Baseline ngẫu nhiên chỉ đạt 1,08%. Category vì vậy phản ánh cấu trúc hành vi thực, không chỉ là nhãn metadata.</a:t>
            </a:r>
            <a:endParaRPr lang="en-US" sz="1200">
              <a:solidFill>
                <a:srgbClr val="172B4D"/>
              </a:solidFill>
              <a:latin typeface="Aptos" charset="0"/>
              <a:cs typeface="Aptos" charset="0"/>
            </a:endParaRPr>
          </a:p>
        </p:txBody>
      </p:sp>
      <p:sp>
        <p:nvSpPr>
          <p:cNvPr id="18" name="Rounded Rectangle 17"/>
          <p:cNvSpPr/>
          <p:nvPr/>
        </p:nvSpPr>
        <p:spPr>
          <a:xfrm>
            <a:off x="6223000" y="3467100"/>
            <a:ext cx="5334000" cy="1993900"/>
          </a:xfrm>
          <a:prstGeom prst="roundRect">
            <a:avLst/>
          </a:prstGeom>
          <a:solidFill>
            <a:srgbClr val="F4F7FB"/>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9" name="Text Box 18"/>
          <p:cNvSpPr txBox="1"/>
          <p:nvPr/>
        </p:nvSpPr>
        <p:spPr>
          <a:xfrm>
            <a:off x="6426200" y="3644900"/>
            <a:ext cx="533400" cy="306705"/>
          </a:xfrm>
          <a:prstGeom prst="rect">
            <a:avLst/>
          </a:prstGeom>
          <a:noFill/>
        </p:spPr>
        <p:txBody>
          <a:bodyPr wrap="square" lIns="0" tIns="0" rIns="0" rtlCol="0" anchor="t">
            <a:spAutoFit/>
          </a:bodyPr>
          <a:p>
            <a:pPr algn="l"/>
            <a:r>
              <a:rPr lang="en-US" sz="1700" b="1">
                <a:solidFill>
                  <a:srgbClr val="E45756"/>
                </a:solidFill>
                <a:latin typeface="Aptos" charset="0"/>
                <a:cs typeface="Aptos" charset="0"/>
              </a:rPr>
              <a:t>04</a:t>
            </a:r>
            <a:endParaRPr lang="en-US" sz="1700" b="1">
              <a:solidFill>
                <a:srgbClr val="E45756"/>
              </a:solidFill>
              <a:latin typeface="Aptos" charset="0"/>
              <a:cs typeface="Aptos" charset="0"/>
            </a:endParaRPr>
          </a:p>
        </p:txBody>
      </p:sp>
      <p:sp>
        <p:nvSpPr>
          <p:cNvPr id="20" name="Text Box 19"/>
          <p:cNvSpPr txBox="1"/>
          <p:nvPr/>
        </p:nvSpPr>
        <p:spPr>
          <a:xfrm>
            <a:off x="7010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Dùng ở bước embedding</a:t>
            </a:r>
            <a:endParaRPr lang="en-US" sz="1350" b="1">
              <a:solidFill>
                <a:srgbClr val="0B1F33"/>
              </a:solidFill>
              <a:latin typeface="Aptos" charset="0"/>
              <a:cs typeface="Aptos" charset="0"/>
            </a:endParaRPr>
          </a:p>
        </p:txBody>
      </p:sp>
      <p:sp>
        <p:nvSpPr>
          <p:cNvPr id="21" name="Text Box 20"/>
          <p:cNvSpPr txBox="1"/>
          <p:nvPr/>
        </p:nvSpPr>
        <p:spPr>
          <a:xfrm>
            <a:off x="6477000" y="41275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Sau huấn luyện sẽ so sánh cosine của cặp cùng/khác category. Phải cân bằng category để category lớn không thống trị kết quả.</a:t>
            </a:r>
            <a:endParaRPr lang="en-US" sz="1200">
              <a:solidFill>
                <a:srgbClr val="172B4D"/>
              </a:solidFill>
              <a:latin typeface="Aptos" charset="0"/>
              <a:cs typeface="Aptos" charset="0"/>
            </a:endParaRPr>
          </a:p>
        </p:txBody>
      </p:sp>
      <p:sp>
        <p:nvSpPr>
          <p:cNvPr id="22" name="Rounded Rectangle 21"/>
          <p:cNvSpPr/>
          <p:nvPr/>
        </p:nvSpPr>
        <p:spPr>
          <a:xfrm>
            <a:off x="2286000" y="5651500"/>
            <a:ext cx="7620000" cy="533400"/>
          </a:xfrm>
          <a:prstGeom prst="roundRect">
            <a:avLst/>
          </a:prstGeom>
          <a:solidFill>
            <a:srgbClr val="E4F8F5"/>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3" name="Text Box 22"/>
          <p:cNvSpPr txBox="1"/>
          <p:nvPr/>
        </p:nvSpPr>
        <p:spPr>
          <a:xfrm>
            <a:off x="2540000" y="5778500"/>
            <a:ext cx="7112000" cy="408305"/>
          </a:xfrm>
          <a:prstGeom prst="rect">
            <a:avLst/>
          </a:prstGeom>
          <a:noFill/>
        </p:spPr>
        <p:txBody>
          <a:bodyPr wrap="square" lIns="0" tIns="0" rIns="0" rtlCol="0" anchor="t">
            <a:spAutoFit/>
          </a:bodyPr>
          <a:p>
            <a:pPr algn="ctr"/>
            <a:r>
              <a:rPr lang="en-US" sz="1180" b="1">
                <a:solidFill>
                  <a:srgbClr val="16B3A3"/>
                </a:solidFill>
                <a:latin typeface="Aptos" charset="0"/>
                <a:cs typeface="Aptos" charset="0"/>
              </a:rPr>
              <a:t>Tuổi item và frequency có Spearman 0,504 nên quan hệ frequency–norm không được diễn giải là nhân quả.</a:t>
            </a:r>
            <a:endParaRPr lang="en-US" sz="1180" b="1">
              <a:solidFill>
                <a:srgbClr val="16B3A3"/>
              </a:solidFill>
              <a:latin typeface="Aptos" charset="0"/>
              <a:cs typeface="Aptos"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2000" cy="68580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Rectangle 2"/>
          <p:cNvSpPr/>
          <p:nvPr/>
        </p:nvSpPr>
        <p:spPr>
          <a:xfrm>
            <a:off x="0" y="0"/>
            <a:ext cx="177800" cy="6858000"/>
          </a:xfrm>
          <a:prstGeom prst="rect">
            <a:avLst/>
          </a:prstGeom>
          <a:solidFill>
            <a:srgbClr val="2F6B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ext Box 3"/>
          <p:cNvSpPr txBox="1"/>
          <p:nvPr/>
        </p:nvSpPr>
        <p:spPr>
          <a:xfrm>
            <a:off x="635000" y="355600"/>
            <a:ext cx="10922000" cy="437515"/>
          </a:xfrm>
          <a:prstGeom prst="rect">
            <a:avLst/>
          </a:prstGeom>
          <a:noFill/>
        </p:spPr>
        <p:txBody>
          <a:bodyPr wrap="square" lIns="0" tIns="0" rIns="0" rtlCol="0" anchor="t">
            <a:spAutoFit/>
          </a:bodyPr>
          <a:p>
            <a:pPr algn="l"/>
            <a:r>
              <a:rPr lang="en-US" sz="2550" b="1">
                <a:solidFill>
                  <a:srgbClr val="0B1F33"/>
                </a:solidFill>
                <a:latin typeface="Aptos" charset="0"/>
                <a:cs typeface="Aptos" charset="0"/>
              </a:rPr>
              <a:t>Biểu đồ 4: độ nhạy theo minimum item frequency</a:t>
            </a:r>
            <a:endParaRPr lang="en-US" sz="2550" b="1">
              <a:solidFill>
                <a:srgbClr val="0B1F33"/>
              </a:solidFill>
              <a:latin typeface="Aptos" charset="0"/>
              <a:cs typeface="Aptos" charset="0"/>
            </a:endParaRPr>
          </a:p>
        </p:txBody>
      </p:sp>
      <p:sp>
        <p:nvSpPr>
          <p:cNvPr id="5" name="Text Box 4"/>
          <p:cNvSpPr txBox="1"/>
          <p:nvPr/>
        </p:nvSpPr>
        <p:spPr>
          <a:xfrm>
            <a:off x="10515600" y="6477000"/>
            <a:ext cx="1016000" cy="207010"/>
          </a:xfrm>
          <a:prstGeom prst="rect">
            <a:avLst/>
          </a:prstGeom>
          <a:noFill/>
        </p:spPr>
        <p:txBody>
          <a:bodyPr wrap="square" lIns="0" tIns="0" rIns="0" rtlCol="0" anchor="t">
            <a:spAutoFit/>
          </a:bodyPr>
          <a:p>
            <a:pPr algn="r"/>
            <a:r>
              <a:rPr lang="en-US" sz="1050" b="1">
                <a:solidFill>
                  <a:srgbClr val="2F6BFF"/>
                </a:solidFill>
                <a:latin typeface="Aptos" charset="0"/>
                <a:cs typeface="Aptos" charset="0"/>
              </a:rPr>
              <a:t>16 / 25</a:t>
            </a:r>
            <a:endParaRPr lang="en-US" sz="1050" b="1">
              <a:solidFill>
                <a:srgbClr val="2F6BFF"/>
              </a:solidFill>
              <a:latin typeface="Aptos" charset="0"/>
              <a:cs typeface="Aptos" charset="0"/>
            </a:endParaRPr>
          </a:p>
        </p:txBody>
      </p:sp>
      <p:pic>
        <p:nvPicPr>
          <p:cNvPr id="6" name="Picture 5" descr="eda_frequency_threshold_tradeoff"/>
          <p:cNvPicPr>
            <a:picLocks noChangeAspect="1"/>
          </p:cNvPicPr>
          <p:nvPr/>
        </p:nvPicPr>
        <p:blipFill>
          <a:blip r:embed="rId1"/>
          <a:stretch>
            <a:fillRect/>
          </a:stretch>
        </p:blipFill>
        <p:spPr>
          <a:xfrm>
            <a:off x="3480500" y="1809323"/>
            <a:ext cx="5231000" cy="370925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2000" cy="68580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Rectangle 2"/>
          <p:cNvSpPr/>
          <p:nvPr/>
        </p:nvSpPr>
        <p:spPr>
          <a:xfrm>
            <a:off x="0" y="0"/>
            <a:ext cx="177800" cy="6858000"/>
          </a:xfrm>
          <a:prstGeom prst="rect">
            <a:avLst/>
          </a:prstGeom>
          <a:solidFill>
            <a:srgbClr val="2F6B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ext Box 3"/>
          <p:cNvSpPr txBox="1"/>
          <p:nvPr/>
        </p:nvSpPr>
        <p:spPr>
          <a:xfrm>
            <a:off x="635000" y="355600"/>
            <a:ext cx="10922000" cy="437515"/>
          </a:xfrm>
          <a:prstGeom prst="rect">
            <a:avLst/>
          </a:prstGeom>
          <a:noFill/>
        </p:spPr>
        <p:txBody>
          <a:bodyPr wrap="square" lIns="0" tIns="0" rIns="0" rtlCol="0" anchor="t">
            <a:spAutoFit/>
          </a:bodyPr>
          <a:p>
            <a:pPr algn="l"/>
            <a:r>
              <a:rPr lang="en-US" sz="2550" b="1">
                <a:solidFill>
                  <a:srgbClr val="0B1F33"/>
                </a:solidFill>
                <a:latin typeface="Aptos" charset="0"/>
                <a:cs typeface="Aptos" charset="0"/>
              </a:rPr>
              <a:t>Ngưỡng lọc tạo ra sự đánh đổi như thế nào?</a:t>
            </a:r>
            <a:endParaRPr lang="en-US" sz="2550" b="1">
              <a:solidFill>
                <a:srgbClr val="0B1F33"/>
              </a:solidFill>
              <a:latin typeface="Aptos" charset="0"/>
              <a:cs typeface="Aptos" charset="0"/>
            </a:endParaRPr>
          </a:p>
        </p:txBody>
      </p:sp>
      <p:sp>
        <p:nvSpPr>
          <p:cNvPr id="5" name="Text Box 4"/>
          <p:cNvSpPr txBox="1"/>
          <p:nvPr/>
        </p:nvSpPr>
        <p:spPr>
          <a:xfrm>
            <a:off x="10515600" y="6477000"/>
            <a:ext cx="1016000" cy="207010"/>
          </a:xfrm>
          <a:prstGeom prst="rect">
            <a:avLst/>
          </a:prstGeom>
          <a:noFill/>
        </p:spPr>
        <p:txBody>
          <a:bodyPr wrap="square" lIns="0" tIns="0" rIns="0" rtlCol="0" anchor="t">
            <a:spAutoFit/>
          </a:bodyPr>
          <a:p>
            <a:pPr algn="r"/>
            <a:r>
              <a:rPr lang="en-US" sz="1050" b="1">
                <a:solidFill>
                  <a:srgbClr val="2F6BFF"/>
                </a:solidFill>
                <a:latin typeface="Aptos" charset="0"/>
                <a:cs typeface="Aptos" charset="0"/>
              </a:rPr>
              <a:t>17 / 25</a:t>
            </a:r>
            <a:endParaRPr lang="en-US" sz="1050" b="1">
              <a:solidFill>
                <a:srgbClr val="2F6BFF"/>
              </a:solidFill>
              <a:latin typeface="Aptos" charset="0"/>
              <a:cs typeface="Aptos" charset="0"/>
            </a:endParaRPr>
          </a:p>
        </p:txBody>
      </p:sp>
      <p:sp>
        <p:nvSpPr>
          <p:cNvPr id="6" name="Rounded Rectangle 5"/>
          <p:cNvSpPr/>
          <p:nvPr/>
        </p:nvSpPr>
        <p:spPr>
          <a:xfrm>
            <a:off x="635000" y="1219200"/>
            <a:ext cx="5334000" cy="19939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 name="Text Box 6"/>
          <p:cNvSpPr txBox="1"/>
          <p:nvPr/>
        </p:nvSpPr>
        <p:spPr>
          <a:xfrm>
            <a:off x="838200" y="1397000"/>
            <a:ext cx="533400" cy="306705"/>
          </a:xfrm>
          <a:prstGeom prst="rect">
            <a:avLst/>
          </a:prstGeom>
          <a:noFill/>
        </p:spPr>
        <p:txBody>
          <a:bodyPr wrap="square" lIns="0" tIns="0" rIns="0" rtlCol="0" anchor="t">
            <a:spAutoFit/>
          </a:bodyPr>
          <a:p>
            <a:pPr algn="l"/>
            <a:r>
              <a:rPr lang="en-US" sz="1700" b="1">
                <a:solidFill>
                  <a:srgbClr val="2F6BFF"/>
                </a:solidFill>
                <a:latin typeface="Aptos" charset="0"/>
                <a:cs typeface="Aptos" charset="0"/>
              </a:rPr>
              <a:t>01</a:t>
            </a:r>
            <a:endParaRPr lang="en-US" sz="1700" b="1">
              <a:solidFill>
                <a:srgbClr val="2F6BFF"/>
              </a:solidFill>
              <a:latin typeface="Aptos" charset="0"/>
              <a:cs typeface="Aptos" charset="0"/>
            </a:endParaRPr>
          </a:p>
        </p:txBody>
      </p:sp>
      <p:sp>
        <p:nvSpPr>
          <p:cNvPr id="8" name="Text Box 7"/>
          <p:cNvSpPr txBox="1"/>
          <p:nvPr/>
        </p:nvSpPr>
        <p:spPr>
          <a:xfrm>
            <a:off x="1422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Cách đọc biểu đồ</a:t>
            </a:r>
            <a:endParaRPr lang="en-US" sz="1350" b="1">
              <a:solidFill>
                <a:srgbClr val="0B1F33"/>
              </a:solidFill>
              <a:latin typeface="Aptos" charset="0"/>
              <a:cs typeface="Aptos" charset="0"/>
            </a:endParaRPr>
          </a:p>
        </p:txBody>
      </p:sp>
      <p:sp>
        <p:nvSpPr>
          <p:cNvPr id="9" name="Text Box 8"/>
          <p:cNvSpPr txBox="1"/>
          <p:nvPr/>
        </p:nvSpPr>
        <p:spPr>
          <a:xfrm>
            <a:off x="889000" y="18796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Bốn ô lần lượt cho biết tỷ lệ event/session còn lại, kích thước item vocabulary, Gini sau lọc và tỷ lệ loại rare item khi tăng ngưỡng.</a:t>
            </a:r>
            <a:endParaRPr lang="en-US" sz="1200">
              <a:solidFill>
                <a:srgbClr val="172B4D"/>
              </a:solidFill>
              <a:latin typeface="Aptos" charset="0"/>
              <a:cs typeface="Aptos" charset="0"/>
            </a:endParaRPr>
          </a:p>
        </p:txBody>
      </p:sp>
      <p:sp>
        <p:nvSpPr>
          <p:cNvPr id="10" name="Rounded Rectangle 9"/>
          <p:cNvSpPr/>
          <p:nvPr/>
        </p:nvSpPr>
        <p:spPr>
          <a:xfrm>
            <a:off x="6223000" y="1219200"/>
            <a:ext cx="5334000" cy="1993900"/>
          </a:xfrm>
          <a:prstGeom prst="roundRect">
            <a:avLst/>
          </a:prstGeom>
          <a:solidFill>
            <a:srgbClr val="E4F8F5"/>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Text Box 10"/>
          <p:cNvSpPr txBox="1"/>
          <p:nvPr/>
        </p:nvSpPr>
        <p:spPr>
          <a:xfrm>
            <a:off x="6426200" y="1397000"/>
            <a:ext cx="533400" cy="306705"/>
          </a:xfrm>
          <a:prstGeom prst="rect">
            <a:avLst/>
          </a:prstGeom>
          <a:noFill/>
        </p:spPr>
        <p:txBody>
          <a:bodyPr wrap="square" lIns="0" tIns="0" rIns="0" rtlCol="0" anchor="t">
            <a:spAutoFit/>
          </a:bodyPr>
          <a:p>
            <a:pPr algn="l"/>
            <a:r>
              <a:rPr lang="en-US" sz="1700" b="1">
                <a:solidFill>
                  <a:srgbClr val="16B3A3"/>
                </a:solidFill>
                <a:latin typeface="Aptos" charset="0"/>
                <a:cs typeface="Aptos" charset="0"/>
              </a:rPr>
              <a:t>02</a:t>
            </a:r>
            <a:endParaRPr lang="en-US" sz="1700" b="1">
              <a:solidFill>
                <a:srgbClr val="16B3A3"/>
              </a:solidFill>
              <a:latin typeface="Aptos" charset="0"/>
              <a:cs typeface="Aptos" charset="0"/>
            </a:endParaRPr>
          </a:p>
        </p:txBody>
      </p:sp>
      <p:sp>
        <p:nvSpPr>
          <p:cNvPr id="12" name="Text Box 11"/>
          <p:cNvSpPr txBox="1"/>
          <p:nvPr/>
        </p:nvSpPr>
        <p:spPr>
          <a:xfrm>
            <a:off x="7010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Ngưỡng 2 và 3</a:t>
            </a:r>
            <a:endParaRPr lang="en-US" sz="1350" b="1">
              <a:solidFill>
                <a:srgbClr val="0B1F33"/>
              </a:solidFill>
              <a:latin typeface="Aptos" charset="0"/>
              <a:cs typeface="Aptos" charset="0"/>
            </a:endParaRPr>
          </a:p>
        </p:txBody>
      </p:sp>
      <p:sp>
        <p:nvSpPr>
          <p:cNvPr id="13" name="Text Box 12"/>
          <p:cNvSpPr txBox="1"/>
          <p:nvPr/>
        </p:nvSpPr>
        <p:spPr>
          <a:xfrm>
            <a:off x="6477000" y="18796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Ngưỡng 2 giữ 78.989 item và 88,92% event. Ngưỡng 3 giữ 60.454 item và 85,64% event.</a:t>
            </a:r>
            <a:endParaRPr lang="en-US" sz="1200">
              <a:solidFill>
                <a:srgbClr val="172B4D"/>
              </a:solidFill>
              <a:latin typeface="Aptos" charset="0"/>
              <a:cs typeface="Aptos" charset="0"/>
            </a:endParaRPr>
          </a:p>
        </p:txBody>
      </p:sp>
      <p:sp>
        <p:nvSpPr>
          <p:cNvPr id="14" name="Rounded Rectangle 13"/>
          <p:cNvSpPr/>
          <p:nvPr/>
        </p:nvSpPr>
        <p:spPr>
          <a:xfrm>
            <a:off x="635000" y="3467100"/>
            <a:ext cx="5334000" cy="1993900"/>
          </a:xfrm>
          <a:prstGeom prst="roundRect">
            <a:avLst/>
          </a:prstGeom>
          <a:solidFill>
            <a:srgbClr val="FFF4E4"/>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Text Box 14"/>
          <p:cNvSpPr txBox="1"/>
          <p:nvPr/>
        </p:nvSpPr>
        <p:spPr>
          <a:xfrm>
            <a:off x="838200" y="3644900"/>
            <a:ext cx="533400" cy="306705"/>
          </a:xfrm>
          <a:prstGeom prst="rect">
            <a:avLst/>
          </a:prstGeom>
          <a:noFill/>
        </p:spPr>
        <p:txBody>
          <a:bodyPr wrap="square" lIns="0" tIns="0" rIns="0" rtlCol="0" anchor="t">
            <a:spAutoFit/>
          </a:bodyPr>
          <a:p>
            <a:pPr algn="l"/>
            <a:r>
              <a:rPr lang="en-US" sz="1700" b="1">
                <a:solidFill>
                  <a:srgbClr val="FF9F43"/>
                </a:solidFill>
                <a:latin typeface="Aptos" charset="0"/>
                <a:cs typeface="Aptos" charset="0"/>
              </a:rPr>
              <a:t>03</a:t>
            </a:r>
            <a:endParaRPr lang="en-US" sz="1700" b="1">
              <a:solidFill>
                <a:srgbClr val="FF9F43"/>
              </a:solidFill>
              <a:latin typeface="Aptos" charset="0"/>
              <a:cs typeface="Aptos" charset="0"/>
            </a:endParaRPr>
          </a:p>
        </p:txBody>
      </p:sp>
      <p:sp>
        <p:nvSpPr>
          <p:cNvPr id="16" name="Text Box 15"/>
          <p:cNvSpPr txBox="1"/>
          <p:nvPr/>
        </p:nvSpPr>
        <p:spPr>
          <a:xfrm>
            <a:off x="1422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Ngưỡng 5</a:t>
            </a:r>
            <a:endParaRPr lang="en-US" sz="1350" b="1">
              <a:solidFill>
                <a:srgbClr val="0B1F33"/>
              </a:solidFill>
              <a:latin typeface="Aptos" charset="0"/>
              <a:cs typeface="Aptos" charset="0"/>
            </a:endParaRPr>
          </a:p>
        </p:txBody>
      </p:sp>
      <p:sp>
        <p:nvSpPr>
          <p:cNvPr id="17" name="Text Box 16"/>
          <p:cNvSpPr txBox="1"/>
          <p:nvPr/>
        </p:nvSpPr>
        <p:spPr>
          <a:xfrm>
            <a:off x="889000" y="41275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Ngưỡng 5 giữ 42.171 item và 80,07% event, nhưng chỉ còn 34,29% catalog raw. Đây là mức cắt long-tail đáng kể.</a:t>
            </a:r>
            <a:endParaRPr lang="en-US" sz="1200">
              <a:solidFill>
                <a:srgbClr val="172B4D"/>
              </a:solidFill>
              <a:latin typeface="Aptos" charset="0"/>
              <a:cs typeface="Aptos" charset="0"/>
            </a:endParaRPr>
          </a:p>
        </p:txBody>
      </p:sp>
      <p:sp>
        <p:nvSpPr>
          <p:cNvPr id="18" name="Rounded Rectangle 17"/>
          <p:cNvSpPr/>
          <p:nvPr/>
        </p:nvSpPr>
        <p:spPr>
          <a:xfrm>
            <a:off x="6223000" y="3467100"/>
            <a:ext cx="5334000" cy="1993900"/>
          </a:xfrm>
          <a:prstGeom prst="roundRect">
            <a:avLst/>
          </a:prstGeom>
          <a:solidFill>
            <a:srgbClr val="F4F7FB"/>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9" name="Text Box 18"/>
          <p:cNvSpPr txBox="1"/>
          <p:nvPr/>
        </p:nvSpPr>
        <p:spPr>
          <a:xfrm>
            <a:off x="6426200" y="3644900"/>
            <a:ext cx="533400" cy="306705"/>
          </a:xfrm>
          <a:prstGeom prst="rect">
            <a:avLst/>
          </a:prstGeom>
          <a:noFill/>
        </p:spPr>
        <p:txBody>
          <a:bodyPr wrap="square" lIns="0" tIns="0" rIns="0" rtlCol="0" anchor="t">
            <a:spAutoFit/>
          </a:bodyPr>
          <a:p>
            <a:pPr algn="l"/>
            <a:r>
              <a:rPr lang="en-US" sz="1700" b="1">
                <a:solidFill>
                  <a:srgbClr val="E45756"/>
                </a:solidFill>
                <a:latin typeface="Aptos" charset="0"/>
                <a:cs typeface="Aptos" charset="0"/>
              </a:rPr>
              <a:t>04</a:t>
            </a:r>
            <a:endParaRPr lang="en-US" sz="1700" b="1">
              <a:solidFill>
                <a:srgbClr val="E45756"/>
              </a:solidFill>
              <a:latin typeface="Aptos" charset="0"/>
              <a:cs typeface="Aptos" charset="0"/>
            </a:endParaRPr>
          </a:p>
        </p:txBody>
      </p:sp>
      <p:sp>
        <p:nvSpPr>
          <p:cNvPr id="20" name="Text Box 19"/>
          <p:cNvSpPr txBox="1"/>
          <p:nvPr/>
        </p:nvSpPr>
        <p:spPr>
          <a:xfrm>
            <a:off x="7010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Cách kết luận đúng</a:t>
            </a:r>
            <a:endParaRPr lang="en-US" sz="1350" b="1">
              <a:solidFill>
                <a:srgbClr val="0B1F33"/>
              </a:solidFill>
              <a:latin typeface="Aptos" charset="0"/>
              <a:cs typeface="Aptos" charset="0"/>
            </a:endParaRPr>
          </a:p>
        </p:txBody>
      </p:sp>
      <p:sp>
        <p:nvSpPr>
          <p:cNvPr id="21" name="Text Box 20"/>
          <p:cNvSpPr txBox="1"/>
          <p:nvPr/>
        </p:nvSpPr>
        <p:spPr>
          <a:xfrm>
            <a:off x="6477000" y="41275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Gini giảm chủ yếu vì item tail bị loại, chưa phải giảm model bias. Ngưỡng 5 là baseline; ngưỡng 2/3 dành cho thí nghiệm độ nhạy.</a:t>
            </a:r>
            <a:endParaRPr lang="en-US" sz="1200">
              <a:solidFill>
                <a:srgbClr val="172B4D"/>
              </a:solidFill>
              <a:latin typeface="Aptos" charset="0"/>
              <a:cs typeface="Aptos" charset="0"/>
            </a:endParaRPr>
          </a:p>
        </p:txBody>
      </p:sp>
      <p:sp>
        <p:nvSpPr>
          <p:cNvPr id="22" name="Rounded Rectangle 21"/>
          <p:cNvSpPr/>
          <p:nvPr/>
        </p:nvSpPr>
        <p:spPr>
          <a:xfrm>
            <a:off x="2286000" y="5651500"/>
            <a:ext cx="7620000" cy="533400"/>
          </a:xfrm>
          <a:prstGeom prst="roundRect">
            <a:avLst/>
          </a:prstGeom>
          <a:solidFill>
            <a:srgbClr val="FFF4E4"/>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3" name="Text Box 22"/>
          <p:cNvSpPr txBox="1"/>
          <p:nvPr/>
        </p:nvSpPr>
        <p:spPr>
          <a:xfrm>
            <a:off x="2540000" y="5778500"/>
            <a:ext cx="7112000" cy="229870"/>
          </a:xfrm>
          <a:prstGeom prst="rect">
            <a:avLst/>
          </a:prstGeom>
          <a:noFill/>
        </p:spPr>
        <p:txBody>
          <a:bodyPr wrap="square" lIns="0" tIns="0" rIns="0" rtlCol="0" anchor="t">
            <a:spAutoFit/>
          </a:bodyPr>
          <a:p>
            <a:pPr algn="ctr"/>
            <a:r>
              <a:rPr lang="en-US" sz="1200" b="1">
                <a:solidFill>
                  <a:srgbClr val="E45756"/>
                </a:solidFill>
                <a:latin typeface="Aptos" charset="0"/>
                <a:cs typeface="Aptos" charset="0"/>
              </a:rPr>
              <a:t>Không tuyên bố ngưỡng 5 tối ưu; đây là baseline có giải thích và có số liệu attrition.</a:t>
            </a:r>
            <a:endParaRPr lang="en-US" sz="1200" b="1">
              <a:solidFill>
                <a:srgbClr val="E45756"/>
              </a:solidFill>
              <a:latin typeface="Aptos" charset="0"/>
              <a:cs typeface="Aptos"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2000" cy="68580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Rectangle 2"/>
          <p:cNvSpPr/>
          <p:nvPr/>
        </p:nvSpPr>
        <p:spPr>
          <a:xfrm>
            <a:off x="0" y="0"/>
            <a:ext cx="177800" cy="6858000"/>
          </a:xfrm>
          <a:prstGeom prst="rect">
            <a:avLst/>
          </a:prstGeom>
          <a:solidFill>
            <a:srgbClr val="2F6B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ext Box 3"/>
          <p:cNvSpPr txBox="1"/>
          <p:nvPr/>
        </p:nvSpPr>
        <p:spPr>
          <a:xfrm>
            <a:off x="635000" y="355600"/>
            <a:ext cx="10922000" cy="437515"/>
          </a:xfrm>
          <a:prstGeom prst="rect">
            <a:avLst/>
          </a:prstGeom>
          <a:noFill/>
        </p:spPr>
        <p:txBody>
          <a:bodyPr wrap="square" lIns="0" tIns="0" rIns="0" rtlCol="0" anchor="t">
            <a:spAutoFit/>
          </a:bodyPr>
          <a:p>
            <a:pPr algn="l"/>
            <a:r>
              <a:rPr lang="en-US" sz="2550" b="1">
                <a:solidFill>
                  <a:srgbClr val="0B1F33"/>
                </a:solidFill>
                <a:latin typeface="Aptos" charset="0"/>
                <a:cs typeface="Aptos" charset="0"/>
              </a:rPr>
              <a:t>Phần 2 — Tiền xử lý dữ liệu: đã làm những gì?</a:t>
            </a:r>
            <a:endParaRPr lang="en-US" sz="2550" b="1">
              <a:solidFill>
                <a:srgbClr val="0B1F33"/>
              </a:solidFill>
              <a:latin typeface="Aptos" charset="0"/>
              <a:cs typeface="Aptos" charset="0"/>
            </a:endParaRPr>
          </a:p>
        </p:txBody>
      </p:sp>
      <p:sp>
        <p:nvSpPr>
          <p:cNvPr id="5" name="Text Box 4"/>
          <p:cNvSpPr txBox="1"/>
          <p:nvPr/>
        </p:nvSpPr>
        <p:spPr>
          <a:xfrm>
            <a:off x="10515600" y="6477000"/>
            <a:ext cx="1016000" cy="207010"/>
          </a:xfrm>
          <a:prstGeom prst="rect">
            <a:avLst/>
          </a:prstGeom>
          <a:noFill/>
        </p:spPr>
        <p:txBody>
          <a:bodyPr wrap="square" lIns="0" tIns="0" rIns="0" rtlCol="0" anchor="t">
            <a:spAutoFit/>
          </a:bodyPr>
          <a:p>
            <a:pPr algn="r"/>
            <a:r>
              <a:rPr lang="en-US" sz="1050" b="1">
                <a:solidFill>
                  <a:srgbClr val="2F6BFF"/>
                </a:solidFill>
                <a:latin typeface="Aptos" charset="0"/>
                <a:cs typeface="Aptos" charset="0"/>
              </a:rPr>
              <a:t>18 / 25</a:t>
            </a:r>
            <a:endParaRPr lang="en-US" sz="1050" b="1">
              <a:solidFill>
                <a:srgbClr val="2F6BFF"/>
              </a:solidFill>
              <a:latin typeface="Aptos" charset="0"/>
              <a:cs typeface="Aptos" charset="0"/>
            </a:endParaRPr>
          </a:p>
        </p:txBody>
      </p:sp>
      <p:sp>
        <p:nvSpPr>
          <p:cNvPr id="6" name="Rounded Rectangle 5"/>
          <p:cNvSpPr/>
          <p:nvPr/>
        </p:nvSpPr>
        <p:spPr>
          <a:xfrm>
            <a:off x="635000" y="1219200"/>
            <a:ext cx="5334000" cy="19939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 name="Text Box 6"/>
          <p:cNvSpPr txBox="1"/>
          <p:nvPr/>
        </p:nvSpPr>
        <p:spPr>
          <a:xfrm>
            <a:off x="838200" y="1397000"/>
            <a:ext cx="533400" cy="306705"/>
          </a:xfrm>
          <a:prstGeom prst="rect">
            <a:avLst/>
          </a:prstGeom>
          <a:noFill/>
        </p:spPr>
        <p:txBody>
          <a:bodyPr wrap="square" lIns="0" tIns="0" rIns="0" rtlCol="0" anchor="t">
            <a:spAutoFit/>
          </a:bodyPr>
          <a:p>
            <a:pPr algn="l"/>
            <a:r>
              <a:rPr lang="en-US" sz="1700" b="1">
                <a:solidFill>
                  <a:srgbClr val="2F6BFF"/>
                </a:solidFill>
                <a:latin typeface="Aptos" charset="0"/>
                <a:cs typeface="Aptos" charset="0"/>
              </a:rPr>
              <a:t>01</a:t>
            </a:r>
            <a:endParaRPr lang="en-US" sz="1700" b="1">
              <a:solidFill>
                <a:srgbClr val="2F6BFF"/>
              </a:solidFill>
              <a:latin typeface="Aptos" charset="0"/>
              <a:cs typeface="Aptos" charset="0"/>
            </a:endParaRPr>
          </a:p>
        </p:txBody>
      </p:sp>
      <p:sp>
        <p:nvSpPr>
          <p:cNvPr id="8" name="Text Box 7"/>
          <p:cNvSpPr txBox="1"/>
          <p:nvPr/>
        </p:nvSpPr>
        <p:spPr>
          <a:xfrm>
            <a:off x="1422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Khôi phục chuỗi</a:t>
            </a:r>
            <a:endParaRPr lang="en-US" sz="1350" b="1">
              <a:solidFill>
                <a:srgbClr val="0B1F33"/>
              </a:solidFill>
              <a:latin typeface="Aptos" charset="0"/>
              <a:cs typeface="Aptos" charset="0"/>
            </a:endParaRPr>
          </a:p>
        </p:txBody>
      </p:sp>
      <p:sp>
        <p:nvSpPr>
          <p:cNvPr id="9" name="Text Box 8"/>
          <p:cNvSpPr txBox="1"/>
          <p:nvPr/>
        </p:nvSpPr>
        <p:spPr>
          <a:xfrm>
            <a:off x="889000" y="18796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Sai thứ tự raw được xử lý bằng stable sort. Session length 1 bị loại vì không có target; click lặp được giữ vì có thể là tín hiệu hành vi thật.</a:t>
            </a:r>
            <a:endParaRPr lang="en-US" sz="1200">
              <a:solidFill>
                <a:srgbClr val="172B4D"/>
              </a:solidFill>
              <a:latin typeface="Aptos" charset="0"/>
              <a:cs typeface="Aptos" charset="0"/>
            </a:endParaRPr>
          </a:p>
        </p:txBody>
      </p:sp>
      <p:sp>
        <p:nvSpPr>
          <p:cNvPr id="10" name="Rounded Rectangle 9"/>
          <p:cNvSpPr/>
          <p:nvPr/>
        </p:nvSpPr>
        <p:spPr>
          <a:xfrm>
            <a:off x="6223000" y="1219200"/>
            <a:ext cx="5334000" cy="1993900"/>
          </a:xfrm>
          <a:prstGeom prst="roundRect">
            <a:avLst/>
          </a:prstGeom>
          <a:solidFill>
            <a:srgbClr val="E4F8F5"/>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Text Box 10"/>
          <p:cNvSpPr txBox="1"/>
          <p:nvPr/>
        </p:nvSpPr>
        <p:spPr>
          <a:xfrm>
            <a:off x="6426200" y="1397000"/>
            <a:ext cx="533400" cy="306705"/>
          </a:xfrm>
          <a:prstGeom prst="rect">
            <a:avLst/>
          </a:prstGeom>
          <a:noFill/>
        </p:spPr>
        <p:txBody>
          <a:bodyPr wrap="square" lIns="0" tIns="0" rIns="0" rtlCol="0" anchor="t">
            <a:spAutoFit/>
          </a:bodyPr>
          <a:p>
            <a:pPr algn="l"/>
            <a:r>
              <a:rPr lang="en-US" sz="1700" b="1">
                <a:solidFill>
                  <a:srgbClr val="16B3A3"/>
                </a:solidFill>
                <a:latin typeface="Aptos" charset="0"/>
                <a:cs typeface="Aptos" charset="0"/>
              </a:rPr>
              <a:t>02</a:t>
            </a:r>
            <a:endParaRPr lang="en-US" sz="1700" b="1">
              <a:solidFill>
                <a:srgbClr val="16B3A3"/>
              </a:solidFill>
              <a:latin typeface="Aptos" charset="0"/>
              <a:cs typeface="Aptos" charset="0"/>
            </a:endParaRPr>
          </a:p>
        </p:txBody>
      </p:sp>
      <p:sp>
        <p:nvSpPr>
          <p:cNvPr id="12" name="Text Box 11"/>
          <p:cNvSpPr txBox="1"/>
          <p:nvPr/>
        </p:nvSpPr>
        <p:spPr>
          <a:xfrm>
            <a:off x="7010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Kiểm soát thời gian</a:t>
            </a:r>
            <a:endParaRPr lang="en-US" sz="1350" b="1">
              <a:solidFill>
                <a:srgbClr val="0B1F33"/>
              </a:solidFill>
              <a:latin typeface="Aptos" charset="0"/>
              <a:cs typeface="Aptos" charset="0"/>
            </a:endParaRPr>
          </a:p>
        </p:txBody>
      </p:sp>
      <p:sp>
        <p:nvSpPr>
          <p:cNvPr id="13" name="Text Box 12"/>
          <p:cNvSpPr txBox="1"/>
          <p:nvPr/>
        </p:nvSpPr>
        <p:spPr>
          <a:xfrm>
            <a:off x="6477000" y="18796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Session qua nửa đêm được giữ nguyên. Toàn bộ session được gán split theo ngày event cuối để tránh cắt session và hạn chế temporal leakage.</a:t>
            </a:r>
            <a:endParaRPr lang="en-US" sz="1200">
              <a:solidFill>
                <a:srgbClr val="172B4D"/>
              </a:solidFill>
              <a:latin typeface="Aptos" charset="0"/>
              <a:cs typeface="Aptos" charset="0"/>
            </a:endParaRPr>
          </a:p>
        </p:txBody>
      </p:sp>
      <p:sp>
        <p:nvSpPr>
          <p:cNvPr id="14" name="Rounded Rectangle 13"/>
          <p:cNvSpPr/>
          <p:nvPr/>
        </p:nvSpPr>
        <p:spPr>
          <a:xfrm>
            <a:off x="635000" y="3467100"/>
            <a:ext cx="5334000" cy="1993900"/>
          </a:xfrm>
          <a:prstGeom prst="roundRect">
            <a:avLst/>
          </a:prstGeom>
          <a:solidFill>
            <a:srgbClr val="FFF4E4"/>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Text Box 14"/>
          <p:cNvSpPr txBox="1"/>
          <p:nvPr/>
        </p:nvSpPr>
        <p:spPr>
          <a:xfrm>
            <a:off x="838200" y="3644900"/>
            <a:ext cx="533400" cy="306705"/>
          </a:xfrm>
          <a:prstGeom prst="rect">
            <a:avLst/>
          </a:prstGeom>
          <a:noFill/>
        </p:spPr>
        <p:txBody>
          <a:bodyPr wrap="square" lIns="0" tIns="0" rIns="0" rtlCol="0" anchor="t">
            <a:spAutoFit/>
          </a:bodyPr>
          <a:p>
            <a:pPr algn="l"/>
            <a:r>
              <a:rPr lang="en-US" sz="1700" b="1">
                <a:solidFill>
                  <a:srgbClr val="FF9F43"/>
                </a:solidFill>
                <a:latin typeface="Aptos" charset="0"/>
                <a:cs typeface="Aptos" charset="0"/>
              </a:rPr>
              <a:t>03</a:t>
            </a:r>
            <a:endParaRPr lang="en-US" sz="1700" b="1">
              <a:solidFill>
                <a:srgbClr val="FF9F43"/>
              </a:solidFill>
              <a:latin typeface="Aptos" charset="0"/>
              <a:cs typeface="Aptos" charset="0"/>
            </a:endParaRPr>
          </a:p>
        </p:txBody>
      </p:sp>
      <p:sp>
        <p:nvSpPr>
          <p:cNvPr id="16" name="Text Box 15"/>
          <p:cNvSpPr txBox="1"/>
          <p:nvPr/>
        </p:nvSpPr>
        <p:spPr>
          <a:xfrm>
            <a:off x="1422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Kiểm soát sparsity</a:t>
            </a:r>
            <a:endParaRPr lang="en-US" sz="1350" b="1">
              <a:solidFill>
                <a:srgbClr val="0B1F33"/>
              </a:solidFill>
              <a:latin typeface="Aptos" charset="0"/>
              <a:cs typeface="Aptos" charset="0"/>
            </a:endParaRPr>
          </a:p>
        </p:txBody>
      </p:sp>
      <p:sp>
        <p:nvSpPr>
          <p:cNvPr id="17" name="Text Box 16"/>
          <p:cNvSpPr txBox="1"/>
          <p:nvPr/>
        </p:nvSpPr>
        <p:spPr>
          <a:xfrm>
            <a:off x="889000" y="41275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Minimum frequency bằng 5 được áp dụng lặp với minimum session length bằng 2 cho tới fixed point, vì xóa item và session tác động qua lại.</a:t>
            </a:r>
            <a:endParaRPr lang="en-US" sz="1200">
              <a:solidFill>
                <a:srgbClr val="172B4D"/>
              </a:solidFill>
              <a:latin typeface="Aptos" charset="0"/>
              <a:cs typeface="Aptos" charset="0"/>
            </a:endParaRPr>
          </a:p>
        </p:txBody>
      </p:sp>
      <p:sp>
        <p:nvSpPr>
          <p:cNvPr id="18" name="Rounded Rectangle 17"/>
          <p:cNvSpPr/>
          <p:nvPr/>
        </p:nvSpPr>
        <p:spPr>
          <a:xfrm>
            <a:off x="6223000" y="3467100"/>
            <a:ext cx="5334000" cy="1993900"/>
          </a:xfrm>
          <a:prstGeom prst="roundRect">
            <a:avLst/>
          </a:prstGeom>
          <a:solidFill>
            <a:srgbClr val="F4F7FB"/>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9" name="Text Box 18"/>
          <p:cNvSpPr txBox="1"/>
          <p:nvPr/>
        </p:nvSpPr>
        <p:spPr>
          <a:xfrm>
            <a:off x="6426200" y="3644900"/>
            <a:ext cx="533400" cy="306705"/>
          </a:xfrm>
          <a:prstGeom prst="rect">
            <a:avLst/>
          </a:prstGeom>
          <a:noFill/>
        </p:spPr>
        <p:txBody>
          <a:bodyPr wrap="square" lIns="0" tIns="0" rIns="0" rtlCol="0" anchor="t">
            <a:spAutoFit/>
          </a:bodyPr>
          <a:p>
            <a:pPr algn="l"/>
            <a:r>
              <a:rPr lang="en-US" sz="1700" b="1">
                <a:solidFill>
                  <a:srgbClr val="E45756"/>
                </a:solidFill>
                <a:latin typeface="Aptos" charset="0"/>
                <a:cs typeface="Aptos" charset="0"/>
              </a:rPr>
              <a:t>04</a:t>
            </a:r>
            <a:endParaRPr lang="en-US" sz="1700" b="1">
              <a:solidFill>
                <a:srgbClr val="E45756"/>
              </a:solidFill>
              <a:latin typeface="Aptos" charset="0"/>
              <a:cs typeface="Aptos" charset="0"/>
            </a:endParaRPr>
          </a:p>
        </p:txBody>
      </p:sp>
      <p:sp>
        <p:nvSpPr>
          <p:cNvPr id="20" name="Text Box 19"/>
          <p:cNvSpPr txBox="1"/>
          <p:nvPr/>
        </p:nvSpPr>
        <p:spPr>
          <a:xfrm>
            <a:off x="7010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Kiểm soát leakage</a:t>
            </a:r>
            <a:endParaRPr lang="en-US" sz="1350" b="1">
              <a:solidFill>
                <a:srgbClr val="0B1F33"/>
              </a:solidFill>
              <a:latin typeface="Aptos" charset="0"/>
              <a:cs typeface="Aptos" charset="0"/>
            </a:endParaRPr>
          </a:p>
        </p:txBody>
      </p:sp>
      <p:sp>
        <p:nvSpPr>
          <p:cNvPr id="21" name="Text Box 20"/>
          <p:cNvSpPr txBox="1"/>
          <p:nvPr/>
        </p:nvSpPr>
        <p:spPr>
          <a:xfrm>
            <a:off x="6477000" y="41275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Popularity group, item frequency và catalog có thể học đều được xác định từ final train. Validation/test không được dùng để đặt nhãn popularity.</a:t>
            </a:r>
            <a:endParaRPr lang="en-US" sz="1200">
              <a:solidFill>
                <a:srgbClr val="172B4D"/>
              </a:solidFill>
              <a:latin typeface="Aptos" charset="0"/>
              <a:cs typeface="Aptos" charset="0"/>
            </a:endParaRPr>
          </a:p>
        </p:txBody>
      </p:sp>
      <p:sp>
        <p:nvSpPr>
          <p:cNvPr id="22" name="Rounded Rectangle 21"/>
          <p:cNvSpPr/>
          <p:nvPr/>
        </p:nvSpPr>
        <p:spPr>
          <a:xfrm>
            <a:off x="2095500" y="5651500"/>
            <a:ext cx="8001000" cy="5334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3" name="Text Box 22"/>
          <p:cNvSpPr txBox="1"/>
          <p:nvPr/>
        </p:nvSpPr>
        <p:spPr>
          <a:xfrm>
            <a:off x="2349500" y="5791200"/>
            <a:ext cx="7493000" cy="229870"/>
          </a:xfrm>
          <a:prstGeom prst="rect">
            <a:avLst/>
          </a:prstGeom>
          <a:noFill/>
        </p:spPr>
        <p:txBody>
          <a:bodyPr wrap="square" lIns="0" tIns="0" rIns="0" rtlCol="0" anchor="t">
            <a:spAutoFit/>
          </a:bodyPr>
          <a:p>
            <a:pPr algn="ctr"/>
            <a:r>
              <a:rPr lang="en-US" sz="1200" b="1">
                <a:solidFill>
                  <a:srgbClr val="0B1F33"/>
                </a:solidFill>
                <a:latin typeface="Aptos" charset="0"/>
                <a:cs typeface="Aptos" charset="0"/>
              </a:rPr>
              <a:t>Một pipeline chung được dùng cho GRU4Rec, NARM và SASRec để so sánh công bằng.</a:t>
            </a:r>
            <a:endParaRPr lang="en-US" sz="1200" b="1">
              <a:solidFill>
                <a:srgbClr val="0B1F33"/>
              </a:solidFill>
              <a:latin typeface="Aptos" charset="0"/>
              <a:cs typeface="Aptos"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2000" cy="68580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Rectangle 2"/>
          <p:cNvSpPr/>
          <p:nvPr/>
        </p:nvSpPr>
        <p:spPr>
          <a:xfrm>
            <a:off x="0" y="0"/>
            <a:ext cx="177800" cy="6858000"/>
          </a:xfrm>
          <a:prstGeom prst="rect">
            <a:avLst/>
          </a:prstGeom>
          <a:solidFill>
            <a:srgbClr val="2F6B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ext Box 3"/>
          <p:cNvSpPr txBox="1"/>
          <p:nvPr/>
        </p:nvSpPr>
        <p:spPr>
          <a:xfrm>
            <a:off x="635000" y="355600"/>
            <a:ext cx="10922000" cy="437515"/>
          </a:xfrm>
          <a:prstGeom prst="rect">
            <a:avLst/>
          </a:prstGeom>
          <a:noFill/>
        </p:spPr>
        <p:txBody>
          <a:bodyPr wrap="square" lIns="0" tIns="0" rIns="0" rtlCol="0" anchor="t">
            <a:spAutoFit/>
          </a:bodyPr>
          <a:p>
            <a:pPr algn="l"/>
            <a:r>
              <a:rPr lang="en-US" sz="2550" b="1">
                <a:solidFill>
                  <a:srgbClr val="0B1F33"/>
                </a:solidFill>
                <a:latin typeface="Aptos" charset="0"/>
                <a:cs typeface="Aptos" charset="0"/>
              </a:rPr>
              <a:t>Biểu đồ 5: số event theo ngày và ranh giới temporal split</a:t>
            </a:r>
            <a:endParaRPr lang="en-US" sz="2550" b="1">
              <a:solidFill>
                <a:srgbClr val="0B1F33"/>
              </a:solidFill>
              <a:latin typeface="Aptos" charset="0"/>
              <a:cs typeface="Aptos" charset="0"/>
            </a:endParaRPr>
          </a:p>
        </p:txBody>
      </p:sp>
      <p:sp>
        <p:nvSpPr>
          <p:cNvPr id="5" name="Text Box 4"/>
          <p:cNvSpPr txBox="1"/>
          <p:nvPr/>
        </p:nvSpPr>
        <p:spPr>
          <a:xfrm>
            <a:off x="10515600" y="6477000"/>
            <a:ext cx="1016000" cy="207010"/>
          </a:xfrm>
          <a:prstGeom prst="rect">
            <a:avLst/>
          </a:prstGeom>
          <a:noFill/>
        </p:spPr>
        <p:txBody>
          <a:bodyPr wrap="square" lIns="0" tIns="0" rIns="0" rtlCol="0" anchor="t">
            <a:spAutoFit/>
          </a:bodyPr>
          <a:p>
            <a:pPr algn="r"/>
            <a:r>
              <a:rPr lang="en-US" sz="1050" b="1">
                <a:solidFill>
                  <a:srgbClr val="2F6BFF"/>
                </a:solidFill>
                <a:latin typeface="Aptos" charset="0"/>
                <a:cs typeface="Aptos" charset="0"/>
              </a:rPr>
              <a:t>19 / 25</a:t>
            </a:r>
            <a:endParaRPr lang="en-US" sz="1050" b="1">
              <a:solidFill>
                <a:srgbClr val="2F6BFF"/>
              </a:solidFill>
              <a:latin typeface="Aptos" charset="0"/>
              <a:cs typeface="Aptos" charset="0"/>
            </a:endParaRPr>
          </a:p>
        </p:txBody>
      </p:sp>
      <p:pic>
        <p:nvPicPr>
          <p:cNvPr id="6" name="Picture 5" descr="preprocessing_temporal_split"/>
          <p:cNvPicPr>
            <a:picLocks noChangeAspect="1"/>
          </p:cNvPicPr>
          <p:nvPr/>
        </p:nvPicPr>
        <p:blipFill>
          <a:blip r:embed="rId1"/>
          <a:stretch>
            <a:fillRect/>
          </a:stretch>
        </p:blipFill>
        <p:spPr>
          <a:xfrm>
            <a:off x="27420" y="1371342"/>
            <a:ext cx="12137160" cy="422961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2000" cy="68580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Rectangle 2"/>
          <p:cNvSpPr/>
          <p:nvPr/>
        </p:nvSpPr>
        <p:spPr>
          <a:xfrm>
            <a:off x="0" y="0"/>
            <a:ext cx="177800" cy="6858000"/>
          </a:xfrm>
          <a:prstGeom prst="rect">
            <a:avLst/>
          </a:prstGeom>
          <a:solidFill>
            <a:srgbClr val="2F6B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ext Box 3"/>
          <p:cNvSpPr txBox="1"/>
          <p:nvPr/>
        </p:nvSpPr>
        <p:spPr>
          <a:xfrm>
            <a:off x="635000" y="355600"/>
            <a:ext cx="10922000" cy="437515"/>
          </a:xfrm>
          <a:prstGeom prst="rect">
            <a:avLst/>
          </a:prstGeom>
          <a:noFill/>
        </p:spPr>
        <p:txBody>
          <a:bodyPr wrap="square" lIns="0" tIns="0" rIns="0" rtlCol="0" anchor="t">
            <a:spAutoFit/>
          </a:bodyPr>
          <a:p>
            <a:pPr algn="l"/>
            <a:r>
              <a:rPr lang="en-US" sz="2550" b="1">
                <a:solidFill>
                  <a:srgbClr val="0B1F33"/>
                </a:solidFill>
                <a:latin typeface="Aptos" charset="0"/>
                <a:cs typeface="Aptos" charset="0"/>
              </a:rPr>
              <a:t>Biểu đồ temporal split cần được hiểu như thế nào?</a:t>
            </a:r>
            <a:endParaRPr lang="en-US" sz="2550" b="1">
              <a:solidFill>
                <a:srgbClr val="0B1F33"/>
              </a:solidFill>
              <a:latin typeface="Aptos" charset="0"/>
              <a:cs typeface="Aptos" charset="0"/>
            </a:endParaRPr>
          </a:p>
        </p:txBody>
      </p:sp>
      <p:sp>
        <p:nvSpPr>
          <p:cNvPr id="5" name="Text Box 4"/>
          <p:cNvSpPr txBox="1"/>
          <p:nvPr/>
        </p:nvSpPr>
        <p:spPr>
          <a:xfrm>
            <a:off x="10515600" y="6477000"/>
            <a:ext cx="1016000" cy="207010"/>
          </a:xfrm>
          <a:prstGeom prst="rect">
            <a:avLst/>
          </a:prstGeom>
          <a:noFill/>
        </p:spPr>
        <p:txBody>
          <a:bodyPr wrap="square" lIns="0" tIns="0" rIns="0" rtlCol="0" anchor="t">
            <a:spAutoFit/>
          </a:bodyPr>
          <a:p>
            <a:pPr algn="r"/>
            <a:r>
              <a:rPr lang="en-US" sz="1050" b="1">
                <a:solidFill>
                  <a:srgbClr val="2F6BFF"/>
                </a:solidFill>
                <a:latin typeface="Aptos" charset="0"/>
                <a:cs typeface="Aptos" charset="0"/>
              </a:rPr>
              <a:t>20 / 25</a:t>
            </a:r>
            <a:endParaRPr lang="en-US" sz="1050" b="1">
              <a:solidFill>
                <a:srgbClr val="2F6BFF"/>
              </a:solidFill>
              <a:latin typeface="Aptos" charset="0"/>
              <a:cs typeface="Aptos" charset="0"/>
            </a:endParaRPr>
          </a:p>
        </p:txBody>
      </p:sp>
      <p:sp>
        <p:nvSpPr>
          <p:cNvPr id="6" name="Rounded Rectangle 5"/>
          <p:cNvSpPr/>
          <p:nvPr/>
        </p:nvSpPr>
        <p:spPr>
          <a:xfrm>
            <a:off x="635000" y="1219200"/>
            <a:ext cx="5334000" cy="19939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 name="Text Box 6"/>
          <p:cNvSpPr txBox="1"/>
          <p:nvPr/>
        </p:nvSpPr>
        <p:spPr>
          <a:xfrm>
            <a:off x="838200" y="1397000"/>
            <a:ext cx="533400" cy="306705"/>
          </a:xfrm>
          <a:prstGeom prst="rect">
            <a:avLst/>
          </a:prstGeom>
          <a:noFill/>
        </p:spPr>
        <p:txBody>
          <a:bodyPr wrap="square" lIns="0" tIns="0" rIns="0" rtlCol="0" anchor="t">
            <a:spAutoFit/>
          </a:bodyPr>
          <a:p>
            <a:pPr algn="l"/>
            <a:r>
              <a:rPr lang="en-US" sz="1700" b="1">
                <a:solidFill>
                  <a:srgbClr val="2F6BFF"/>
                </a:solidFill>
                <a:latin typeface="Aptos" charset="0"/>
                <a:cs typeface="Aptos" charset="0"/>
              </a:rPr>
              <a:t>01</a:t>
            </a:r>
            <a:endParaRPr lang="en-US" sz="1700" b="1">
              <a:solidFill>
                <a:srgbClr val="2F6BFF"/>
              </a:solidFill>
              <a:latin typeface="Aptos" charset="0"/>
              <a:cs typeface="Aptos" charset="0"/>
            </a:endParaRPr>
          </a:p>
        </p:txBody>
      </p:sp>
      <p:sp>
        <p:nvSpPr>
          <p:cNvPr id="8" name="Text Box 7"/>
          <p:cNvSpPr txBox="1"/>
          <p:nvPr/>
        </p:nvSpPr>
        <p:spPr>
          <a:xfrm>
            <a:off x="1422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Cách đọc biểu đồ</a:t>
            </a:r>
            <a:endParaRPr lang="en-US" sz="1350" b="1">
              <a:solidFill>
                <a:srgbClr val="0B1F33"/>
              </a:solidFill>
              <a:latin typeface="Aptos" charset="0"/>
              <a:cs typeface="Aptos" charset="0"/>
            </a:endParaRPr>
          </a:p>
        </p:txBody>
      </p:sp>
      <p:sp>
        <p:nvSpPr>
          <p:cNvPr id="9" name="Text Box 8"/>
          <p:cNvSpPr txBox="1"/>
          <p:nvPr/>
        </p:nvSpPr>
        <p:spPr>
          <a:xfrm>
            <a:off x="889000" y="18796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Đường xanh biểu diễn số event theo ngày. Hai đường dọc đánh dấu thời điểm bắt đầu validation và test.</a:t>
            </a:r>
            <a:endParaRPr lang="en-US" sz="1200">
              <a:solidFill>
                <a:srgbClr val="172B4D"/>
              </a:solidFill>
              <a:latin typeface="Aptos" charset="0"/>
              <a:cs typeface="Aptos" charset="0"/>
            </a:endParaRPr>
          </a:p>
        </p:txBody>
      </p:sp>
      <p:sp>
        <p:nvSpPr>
          <p:cNvPr id="10" name="Rounded Rectangle 9"/>
          <p:cNvSpPr/>
          <p:nvPr/>
        </p:nvSpPr>
        <p:spPr>
          <a:xfrm>
            <a:off x="6223000" y="1219200"/>
            <a:ext cx="5334000" cy="1993900"/>
          </a:xfrm>
          <a:prstGeom prst="roundRect">
            <a:avLst/>
          </a:prstGeom>
          <a:solidFill>
            <a:srgbClr val="E4F8F5"/>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Text Box 10"/>
          <p:cNvSpPr txBox="1"/>
          <p:nvPr/>
        </p:nvSpPr>
        <p:spPr>
          <a:xfrm>
            <a:off x="6426200" y="1397000"/>
            <a:ext cx="533400" cy="306705"/>
          </a:xfrm>
          <a:prstGeom prst="rect">
            <a:avLst/>
          </a:prstGeom>
          <a:noFill/>
        </p:spPr>
        <p:txBody>
          <a:bodyPr wrap="square" lIns="0" tIns="0" rIns="0" rtlCol="0" anchor="t">
            <a:spAutoFit/>
          </a:bodyPr>
          <a:p>
            <a:pPr algn="l"/>
            <a:r>
              <a:rPr lang="en-US" sz="1700" b="1">
                <a:solidFill>
                  <a:srgbClr val="16B3A3"/>
                </a:solidFill>
                <a:latin typeface="Aptos" charset="0"/>
                <a:cs typeface="Aptos" charset="0"/>
              </a:rPr>
              <a:t>02</a:t>
            </a:r>
            <a:endParaRPr lang="en-US" sz="1700" b="1">
              <a:solidFill>
                <a:srgbClr val="16B3A3"/>
              </a:solidFill>
              <a:latin typeface="Aptos" charset="0"/>
              <a:cs typeface="Aptos" charset="0"/>
            </a:endParaRPr>
          </a:p>
        </p:txBody>
      </p:sp>
      <p:sp>
        <p:nvSpPr>
          <p:cNvPr id="12" name="Text Box 11"/>
          <p:cNvSpPr txBox="1"/>
          <p:nvPr/>
        </p:nvSpPr>
        <p:spPr>
          <a:xfrm>
            <a:off x="7010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Các mốc thời gian</a:t>
            </a:r>
            <a:endParaRPr lang="en-US" sz="1350" b="1">
              <a:solidFill>
                <a:srgbClr val="0B1F33"/>
              </a:solidFill>
              <a:latin typeface="Aptos" charset="0"/>
              <a:cs typeface="Aptos" charset="0"/>
            </a:endParaRPr>
          </a:p>
        </p:txBody>
      </p:sp>
      <p:sp>
        <p:nvSpPr>
          <p:cNvPr id="13" name="Text Box 12"/>
          <p:cNvSpPr txBox="1"/>
          <p:nvPr/>
        </p:nvSpPr>
        <p:spPr>
          <a:xfrm>
            <a:off x="6477000" y="18796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Train dùng session kết thúc từ 01/01–18/05/2016; validation là 19/05–25/05; test là 26/05–01/06.</a:t>
            </a:r>
            <a:endParaRPr lang="en-US" sz="1200">
              <a:solidFill>
                <a:srgbClr val="172B4D"/>
              </a:solidFill>
              <a:latin typeface="Aptos" charset="0"/>
              <a:cs typeface="Aptos" charset="0"/>
            </a:endParaRPr>
          </a:p>
        </p:txBody>
      </p:sp>
      <p:sp>
        <p:nvSpPr>
          <p:cNvPr id="14" name="Rounded Rectangle 13"/>
          <p:cNvSpPr/>
          <p:nvPr/>
        </p:nvSpPr>
        <p:spPr>
          <a:xfrm>
            <a:off x="635000" y="3467100"/>
            <a:ext cx="5334000" cy="1993900"/>
          </a:xfrm>
          <a:prstGeom prst="roundRect">
            <a:avLst/>
          </a:prstGeom>
          <a:solidFill>
            <a:srgbClr val="FFF4E4"/>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Text Box 14"/>
          <p:cNvSpPr txBox="1"/>
          <p:nvPr/>
        </p:nvSpPr>
        <p:spPr>
          <a:xfrm>
            <a:off x="838200" y="3644900"/>
            <a:ext cx="533400" cy="306705"/>
          </a:xfrm>
          <a:prstGeom prst="rect">
            <a:avLst/>
          </a:prstGeom>
          <a:noFill/>
        </p:spPr>
        <p:txBody>
          <a:bodyPr wrap="square" lIns="0" tIns="0" rIns="0" rtlCol="0" anchor="t">
            <a:spAutoFit/>
          </a:bodyPr>
          <a:p>
            <a:pPr algn="l"/>
            <a:r>
              <a:rPr lang="en-US" sz="1700" b="1">
                <a:solidFill>
                  <a:srgbClr val="FF9F43"/>
                </a:solidFill>
                <a:latin typeface="Aptos" charset="0"/>
                <a:cs typeface="Aptos" charset="0"/>
              </a:rPr>
              <a:t>03</a:t>
            </a:r>
            <a:endParaRPr lang="en-US" sz="1700" b="1">
              <a:solidFill>
                <a:srgbClr val="FF9F43"/>
              </a:solidFill>
              <a:latin typeface="Aptos" charset="0"/>
              <a:cs typeface="Aptos" charset="0"/>
            </a:endParaRPr>
          </a:p>
        </p:txBody>
      </p:sp>
      <p:sp>
        <p:nvSpPr>
          <p:cNvPr id="16" name="Text Box 15"/>
          <p:cNvSpPr txBox="1"/>
          <p:nvPr/>
        </p:nvSpPr>
        <p:spPr>
          <a:xfrm>
            <a:off x="1422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Tại sao chia theo session?</a:t>
            </a:r>
            <a:endParaRPr lang="en-US" sz="1350" b="1">
              <a:solidFill>
                <a:srgbClr val="0B1F33"/>
              </a:solidFill>
              <a:latin typeface="Aptos" charset="0"/>
              <a:cs typeface="Aptos" charset="0"/>
            </a:endParaRPr>
          </a:p>
        </p:txBody>
      </p:sp>
      <p:sp>
        <p:nvSpPr>
          <p:cNvPr id="17" name="Text Box 16"/>
          <p:cNvSpPr txBox="1"/>
          <p:nvPr/>
        </p:nvSpPr>
        <p:spPr>
          <a:xfrm>
            <a:off x="889000" y="41275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Gán split theo ngày của event cuối giúp giữ nguyên chuỗi và tránh một session xuất hiện ở hai tập. Ba tập không trùng session.</a:t>
            </a:r>
            <a:endParaRPr lang="en-US" sz="1200">
              <a:solidFill>
                <a:srgbClr val="172B4D"/>
              </a:solidFill>
              <a:latin typeface="Aptos" charset="0"/>
              <a:cs typeface="Aptos" charset="0"/>
            </a:endParaRPr>
          </a:p>
        </p:txBody>
      </p:sp>
      <p:sp>
        <p:nvSpPr>
          <p:cNvPr id="18" name="Rounded Rectangle 17"/>
          <p:cNvSpPr/>
          <p:nvPr/>
        </p:nvSpPr>
        <p:spPr>
          <a:xfrm>
            <a:off x="6223000" y="3467100"/>
            <a:ext cx="5334000" cy="1993900"/>
          </a:xfrm>
          <a:prstGeom prst="roundRect">
            <a:avLst/>
          </a:prstGeom>
          <a:solidFill>
            <a:srgbClr val="F4F7FB"/>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9" name="Text Box 18"/>
          <p:cNvSpPr txBox="1"/>
          <p:nvPr/>
        </p:nvSpPr>
        <p:spPr>
          <a:xfrm>
            <a:off x="6426200" y="3644900"/>
            <a:ext cx="533400" cy="306705"/>
          </a:xfrm>
          <a:prstGeom prst="rect">
            <a:avLst/>
          </a:prstGeom>
          <a:noFill/>
        </p:spPr>
        <p:txBody>
          <a:bodyPr wrap="square" lIns="0" tIns="0" rIns="0" rtlCol="0" anchor="t">
            <a:spAutoFit/>
          </a:bodyPr>
          <a:p>
            <a:pPr algn="l"/>
            <a:r>
              <a:rPr lang="en-US" sz="1700" b="1">
                <a:solidFill>
                  <a:srgbClr val="E45756"/>
                </a:solidFill>
                <a:latin typeface="Aptos" charset="0"/>
                <a:cs typeface="Aptos" charset="0"/>
              </a:rPr>
              <a:t>04</a:t>
            </a:r>
            <a:endParaRPr lang="en-US" sz="1700" b="1">
              <a:solidFill>
                <a:srgbClr val="E45756"/>
              </a:solidFill>
              <a:latin typeface="Aptos" charset="0"/>
              <a:cs typeface="Aptos" charset="0"/>
            </a:endParaRPr>
          </a:p>
        </p:txBody>
      </p:sp>
      <p:sp>
        <p:nvSpPr>
          <p:cNvPr id="20" name="Text Box 19"/>
          <p:cNvSpPr txBox="1"/>
          <p:nvPr/>
        </p:nvSpPr>
        <p:spPr>
          <a:xfrm>
            <a:off x="7010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Tại sao dùng 7 ngày?</a:t>
            </a:r>
            <a:endParaRPr lang="en-US" sz="1350" b="1">
              <a:solidFill>
                <a:srgbClr val="0B1F33"/>
              </a:solidFill>
              <a:latin typeface="Aptos" charset="0"/>
              <a:cs typeface="Aptos" charset="0"/>
            </a:endParaRPr>
          </a:p>
        </p:txBody>
      </p:sp>
      <p:sp>
        <p:nvSpPr>
          <p:cNvPr id="21" name="Text Box 20"/>
          <p:cNvSpPr txBox="1"/>
          <p:nvPr/>
        </p:nvSpPr>
        <p:spPr>
          <a:xfrm>
            <a:off x="6477000" y="41275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Mỗi cửa sổ có đủ các thứ trong tuần và vẫn còn hàng chục nghìn mẫu. Đây là baseline thiết kế, chưa được chứng minh tối ưu.</a:t>
            </a:r>
            <a:endParaRPr lang="en-US" sz="1200">
              <a:solidFill>
                <a:srgbClr val="172B4D"/>
              </a:solidFill>
              <a:latin typeface="Aptos" charset="0"/>
              <a:cs typeface="Aptos" charset="0"/>
            </a:endParaRPr>
          </a:p>
        </p:txBody>
      </p:sp>
      <p:sp>
        <p:nvSpPr>
          <p:cNvPr id="22" name="Rounded Rectangle 21"/>
          <p:cNvSpPr/>
          <p:nvPr/>
        </p:nvSpPr>
        <p:spPr>
          <a:xfrm>
            <a:off x="1905000" y="5651500"/>
            <a:ext cx="8382000" cy="5334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3" name="Text Box 22"/>
          <p:cNvSpPr txBox="1"/>
          <p:nvPr/>
        </p:nvSpPr>
        <p:spPr>
          <a:xfrm>
            <a:off x="2159000" y="5778500"/>
            <a:ext cx="7874000" cy="229870"/>
          </a:xfrm>
          <a:prstGeom prst="rect">
            <a:avLst/>
          </a:prstGeom>
          <a:noFill/>
        </p:spPr>
        <p:txBody>
          <a:bodyPr wrap="square" lIns="0" tIns="0" rIns="0" rtlCol="0" anchor="t">
            <a:spAutoFit/>
          </a:bodyPr>
          <a:p>
            <a:pPr algn="ctr"/>
            <a:r>
              <a:rPr lang="en-US" sz="1200" b="1">
                <a:solidFill>
                  <a:srgbClr val="0B1F33"/>
                </a:solidFill>
                <a:latin typeface="Aptos" charset="0"/>
                <a:cs typeface="Aptos" charset="0"/>
              </a:rPr>
              <a:t>Nguyên tắc quan trọng nhất: học từ quá khứ và không dùng tương lai để định nghĩa popularity.</a:t>
            </a:r>
            <a:endParaRPr lang="en-US" sz="1200" b="1">
              <a:solidFill>
                <a:srgbClr val="0B1F33"/>
              </a:solidFill>
              <a:latin typeface="Aptos" charset="0"/>
              <a:cs typeface="Aptos"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2000" cy="68580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Rectangle 2"/>
          <p:cNvSpPr/>
          <p:nvPr/>
        </p:nvSpPr>
        <p:spPr>
          <a:xfrm>
            <a:off x="0" y="0"/>
            <a:ext cx="177800" cy="6858000"/>
          </a:xfrm>
          <a:prstGeom prst="rect">
            <a:avLst/>
          </a:prstGeom>
          <a:solidFill>
            <a:srgbClr val="2F6B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ext Box 3"/>
          <p:cNvSpPr txBox="1"/>
          <p:nvPr/>
        </p:nvSpPr>
        <p:spPr>
          <a:xfrm>
            <a:off x="635000" y="355600"/>
            <a:ext cx="10922000" cy="437515"/>
          </a:xfrm>
          <a:prstGeom prst="rect">
            <a:avLst/>
          </a:prstGeom>
          <a:noFill/>
        </p:spPr>
        <p:txBody>
          <a:bodyPr wrap="square" lIns="0" tIns="0" rIns="0" rtlCol="0" anchor="t">
            <a:spAutoFit/>
          </a:bodyPr>
          <a:p>
            <a:pPr algn="l"/>
            <a:r>
              <a:rPr lang="en-US" sz="2550" b="1">
                <a:solidFill>
                  <a:srgbClr val="0B1F33"/>
                </a:solidFill>
                <a:latin typeface="Aptos" charset="0"/>
                <a:cs typeface="Aptos" charset="0"/>
              </a:rPr>
              <a:t>Fixed-point filtering: tại sao phải lọc lặp?</a:t>
            </a:r>
            <a:endParaRPr lang="en-US" sz="2550" b="1">
              <a:solidFill>
                <a:srgbClr val="0B1F33"/>
              </a:solidFill>
              <a:latin typeface="Aptos" charset="0"/>
              <a:cs typeface="Aptos" charset="0"/>
            </a:endParaRPr>
          </a:p>
        </p:txBody>
      </p:sp>
      <p:sp>
        <p:nvSpPr>
          <p:cNvPr id="5" name="Text Box 4"/>
          <p:cNvSpPr txBox="1"/>
          <p:nvPr/>
        </p:nvSpPr>
        <p:spPr>
          <a:xfrm>
            <a:off x="10515600" y="6477000"/>
            <a:ext cx="1016000" cy="207010"/>
          </a:xfrm>
          <a:prstGeom prst="rect">
            <a:avLst/>
          </a:prstGeom>
          <a:noFill/>
        </p:spPr>
        <p:txBody>
          <a:bodyPr wrap="square" lIns="0" tIns="0" rIns="0" rtlCol="0" anchor="t">
            <a:spAutoFit/>
          </a:bodyPr>
          <a:p>
            <a:pPr algn="r"/>
            <a:r>
              <a:rPr lang="en-US" sz="1050" b="1">
                <a:solidFill>
                  <a:srgbClr val="2F6BFF"/>
                </a:solidFill>
                <a:latin typeface="Aptos" charset="0"/>
                <a:cs typeface="Aptos" charset="0"/>
              </a:rPr>
              <a:t>21 / 25</a:t>
            </a:r>
            <a:endParaRPr lang="en-US" sz="1050" b="1">
              <a:solidFill>
                <a:srgbClr val="2F6BFF"/>
              </a:solidFill>
              <a:latin typeface="Aptos" charset="0"/>
              <a:cs typeface="Aptos" charset="0"/>
            </a:endParaRPr>
          </a:p>
        </p:txBody>
      </p:sp>
      <p:sp>
        <p:nvSpPr>
          <p:cNvPr id="6" name="Rounded Rectangle 5"/>
          <p:cNvSpPr/>
          <p:nvPr/>
        </p:nvSpPr>
        <p:spPr>
          <a:xfrm>
            <a:off x="635000" y="1219200"/>
            <a:ext cx="5334000" cy="19939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 name="Text Box 6"/>
          <p:cNvSpPr txBox="1"/>
          <p:nvPr/>
        </p:nvSpPr>
        <p:spPr>
          <a:xfrm>
            <a:off x="838200" y="1397000"/>
            <a:ext cx="533400" cy="306705"/>
          </a:xfrm>
          <a:prstGeom prst="rect">
            <a:avLst/>
          </a:prstGeom>
          <a:noFill/>
        </p:spPr>
        <p:txBody>
          <a:bodyPr wrap="square" lIns="0" tIns="0" rIns="0" rtlCol="0" anchor="t">
            <a:spAutoFit/>
          </a:bodyPr>
          <a:p>
            <a:pPr algn="l"/>
            <a:r>
              <a:rPr lang="en-US" sz="1700" b="1">
                <a:solidFill>
                  <a:srgbClr val="2F6BFF"/>
                </a:solidFill>
                <a:latin typeface="Aptos" charset="0"/>
                <a:cs typeface="Aptos" charset="0"/>
              </a:rPr>
              <a:t>01</a:t>
            </a:r>
            <a:endParaRPr lang="en-US" sz="1700" b="1">
              <a:solidFill>
                <a:srgbClr val="2F6BFF"/>
              </a:solidFill>
              <a:latin typeface="Aptos" charset="0"/>
              <a:cs typeface="Aptos" charset="0"/>
            </a:endParaRPr>
          </a:p>
        </p:txBody>
      </p:sp>
      <p:sp>
        <p:nvSpPr>
          <p:cNvPr id="8" name="Text Box 7"/>
          <p:cNvSpPr txBox="1"/>
          <p:nvPr/>
        </p:nvSpPr>
        <p:spPr>
          <a:xfrm>
            <a:off x="1422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Hai điều kiện</a:t>
            </a:r>
            <a:endParaRPr lang="en-US" sz="1350" b="1">
              <a:solidFill>
                <a:srgbClr val="0B1F33"/>
              </a:solidFill>
              <a:latin typeface="Aptos" charset="0"/>
              <a:cs typeface="Aptos" charset="0"/>
            </a:endParaRPr>
          </a:p>
        </p:txBody>
      </p:sp>
      <p:sp>
        <p:nvSpPr>
          <p:cNvPr id="9" name="Text Box 8"/>
          <p:cNvSpPr txBox="1"/>
          <p:nvPr/>
        </p:nvSpPr>
        <p:spPr>
          <a:xfrm>
            <a:off x="889000" y="18796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Mỗi session phải có ít nhất 2 event để tạo target. Mỗi item phải xuất hiện ít nhất 5 lần trong train để có tín hiệu học tối thiểu.</a:t>
            </a:r>
            <a:endParaRPr lang="en-US" sz="1200">
              <a:solidFill>
                <a:srgbClr val="172B4D"/>
              </a:solidFill>
              <a:latin typeface="Aptos" charset="0"/>
              <a:cs typeface="Aptos" charset="0"/>
            </a:endParaRPr>
          </a:p>
        </p:txBody>
      </p:sp>
      <p:sp>
        <p:nvSpPr>
          <p:cNvPr id="10" name="Rounded Rectangle 9"/>
          <p:cNvSpPr/>
          <p:nvPr/>
        </p:nvSpPr>
        <p:spPr>
          <a:xfrm>
            <a:off x="6223000" y="1219200"/>
            <a:ext cx="5334000" cy="1993900"/>
          </a:xfrm>
          <a:prstGeom prst="roundRect">
            <a:avLst/>
          </a:prstGeom>
          <a:solidFill>
            <a:srgbClr val="E4F8F5"/>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Text Box 10"/>
          <p:cNvSpPr txBox="1"/>
          <p:nvPr/>
        </p:nvSpPr>
        <p:spPr>
          <a:xfrm>
            <a:off x="6426200" y="1397000"/>
            <a:ext cx="533400" cy="306705"/>
          </a:xfrm>
          <a:prstGeom prst="rect">
            <a:avLst/>
          </a:prstGeom>
          <a:noFill/>
        </p:spPr>
        <p:txBody>
          <a:bodyPr wrap="square" lIns="0" tIns="0" rIns="0" rtlCol="0" anchor="t">
            <a:spAutoFit/>
          </a:bodyPr>
          <a:p>
            <a:pPr algn="l"/>
            <a:r>
              <a:rPr lang="en-US" sz="1700" b="1">
                <a:solidFill>
                  <a:srgbClr val="16B3A3"/>
                </a:solidFill>
                <a:latin typeface="Aptos" charset="0"/>
                <a:cs typeface="Aptos" charset="0"/>
              </a:rPr>
              <a:t>02</a:t>
            </a:r>
            <a:endParaRPr lang="en-US" sz="1700" b="1">
              <a:solidFill>
                <a:srgbClr val="16B3A3"/>
              </a:solidFill>
              <a:latin typeface="Aptos" charset="0"/>
              <a:cs typeface="Aptos" charset="0"/>
            </a:endParaRPr>
          </a:p>
        </p:txBody>
      </p:sp>
      <p:sp>
        <p:nvSpPr>
          <p:cNvPr id="12" name="Text Box 11"/>
          <p:cNvSpPr txBox="1"/>
          <p:nvPr/>
        </p:nvSpPr>
        <p:spPr>
          <a:xfrm>
            <a:off x="7010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Tác động dây chuyền</a:t>
            </a:r>
            <a:endParaRPr lang="en-US" sz="1350" b="1">
              <a:solidFill>
                <a:srgbClr val="0B1F33"/>
              </a:solidFill>
              <a:latin typeface="Aptos" charset="0"/>
              <a:cs typeface="Aptos" charset="0"/>
            </a:endParaRPr>
          </a:p>
        </p:txBody>
      </p:sp>
      <p:sp>
        <p:nvSpPr>
          <p:cNvPr id="13" name="Text Box 12"/>
          <p:cNvSpPr txBox="1"/>
          <p:nvPr/>
        </p:nvSpPr>
        <p:spPr>
          <a:xfrm>
            <a:off x="6477000" y="18796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Nếu item X bị xóa khỏi session [A,X], session chỉ còn [A] và phải xóa. Việc xóa session lại làm frequency của A và các item khác giảm.</a:t>
            </a:r>
            <a:endParaRPr lang="en-US" sz="1200">
              <a:solidFill>
                <a:srgbClr val="172B4D"/>
              </a:solidFill>
              <a:latin typeface="Aptos" charset="0"/>
              <a:cs typeface="Aptos" charset="0"/>
            </a:endParaRPr>
          </a:p>
        </p:txBody>
      </p:sp>
      <p:sp>
        <p:nvSpPr>
          <p:cNvPr id="14" name="Rounded Rectangle 13"/>
          <p:cNvSpPr/>
          <p:nvPr/>
        </p:nvSpPr>
        <p:spPr>
          <a:xfrm>
            <a:off x="635000" y="3467100"/>
            <a:ext cx="5334000" cy="1993900"/>
          </a:xfrm>
          <a:prstGeom prst="roundRect">
            <a:avLst/>
          </a:prstGeom>
          <a:solidFill>
            <a:srgbClr val="FFF4E4"/>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Text Box 14"/>
          <p:cNvSpPr txBox="1"/>
          <p:nvPr/>
        </p:nvSpPr>
        <p:spPr>
          <a:xfrm>
            <a:off x="838200" y="3644900"/>
            <a:ext cx="533400" cy="306705"/>
          </a:xfrm>
          <a:prstGeom prst="rect">
            <a:avLst/>
          </a:prstGeom>
          <a:noFill/>
        </p:spPr>
        <p:txBody>
          <a:bodyPr wrap="square" lIns="0" tIns="0" rIns="0" rtlCol="0" anchor="t">
            <a:spAutoFit/>
          </a:bodyPr>
          <a:p>
            <a:pPr algn="l"/>
            <a:r>
              <a:rPr lang="en-US" sz="1700" b="1">
                <a:solidFill>
                  <a:srgbClr val="FF9F43"/>
                </a:solidFill>
                <a:latin typeface="Aptos" charset="0"/>
                <a:cs typeface="Aptos" charset="0"/>
              </a:rPr>
              <a:t>03</a:t>
            </a:r>
            <a:endParaRPr lang="en-US" sz="1700" b="1">
              <a:solidFill>
                <a:srgbClr val="FF9F43"/>
              </a:solidFill>
              <a:latin typeface="Aptos" charset="0"/>
              <a:cs typeface="Aptos" charset="0"/>
            </a:endParaRPr>
          </a:p>
        </p:txBody>
      </p:sp>
      <p:sp>
        <p:nvSpPr>
          <p:cNvPr id="16" name="Text Box 15"/>
          <p:cNvSpPr txBox="1"/>
          <p:nvPr/>
        </p:nvSpPr>
        <p:spPr>
          <a:xfrm>
            <a:off x="1422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Trước cold holdout</a:t>
            </a:r>
            <a:endParaRPr lang="en-US" sz="1350" b="1">
              <a:solidFill>
                <a:srgbClr val="0B1F33"/>
              </a:solidFill>
              <a:latin typeface="Aptos" charset="0"/>
              <a:cs typeface="Aptos" charset="0"/>
            </a:endParaRPr>
          </a:p>
        </p:txBody>
      </p:sp>
      <p:sp>
        <p:nvSpPr>
          <p:cNvPr id="17" name="Text Box 16"/>
          <p:cNvSpPr txBox="1"/>
          <p:nvPr/>
        </p:nvSpPr>
        <p:spPr>
          <a:xfrm>
            <a:off x="889000" y="41275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Train giảm từ 990.708 xuống 841.402 event; từ 189.774 xuống 174.691 session; catalog giảm từ 114.768 xuống 38.237 item.</a:t>
            </a:r>
            <a:endParaRPr lang="en-US" sz="1200">
              <a:solidFill>
                <a:srgbClr val="172B4D"/>
              </a:solidFill>
              <a:latin typeface="Aptos" charset="0"/>
              <a:cs typeface="Aptos" charset="0"/>
            </a:endParaRPr>
          </a:p>
        </p:txBody>
      </p:sp>
      <p:sp>
        <p:nvSpPr>
          <p:cNvPr id="18" name="Rounded Rectangle 17"/>
          <p:cNvSpPr/>
          <p:nvPr/>
        </p:nvSpPr>
        <p:spPr>
          <a:xfrm>
            <a:off x="6223000" y="3467100"/>
            <a:ext cx="5334000" cy="1993900"/>
          </a:xfrm>
          <a:prstGeom prst="roundRect">
            <a:avLst/>
          </a:prstGeom>
          <a:solidFill>
            <a:srgbClr val="F4F7FB"/>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9" name="Text Box 18"/>
          <p:cNvSpPr txBox="1"/>
          <p:nvPr/>
        </p:nvSpPr>
        <p:spPr>
          <a:xfrm>
            <a:off x="6426200" y="3644900"/>
            <a:ext cx="533400" cy="306705"/>
          </a:xfrm>
          <a:prstGeom prst="rect">
            <a:avLst/>
          </a:prstGeom>
          <a:noFill/>
        </p:spPr>
        <p:txBody>
          <a:bodyPr wrap="square" lIns="0" tIns="0" rIns="0" rtlCol="0" anchor="t">
            <a:spAutoFit/>
          </a:bodyPr>
          <a:p>
            <a:pPr algn="l"/>
            <a:r>
              <a:rPr lang="en-US" sz="1700" b="1">
                <a:solidFill>
                  <a:srgbClr val="E45756"/>
                </a:solidFill>
                <a:latin typeface="Aptos" charset="0"/>
                <a:cs typeface="Aptos" charset="0"/>
              </a:rPr>
              <a:t>04</a:t>
            </a:r>
            <a:endParaRPr lang="en-US" sz="1700" b="1">
              <a:solidFill>
                <a:srgbClr val="E45756"/>
              </a:solidFill>
              <a:latin typeface="Aptos" charset="0"/>
              <a:cs typeface="Aptos" charset="0"/>
            </a:endParaRPr>
          </a:p>
        </p:txBody>
      </p:sp>
      <p:sp>
        <p:nvSpPr>
          <p:cNvPr id="20" name="Text Box 19"/>
          <p:cNvSpPr txBox="1"/>
          <p:nvPr/>
        </p:nvSpPr>
        <p:spPr>
          <a:xfrm>
            <a:off x="7010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Ý nghĩa nghiên cứu</a:t>
            </a:r>
            <a:endParaRPr lang="en-US" sz="1350" b="1">
              <a:solidFill>
                <a:srgbClr val="0B1F33"/>
              </a:solidFill>
              <a:latin typeface="Aptos" charset="0"/>
              <a:cs typeface="Aptos" charset="0"/>
            </a:endParaRPr>
          </a:p>
        </p:txBody>
      </p:sp>
      <p:sp>
        <p:nvSpPr>
          <p:cNvPr id="21" name="Text Box 20"/>
          <p:cNvSpPr txBox="1"/>
          <p:nvPr/>
        </p:nvSpPr>
        <p:spPr>
          <a:xfrm>
            <a:off x="6477000" y="41275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Attrition được lưu theo từng vòng để minh bạch mức cắt long-tail. Cùng một fixed-point rule phải được dùng cho cả ba mô hình.</a:t>
            </a:r>
            <a:endParaRPr lang="en-US" sz="1200">
              <a:solidFill>
                <a:srgbClr val="172B4D"/>
              </a:solidFill>
              <a:latin typeface="Aptos" charset="0"/>
              <a:cs typeface="Aptos" charset="0"/>
            </a:endParaRPr>
          </a:p>
        </p:txBody>
      </p:sp>
      <p:sp>
        <p:nvSpPr>
          <p:cNvPr id="22" name="Rounded Rectangle 21"/>
          <p:cNvSpPr/>
          <p:nvPr/>
        </p:nvSpPr>
        <p:spPr>
          <a:xfrm>
            <a:off x="2032000" y="5651500"/>
            <a:ext cx="8128000" cy="533400"/>
          </a:xfrm>
          <a:prstGeom prst="roundRect">
            <a:avLst/>
          </a:prstGeom>
          <a:solidFill>
            <a:srgbClr val="FFF4E4"/>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3" name="Text Box 22"/>
          <p:cNvSpPr txBox="1"/>
          <p:nvPr/>
        </p:nvSpPr>
        <p:spPr>
          <a:xfrm>
            <a:off x="2286000" y="5791200"/>
            <a:ext cx="7620000" cy="229870"/>
          </a:xfrm>
          <a:prstGeom prst="rect">
            <a:avLst/>
          </a:prstGeom>
          <a:noFill/>
        </p:spPr>
        <p:txBody>
          <a:bodyPr wrap="square" lIns="0" tIns="0" rIns="0" rtlCol="0" anchor="t">
            <a:spAutoFit/>
          </a:bodyPr>
          <a:p>
            <a:pPr algn="ctr"/>
            <a:r>
              <a:rPr lang="en-US" sz="1200" b="1">
                <a:solidFill>
                  <a:srgbClr val="E45756"/>
                </a:solidFill>
                <a:latin typeface="Aptos" charset="0"/>
                <a:cs typeface="Aptos" charset="0"/>
              </a:rPr>
              <a:t>Fixed point nghĩa là tiếp tục lọc cho tới khi số item và session không còn thay đổi.</a:t>
            </a:r>
            <a:endParaRPr lang="en-US" sz="1200" b="1">
              <a:solidFill>
                <a:srgbClr val="E45756"/>
              </a:solidFill>
              <a:latin typeface="Aptos" charset="0"/>
              <a:cs typeface="Aptos"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2000" cy="68580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Rectangle 2"/>
          <p:cNvSpPr/>
          <p:nvPr/>
        </p:nvSpPr>
        <p:spPr>
          <a:xfrm>
            <a:off x="0" y="0"/>
            <a:ext cx="177800" cy="6858000"/>
          </a:xfrm>
          <a:prstGeom prst="rect">
            <a:avLst/>
          </a:prstGeom>
          <a:solidFill>
            <a:srgbClr val="2F6B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ext Box 3"/>
          <p:cNvSpPr txBox="1"/>
          <p:nvPr/>
        </p:nvSpPr>
        <p:spPr>
          <a:xfrm>
            <a:off x="635000" y="355600"/>
            <a:ext cx="10922000" cy="437515"/>
          </a:xfrm>
          <a:prstGeom prst="rect">
            <a:avLst/>
          </a:prstGeom>
          <a:noFill/>
        </p:spPr>
        <p:txBody>
          <a:bodyPr wrap="square" lIns="0" tIns="0" rIns="0" rtlCol="0" anchor="t">
            <a:spAutoFit/>
          </a:bodyPr>
          <a:p>
            <a:pPr algn="l"/>
            <a:r>
              <a:rPr lang="en-US" sz="2550" b="1">
                <a:solidFill>
                  <a:srgbClr val="0B1F33"/>
                </a:solidFill>
                <a:latin typeface="Aptos" charset="0"/>
                <a:cs typeface="Aptos" charset="0"/>
              </a:rPr>
              <a:t>Controlled cold-start 20% được tạo như thế nào?</a:t>
            </a:r>
            <a:endParaRPr lang="en-US" sz="2550" b="1">
              <a:solidFill>
                <a:srgbClr val="0B1F33"/>
              </a:solidFill>
              <a:latin typeface="Aptos" charset="0"/>
              <a:cs typeface="Aptos" charset="0"/>
            </a:endParaRPr>
          </a:p>
        </p:txBody>
      </p:sp>
      <p:sp>
        <p:nvSpPr>
          <p:cNvPr id="5" name="Text Box 4"/>
          <p:cNvSpPr txBox="1"/>
          <p:nvPr/>
        </p:nvSpPr>
        <p:spPr>
          <a:xfrm>
            <a:off x="10515600" y="6477000"/>
            <a:ext cx="1016000" cy="207010"/>
          </a:xfrm>
          <a:prstGeom prst="rect">
            <a:avLst/>
          </a:prstGeom>
          <a:noFill/>
        </p:spPr>
        <p:txBody>
          <a:bodyPr wrap="square" lIns="0" tIns="0" rIns="0" rtlCol="0" anchor="t">
            <a:spAutoFit/>
          </a:bodyPr>
          <a:p>
            <a:pPr algn="r"/>
            <a:r>
              <a:rPr lang="en-US" sz="1050" b="1">
                <a:solidFill>
                  <a:srgbClr val="2F6BFF"/>
                </a:solidFill>
                <a:latin typeface="Aptos" charset="0"/>
                <a:cs typeface="Aptos" charset="0"/>
              </a:rPr>
              <a:t>22 / 25</a:t>
            </a:r>
            <a:endParaRPr lang="en-US" sz="1050" b="1">
              <a:solidFill>
                <a:srgbClr val="2F6BFF"/>
              </a:solidFill>
              <a:latin typeface="Aptos" charset="0"/>
              <a:cs typeface="Aptos" charset="0"/>
            </a:endParaRPr>
          </a:p>
        </p:txBody>
      </p:sp>
      <p:sp>
        <p:nvSpPr>
          <p:cNvPr id="6" name="Rounded Rectangle 5"/>
          <p:cNvSpPr/>
          <p:nvPr/>
        </p:nvSpPr>
        <p:spPr>
          <a:xfrm>
            <a:off x="635000" y="1219200"/>
            <a:ext cx="5334000" cy="19939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 name="Text Box 6"/>
          <p:cNvSpPr txBox="1"/>
          <p:nvPr/>
        </p:nvSpPr>
        <p:spPr>
          <a:xfrm>
            <a:off x="838200" y="1397000"/>
            <a:ext cx="533400" cy="306705"/>
          </a:xfrm>
          <a:prstGeom prst="rect">
            <a:avLst/>
          </a:prstGeom>
          <a:noFill/>
        </p:spPr>
        <p:txBody>
          <a:bodyPr wrap="square" lIns="0" tIns="0" rIns="0" rtlCol="0" anchor="t">
            <a:spAutoFit/>
          </a:bodyPr>
          <a:p>
            <a:pPr algn="l"/>
            <a:r>
              <a:rPr lang="en-US" sz="1700" b="1">
                <a:solidFill>
                  <a:srgbClr val="2F6BFF"/>
                </a:solidFill>
                <a:latin typeface="Aptos" charset="0"/>
                <a:cs typeface="Aptos" charset="0"/>
              </a:rPr>
              <a:t>01</a:t>
            </a:r>
            <a:endParaRPr lang="en-US" sz="1700" b="1">
              <a:solidFill>
                <a:srgbClr val="2F6BFF"/>
              </a:solidFill>
              <a:latin typeface="Aptos" charset="0"/>
              <a:cs typeface="Aptos" charset="0"/>
            </a:endParaRPr>
          </a:p>
        </p:txBody>
      </p:sp>
      <p:sp>
        <p:nvSpPr>
          <p:cNvPr id="8" name="Text Box 7"/>
          <p:cNvSpPr txBox="1"/>
          <p:nvPr/>
        </p:nvSpPr>
        <p:spPr>
          <a:xfrm>
            <a:off x="1422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Chọn controlled cold</a:t>
            </a:r>
            <a:endParaRPr lang="en-US" sz="1350" b="1">
              <a:solidFill>
                <a:srgbClr val="0B1F33"/>
              </a:solidFill>
              <a:latin typeface="Aptos" charset="0"/>
              <a:cs typeface="Aptos" charset="0"/>
            </a:endParaRPr>
          </a:p>
        </p:txBody>
      </p:sp>
      <p:sp>
        <p:nvSpPr>
          <p:cNvPr id="9" name="Text Box 8"/>
          <p:cNvSpPr txBox="1"/>
          <p:nvPr/>
        </p:nvSpPr>
        <p:spPr>
          <a:xfrm>
            <a:off x="889000" y="18796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Từ 38.237 item train sau lọc, chọn 7.647 item, tương đương 19,99895%. Chọn ở cấp item, phân tầng theo category và dùng seed 2024.</a:t>
            </a:r>
            <a:endParaRPr lang="en-US" sz="1200">
              <a:solidFill>
                <a:srgbClr val="172B4D"/>
              </a:solidFill>
              <a:latin typeface="Aptos" charset="0"/>
              <a:cs typeface="Aptos" charset="0"/>
            </a:endParaRPr>
          </a:p>
        </p:txBody>
      </p:sp>
      <p:sp>
        <p:nvSpPr>
          <p:cNvPr id="10" name="Rounded Rectangle 9"/>
          <p:cNvSpPr/>
          <p:nvPr/>
        </p:nvSpPr>
        <p:spPr>
          <a:xfrm>
            <a:off x="6223000" y="1219200"/>
            <a:ext cx="5334000" cy="1993900"/>
          </a:xfrm>
          <a:prstGeom prst="roundRect">
            <a:avLst/>
          </a:prstGeom>
          <a:solidFill>
            <a:srgbClr val="E4F8F5"/>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Text Box 10"/>
          <p:cNvSpPr txBox="1"/>
          <p:nvPr/>
        </p:nvSpPr>
        <p:spPr>
          <a:xfrm>
            <a:off x="6426200" y="1397000"/>
            <a:ext cx="533400" cy="306705"/>
          </a:xfrm>
          <a:prstGeom prst="rect">
            <a:avLst/>
          </a:prstGeom>
          <a:noFill/>
        </p:spPr>
        <p:txBody>
          <a:bodyPr wrap="square" lIns="0" tIns="0" rIns="0" rtlCol="0" anchor="t">
            <a:spAutoFit/>
          </a:bodyPr>
          <a:p>
            <a:pPr algn="l"/>
            <a:r>
              <a:rPr lang="en-US" sz="1700" b="1">
                <a:solidFill>
                  <a:srgbClr val="16B3A3"/>
                </a:solidFill>
                <a:latin typeface="Aptos" charset="0"/>
                <a:cs typeface="Aptos" charset="0"/>
              </a:rPr>
              <a:t>02</a:t>
            </a:r>
            <a:endParaRPr lang="en-US" sz="1700" b="1">
              <a:solidFill>
                <a:srgbClr val="16B3A3"/>
              </a:solidFill>
              <a:latin typeface="Aptos" charset="0"/>
              <a:cs typeface="Aptos" charset="0"/>
            </a:endParaRPr>
          </a:p>
        </p:txBody>
      </p:sp>
      <p:sp>
        <p:nvSpPr>
          <p:cNvPr id="12" name="Text Box 11"/>
          <p:cNvSpPr txBox="1"/>
          <p:nvPr/>
        </p:nvSpPr>
        <p:spPr>
          <a:xfrm>
            <a:off x="7010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Loại khỏi train nhưng giữ mapping</a:t>
            </a:r>
            <a:endParaRPr lang="en-US" sz="1350" b="1">
              <a:solidFill>
                <a:srgbClr val="0B1F33"/>
              </a:solidFill>
              <a:latin typeface="Aptos" charset="0"/>
              <a:cs typeface="Aptos" charset="0"/>
            </a:endParaRPr>
          </a:p>
        </p:txBody>
      </p:sp>
      <p:sp>
        <p:nvSpPr>
          <p:cNvPr id="13" name="Text Box 12"/>
          <p:cNvSpPr txBox="1"/>
          <p:nvPr/>
        </p:nvSpPr>
        <p:spPr>
          <a:xfrm>
            <a:off x="6477000" y="18796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Toàn bộ interaction của controlled cold bị xóa khỏi train. Item ID và category vẫn được giữ để còn một vector embedding khởi tạo cho phân tích minh họa.</a:t>
            </a:r>
            <a:endParaRPr lang="en-US" sz="1200">
              <a:solidFill>
                <a:srgbClr val="172B4D"/>
              </a:solidFill>
              <a:latin typeface="Aptos" charset="0"/>
              <a:cs typeface="Aptos" charset="0"/>
            </a:endParaRPr>
          </a:p>
        </p:txBody>
      </p:sp>
      <p:sp>
        <p:nvSpPr>
          <p:cNvPr id="14" name="Rounded Rectangle 13"/>
          <p:cNvSpPr/>
          <p:nvPr/>
        </p:nvSpPr>
        <p:spPr>
          <a:xfrm>
            <a:off x="635000" y="3467100"/>
            <a:ext cx="5334000" cy="1993900"/>
          </a:xfrm>
          <a:prstGeom prst="roundRect">
            <a:avLst/>
          </a:prstGeom>
          <a:solidFill>
            <a:srgbClr val="FFF4E4"/>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Text Box 14"/>
          <p:cNvSpPr txBox="1"/>
          <p:nvPr/>
        </p:nvSpPr>
        <p:spPr>
          <a:xfrm>
            <a:off x="838200" y="3644900"/>
            <a:ext cx="533400" cy="306705"/>
          </a:xfrm>
          <a:prstGeom prst="rect">
            <a:avLst/>
          </a:prstGeom>
          <a:noFill/>
        </p:spPr>
        <p:txBody>
          <a:bodyPr wrap="square" lIns="0" tIns="0" rIns="0" rtlCol="0" anchor="t">
            <a:spAutoFit/>
          </a:bodyPr>
          <a:p>
            <a:pPr algn="l"/>
            <a:r>
              <a:rPr lang="en-US" sz="1700" b="1">
                <a:solidFill>
                  <a:srgbClr val="FF9F43"/>
                </a:solidFill>
                <a:latin typeface="Aptos" charset="0"/>
                <a:cs typeface="Aptos" charset="0"/>
              </a:rPr>
              <a:t>03</a:t>
            </a:r>
            <a:endParaRPr lang="en-US" sz="1700" b="1">
              <a:solidFill>
                <a:srgbClr val="FF9F43"/>
              </a:solidFill>
              <a:latin typeface="Aptos" charset="0"/>
              <a:cs typeface="Aptos" charset="0"/>
            </a:endParaRPr>
          </a:p>
        </p:txBody>
      </p:sp>
      <p:sp>
        <p:nvSpPr>
          <p:cNvPr id="16" name="Text Box 15"/>
          <p:cNvSpPr txBox="1"/>
          <p:nvPr/>
        </p:nvSpPr>
        <p:spPr>
          <a:xfrm>
            <a:off x="1422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Giữ đối chứng category</a:t>
            </a:r>
            <a:endParaRPr lang="en-US" sz="1350" b="1">
              <a:solidFill>
                <a:srgbClr val="0B1F33"/>
              </a:solidFill>
              <a:latin typeface="Aptos" charset="0"/>
              <a:cs typeface="Aptos" charset="0"/>
            </a:endParaRPr>
          </a:p>
        </p:txBody>
      </p:sp>
      <p:sp>
        <p:nvSpPr>
          <p:cNvPr id="17" name="Text Box 16"/>
          <p:cNvSpPr txBox="1"/>
          <p:nvPr/>
        </p:nvSpPr>
        <p:spPr>
          <a:xfrm>
            <a:off x="889000" y="41275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Controlled cold trải trên 629 category và cả 629 category vẫn còn ít nhất một warm peer. Điều này cho phép so sánh cold với warm cùng category.</a:t>
            </a:r>
            <a:endParaRPr lang="en-US" sz="1200">
              <a:solidFill>
                <a:srgbClr val="172B4D"/>
              </a:solidFill>
              <a:latin typeface="Aptos" charset="0"/>
              <a:cs typeface="Aptos" charset="0"/>
            </a:endParaRPr>
          </a:p>
        </p:txBody>
      </p:sp>
      <p:sp>
        <p:nvSpPr>
          <p:cNvPr id="18" name="Rounded Rectangle 17"/>
          <p:cNvSpPr/>
          <p:nvPr/>
        </p:nvSpPr>
        <p:spPr>
          <a:xfrm>
            <a:off x="6223000" y="3467100"/>
            <a:ext cx="5334000" cy="1993900"/>
          </a:xfrm>
          <a:prstGeom prst="roundRect">
            <a:avLst/>
          </a:prstGeom>
          <a:solidFill>
            <a:srgbClr val="F4F7FB"/>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9" name="Text Box 18"/>
          <p:cNvSpPr txBox="1"/>
          <p:nvPr/>
        </p:nvSpPr>
        <p:spPr>
          <a:xfrm>
            <a:off x="6426200" y="3644900"/>
            <a:ext cx="533400" cy="306705"/>
          </a:xfrm>
          <a:prstGeom prst="rect">
            <a:avLst/>
          </a:prstGeom>
          <a:noFill/>
        </p:spPr>
        <p:txBody>
          <a:bodyPr wrap="square" lIns="0" tIns="0" rIns="0" rtlCol="0" anchor="t">
            <a:spAutoFit/>
          </a:bodyPr>
          <a:p>
            <a:pPr algn="l"/>
            <a:r>
              <a:rPr lang="en-US" sz="1700" b="1">
                <a:solidFill>
                  <a:srgbClr val="E45756"/>
                </a:solidFill>
                <a:latin typeface="Aptos" charset="0"/>
                <a:cs typeface="Aptos" charset="0"/>
              </a:rPr>
              <a:t>04</a:t>
            </a:r>
            <a:endParaRPr lang="en-US" sz="1700" b="1">
              <a:solidFill>
                <a:srgbClr val="E45756"/>
              </a:solidFill>
              <a:latin typeface="Aptos" charset="0"/>
              <a:cs typeface="Aptos" charset="0"/>
            </a:endParaRPr>
          </a:p>
        </p:txBody>
      </p:sp>
      <p:sp>
        <p:nvSpPr>
          <p:cNvPr id="20" name="Text Box 19"/>
          <p:cNvSpPr txBox="1"/>
          <p:nvPr/>
        </p:nvSpPr>
        <p:spPr>
          <a:xfrm>
            <a:off x="7010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Natural cold là nhóm khác</a:t>
            </a:r>
            <a:endParaRPr lang="en-US" sz="1350" b="1">
              <a:solidFill>
                <a:srgbClr val="0B1F33"/>
              </a:solidFill>
              <a:latin typeface="Aptos" charset="0"/>
              <a:cs typeface="Aptos" charset="0"/>
            </a:endParaRPr>
          </a:p>
        </p:txBody>
      </p:sp>
      <p:sp>
        <p:nvSpPr>
          <p:cNvPr id="21" name="Text Box 20"/>
          <p:cNvSpPr txBox="1"/>
          <p:nvPr/>
        </p:nvSpPr>
        <p:spPr>
          <a:xfrm>
            <a:off x="6477000" y="41275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Có 6.700 item chỉ xuất hiện sau mốc train. Đây là natural temporal cold, được audit riêng và không trộn với controlled cold trong diễn giải.</a:t>
            </a:r>
            <a:endParaRPr lang="en-US" sz="1200">
              <a:solidFill>
                <a:srgbClr val="172B4D"/>
              </a:solidFill>
              <a:latin typeface="Aptos" charset="0"/>
              <a:cs typeface="Aptos" charset="0"/>
            </a:endParaRPr>
          </a:p>
        </p:txBody>
      </p:sp>
      <p:sp>
        <p:nvSpPr>
          <p:cNvPr id="22" name="Rounded Rectangle 21"/>
          <p:cNvSpPr/>
          <p:nvPr/>
        </p:nvSpPr>
        <p:spPr>
          <a:xfrm>
            <a:off x="1016000" y="5651500"/>
            <a:ext cx="10160000" cy="5334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3" name="Text Box 22"/>
          <p:cNvSpPr txBox="1"/>
          <p:nvPr/>
        </p:nvSpPr>
        <p:spPr>
          <a:xfrm>
            <a:off x="1270000" y="5778500"/>
            <a:ext cx="9652000" cy="226695"/>
          </a:xfrm>
          <a:prstGeom prst="rect">
            <a:avLst/>
          </a:prstGeom>
          <a:noFill/>
        </p:spPr>
        <p:txBody>
          <a:bodyPr wrap="square" lIns="0" tIns="0" rIns="0" rtlCol="0" anchor="t">
            <a:spAutoFit/>
          </a:bodyPr>
          <a:p>
            <a:pPr algn="ctr"/>
            <a:r>
              <a:rPr lang="en-US" sz="1180" b="1">
                <a:solidFill>
                  <a:srgbClr val="0B1F33"/>
                </a:solidFill>
                <a:latin typeface="Aptos" charset="0"/>
                <a:cs typeface="Aptos" charset="0"/>
              </a:rPr>
              <a:t>Khi train: cold không là positive, không negative sampling, không nhận gradient; phải lưu embedding khởi tạo.</a:t>
            </a:r>
            <a:endParaRPr lang="en-US" sz="1180" b="1">
              <a:solidFill>
                <a:srgbClr val="0B1F33"/>
              </a:solidFill>
              <a:latin typeface="Aptos" charset="0"/>
              <a:cs typeface="Aptos"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2000" cy="68580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Rectangle 2"/>
          <p:cNvSpPr/>
          <p:nvPr/>
        </p:nvSpPr>
        <p:spPr>
          <a:xfrm>
            <a:off x="0" y="0"/>
            <a:ext cx="177800" cy="6858000"/>
          </a:xfrm>
          <a:prstGeom prst="rect">
            <a:avLst/>
          </a:prstGeom>
          <a:solidFill>
            <a:srgbClr val="2F6B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ext Box 3"/>
          <p:cNvSpPr txBox="1"/>
          <p:nvPr/>
        </p:nvSpPr>
        <p:spPr>
          <a:xfrm>
            <a:off x="635000" y="355600"/>
            <a:ext cx="10922000" cy="437515"/>
          </a:xfrm>
          <a:prstGeom prst="rect">
            <a:avLst/>
          </a:prstGeom>
          <a:noFill/>
        </p:spPr>
        <p:txBody>
          <a:bodyPr wrap="square" lIns="0" tIns="0" rIns="0" rtlCol="0" anchor="t">
            <a:spAutoFit/>
          </a:bodyPr>
          <a:p>
            <a:pPr algn="l"/>
            <a:r>
              <a:rPr lang="en-US" sz="2550" b="1">
                <a:solidFill>
                  <a:srgbClr val="0B1F33"/>
                </a:solidFill>
                <a:latin typeface="Aptos" charset="0"/>
                <a:cs typeface="Aptos" charset="0"/>
              </a:rPr>
              <a:t>Dữ liệu cuối cùng và các nhóm popularity</a:t>
            </a:r>
            <a:endParaRPr lang="en-US" sz="2550" b="1">
              <a:solidFill>
                <a:srgbClr val="0B1F33"/>
              </a:solidFill>
              <a:latin typeface="Aptos" charset="0"/>
              <a:cs typeface="Aptos" charset="0"/>
            </a:endParaRPr>
          </a:p>
        </p:txBody>
      </p:sp>
      <p:sp>
        <p:nvSpPr>
          <p:cNvPr id="5" name="Text Box 4"/>
          <p:cNvSpPr txBox="1"/>
          <p:nvPr/>
        </p:nvSpPr>
        <p:spPr>
          <a:xfrm>
            <a:off x="10515600" y="6477000"/>
            <a:ext cx="1016000" cy="207010"/>
          </a:xfrm>
          <a:prstGeom prst="rect">
            <a:avLst/>
          </a:prstGeom>
          <a:noFill/>
        </p:spPr>
        <p:txBody>
          <a:bodyPr wrap="square" lIns="0" tIns="0" rIns="0" rtlCol="0" anchor="t">
            <a:spAutoFit/>
          </a:bodyPr>
          <a:p>
            <a:pPr algn="r"/>
            <a:r>
              <a:rPr lang="en-US" sz="1050" b="1">
                <a:solidFill>
                  <a:srgbClr val="2F6BFF"/>
                </a:solidFill>
                <a:latin typeface="Aptos" charset="0"/>
                <a:cs typeface="Aptos" charset="0"/>
              </a:rPr>
              <a:t>23 / 25</a:t>
            </a:r>
            <a:endParaRPr lang="en-US" sz="1050" b="1">
              <a:solidFill>
                <a:srgbClr val="2F6BFF"/>
              </a:solidFill>
              <a:latin typeface="Aptos" charset="0"/>
              <a:cs typeface="Aptos" charset="0"/>
            </a:endParaRPr>
          </a:p>
        </p:txBody>
      </p:sp>
      <p:sp>
        <p:nvSpPr>
          <p:cNvPr id="6" name="Rectangle 5"/>
          <p:cNvSpPr/>
          <p:nvPr/>
        </p:nvSpPr>
        <p:spPr>
          <a:xfrm>
            <a:off x="609600" y="1625600"/>
            <a:ext cx="2057400" cy="457200"/>
          </a:xfrm>
          <a:prstGeom prst="rect">
            <a:avLst/>
          </a:prstGeom>
          <a:solidFill>
            <a:srgbClr val="0B1F33"/>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 name="Text Box 6"/>
          <p:cNvSpPr txBox="1"/>
          <p:nvPr/>
        </p:nvSpPr>
        <p:spPr>
          <a:xfrm>
            <a:off x="609600" y="1752600"/>
            <a:ext cx="2057400" cy="179070"/>
          </a:xfrm>
          <a:prstGeom prst="rect">
            <a:avLst/>
          </a:prstGeom>
          <a:noFill/>
        </p:spPr>
        <p:txBody>
          <a:bodyPr wrap="square" lIns="0" tIns="0" rIns="0" rtlCol="0" anchor="t">
            <a:spAutoFit/>
          </a:bodyPr>
          <a:p>
            <a:pPr algn="ctr"/>
            <a:r>
              <a:rPr lang="en-US" sz="870" b="1">
                <a:solidFill>
                  <a:srgbClr val="FFFFFF"/>
                </a:solidFill>
                <a:latin typeface="Aptos" charset="0"/>
                <a:cs typeface="Aptos" charset="0"/>
              </a:rPr>
              <a:t>TẬP</a:t>
            </a:r>
            <a:endParaRPr lang="en-US" sz="870" b="1">
              <a:solidFill>
                <a:srgbClr val="FFFFFF"/>
              </a:solidFill>
              <a:latin typeface="Aptos" charset="0"/>
              <a:cs typeface="Aptos" charset="0"/>
            </a:endParaRPr>
          </a:p>
        </p:txBody>
      </p:sp>
      <p:sp>
        <p:nvSpPr>
          <p:cNvPr id="8" name="Rectangle 7"/>
          <p:cNvSpPr/>
          <p:nvPr/>
        </p:nvSpPr>
        <p:spPr>
          <a:xfrm>
            <a:off x="2667000" y="1625600"/>
            <a:ext cx="1333500" cy="457200"/>
          </a:xfrm>
          <a:prstGeom prst="rect">
            <a:avLst/>
          </a:prstGeom>
          <a:solidFill>
            <a:srgbClr val="0B1F33"/>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9" name="Text Box 8"/>
          <p:cNvSpPr txBox="1"/>
          <p:nvPr/>
        </p:nvSpPr>
        <p:spPr>
          <a:xfrm>
            <a:off x="2667000" y="1752600"/>
            <a:ext cx="1333500" cy="179070"/>
          </a:xfrm>
          <a:prstGeom prst="rect">
            <a:avLst/>
          </a:prstGeom>
          <a:noFill/>
        </p:spPr>
        <p:txBody>
          <a:bodyPr wrap="square" lIns="0" tIns="0" rIns="0" rtlCol="0" anchor="t">
            <a:spAutoFit/>
          </a:bodyPr>
          <a:p>
            <a:pPr algn="ctr"/>
            <a:r>
              <a:rPr lang="en-US" sz="870" b="1">
                <a:solidFill>
                  <a:srgbClr val="FFFFFF"/>
                </a:solidFill>
                <a:latin typeface="Aptos" charset="0"/>
                <a:cs typeface="Aptos" charset="0"/>
              </a:rPr>
              <a:t>EVENT</a:t>
            </a:r>
            <a:endParaRPr lang="en-US" sz="870" b="1">
              <a:solidFill>
                <a:srgbClr val="FFFFFF"/>
              </a:solidFill>
              <a:latin typeface="Aptos" charset="0"/>
              <a:cs typeface="Aptos" charset="0"/>
            </a:endParaRPr>
          </a:p>
        </p:txBody>
      </p:sp>
      <p:sp>
        <p:nvSpPr>
          <p:cNvPr id="10" name="Rectangle 9"/>
          <p:cNvSpPr/>
          <p:nvPr/>
        </p:nvSpPr>
        <p:spPr>
          <a:xfrm>
            <a:off x="4000500" y="1625600"/>
            <a:ext cx="1333500" cy="457200"/>
          </a:xfrm>
          <a:prstGeom prst="rect">
            <a:avLst/>
          </a:prstGeom>
          <a:solidFill>
            <a:srgbClr val="0B1F33"/>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Text Box 10"/>
          <p:cNvSpPr txBox="1"/>
          <p:nvPr/>
        </p:nvSpPr>
        <p:spPr>
          <a:xfrm>
            <a:off x="4000500" y="1752600"/>
            <a:ext cx="1333500" cy="179070"/>
          </a:xfrm>
          <a:prstGeom prst="rect">
            <a:avLst/>
          </a:prstGeom>
          <a:noFill/>
        </p:spPr>
        <p:txBody>
          <a:bodyPr wrap="square" lIns="0" tIns="0" rIns="0" rtlCol="0" anchor="t">
            <a:spAutoFit/>
          </a:bodyPr>
          <a:p>
            <a:pPr algn="ctr"/>
            <a:r>
              <a:rPr lang="en-US" sz="870" b="1">
                <a:solidFill>
                  <a:srgbClr val="FFFFFF"/>
                </a:solidFill>
                <a:latin typeface="Aptos" charset="0"/>
                <a:cs typeface="Aptos" charset="0"/>
              </a:rPr>
              <a:t>SESSION</a:t>
            </a:r>
            <a:endParaRPr lang="en-US" sz="870" b="1">
              <a:solidFill>
                <a:srgbClr val="FFFFFF"/>
              </a:solidFill>
              <a:latin typeface="Aptos" charset="0"/>
              <a:cs typeface="Aptos" charset="0"/>
            </a:endParaRPr>
          </a:p>
        </p:txBody>
      </p:sp>
      <p:sp>
        <p:nvSpPr>
          <p:cNvPr id="12" name="Rectangle 11"/>
          <p:cNvSpPr/>
          <p:nvPr/>
        </p:nvSpPr>
        <p:spPr>
          <a:xfrm>
            <a:off x="5334000" y="1625600"/>
            <a:ext cx="1333500" cy="457200"/>
          </a:xfrm>
          <a:prstGeom prst="rect">
            <a:avLst/>
          </a:prstGeom>
          <a:solidFill>
            <a:srgbClr val="0B1F33"/>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3" name="Text Box 12"/>
          <p:cNvSpPr txBox="1"/>
          <p:nvPr/>
        </p:nvSpPr>
        <p:spPr>
          <a:xfrm>
            <a:off x="5334000" y="1752600"/>
            <a:ext cx="1333500" cy="179070"/>
          </a:xfrm>
          <a:prstGeom prst="rect">
            <a:avLst/>
          </a:prstGeom>
          <a:noFill/>
        </p:spPr>
        <p:txBody>
          <a:bodyPr wrap="square" lIns="0" tIns="0" rIns="0" rtlCol="0" anchor="t">
            <a:spAutoFit/>
          </a:bodyPr>
          <a:p>
            <a:pPr algn="ctr"/>
            <a:r>
              <a:rPr lang="en-US" sz="870" b="1">
                <a:solidFill>
                  <a:srgbClr val="FFFFFF"/>
                </a:solidFill>
                <a:latin typeface="Aptos" charset="0"/>
                <a:cs typeface="Aptos" charset="0"/>
              </a:rPr>
              <a:t>ITEM</a:t>
            </a:r>
            <a:endParaRPr lang="en-US" sz="870" b="1">
              <a:solidFill>
                <a:srgbClr val="FFFFFF"/>
              </a:solidFill>
              <a:latin typeface="Aptos" charset="0"/>
              <a:cs typeface="Aptos" charset="0"/>
            </a:endParaRPr>
          </a:p>
        </p:txBody>
      </p:sp>
      <p:sp>
        <p:nvSpPr>
          <p:cNvPr id="14" name="Rectangle 13"/>
          <p:cNvSpPr/>
          <p:nvPr/>
        </p:nvSpPr>
        <p:spPr>
          <a:xfrm>
            <a:off x="6667500" y="1625600"/>
            <a:ext cx="1676400" cy="457200"/>
          </a:xfrm>
          <a:prstGeom prst="rect">
            <a:avLst/>
          </a:prstGeom>
          <a:solidFill>
            <a:srgbClr val="0B1F33"/>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Text Box 14"/>
          <p:cNvSpPr txBox="1"/>
          <p:nvPr/>
        </p:nvSpPr>
        <p:spPr>
          <a:xfrm>
            <a:off x="6667500" y="1752600"/>
            <a:ext cx="1676400" cy="179070"/>
          </a:xfrm>
          <a:prstGeom prst="rect">
            <a:avLst/>
          </a:prstGeom>
          <a:noFill/>
        </p:spPr>
        <p:txBody>
          <a:bodyPr wrap="square" lIns="0" tIns="0" rIns="0" rtlCol="0" anchor="t">
            <a:spAutoFit/>
          </a:bodyPr>
          <a:p>
            <a:pPr algn="ctr"/>
            <a:r>
              <a:rPr lang="en-US" sz="870" b="1">
                <a:solidFill>
                  <a:srgbClr val="FFFFFF"/>
                </a:solidFill>
                <a:latin typeface="Aptos" charset="0"/>
                <a:cs typeface="Aptos" charset="0"/>
              </a:rPr>
              <a:t>PREFIX-TARGET</a:t>
            </a:r>
            <a:endParaRPr lang="en-US" sz="870" b="1">
              <a:solidFill>
                <a:srgbClr val="FFFFFF"/>
              </a:solidFill>
              <a:latin typeface="Aptos" charset="0"/>
              <a:cs typeface="Aptos" charset="0"/>
            </a:endParaRPr>
          </a:p>
        </p:txBody>
      </p:sp>
      <p:sp>
        <p:nvSpPr>
          <p:cNvPr id="16" name="Rectangle 15"/>
          <p:cNvSpPr/>
          <p:nvPr/>
        </p:nvSpPr>
        <p:spPr>
          <a:xfrm>
            <a:off x="609600" y="2082800"/>
            <a:ext cx="2057400" cy="635000"/>
          </a:xfrm>
          <a:prstGeom prst="rect">
            <a:avLst/>
          </a:prstGeom>
          <a:solidFill>
            <a:srgbClr val="F4F7FB"/>
          </a:solidFill>
          <a:ln w="12700">
            <a:solidFill>
              <a:srgbClr val="C6D0DD"/>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7" name="Text Box 16"/>
          <p:cNvSpPr txBox="1"/>
          <p:nvPr/>
        </p:nvSpPr>
        <p:spPr>
          <a:xfrm>
            <a:off x="647700" y="2273300"/>
            <a:ext cx="1981200" cy="188595"/>
          </a:xfrm>
          <a:prstGeom prst="rect">
            <a:avLst/>
          </a:prstGeom>
          <a:noFill/>
        </p:spPr>
        <p:txBody>
          <a:bodyPr wrap="square" lIns="0" tIns="0" rIns="0" rtlCol="0" anchor="t">
            <a:spAutoFit/>
          </a:bodyPr>
          <a:p>
            <a:pPr algn="ctr"/>
            <a:r>
              <a:rPr lang="en-US" sz="930" b="1">
                <a:solidFill>
                  <a:srgbClr val="172B4D"/>
                </a:solidFill>
                <a:latin typeface="Aptos" charset="0"/>
                <a:cs typeface="Aptos" charset="0"/>
              </a:rPr>
              <a:t>Train</a:t>
            </a:r>
            <a:endParaRPr lang="en-US" sz="930" b="1">
              <a:solidFill>
                <a:srgbClr val="172B4D"/>
              </a:solidFill>
              <a:latin typeface="Aptos" charset="0"/>
              <a:cs typeface="Aptos" charset="0"/>
            </a:endParaRPr>
          </a:p>
        </p:txBody>
      </p:sp>
      <p:sp>
        <p:nvSpPr>
          <p:cNvPr id="18" name="Rectangle 17"/>
          <p:cNvSpPr/>
          <p:nvPr/>
        </p:nvSpPr>
        <p:spPr>
          <a:xfrm>
            <a:off x="2667000" y="2082800"/>
            <a:ext cx="1333500" cy="635000"/>
          </a:xfrm>
          <a:prstGeom prst="rect">
            <a:avLst/>
          </a:prstGeom>
          <a:solidFill>
            <a:srgbClr val="F4F7FB"/>
          </a:solidFill>
          <a:ln w="12700">
            <a:solidFill>
              <a:srgbClr val="C6D0DD"/>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9" name="Text Box 18"/>
          <p:cNvSpPr txBox="1"/>
          <p:nvPr/>
        </p:nvSpPr>
        <p:spPr>
          <a:xfrm>
            <a:off x="2705100" y="2273300"/>
            <a:ext cx="1257300" cy="188595"/>
          </a:xfrm>
          <a:prstGeom prst="rect">
            <a:avLst/>
          </a:prstGeom>
          <a:noFill/>
        </p:spPr>
        <p:txBody>
          <a:bodyPr wrap="square" lIns="0" tIns="0" rIns="0" rtlCol="0" anchor="t">
            <a:spAutoFit/>
          </a:bodyPr>
          <a:p>
            <a:pPr algn="ctr"/>
            <a:r>
              <a:rPr lang="en-US" sz="930">
                <a:solidFill>
                  <a:srgbClr val="172B4D"/>
                </a:solidFill>
                <a:latin typeface="Aptos" charset="0"/>
                <a:cs typeface="Aptos" charset="0"/>
              </a:rPr>
              <a:t>649.632</a:t>
            </a:r>
            <a:endParaRPr lang="en-US" sz="930">
              <a:solidFill>
                <a:srgbClr val="172B4D"/>
              </a:solidFill>
              <a:latin typeface="Aptos" charset="0"/>
              <a:cs typeface="Aptos" charset="0"/>
            </a:endParaRPr>
          </a:p>
        </p:txBody>
      </p:sp>
      <p:sp>
        <p:nvSpPr>
          <p:cNvPr id="20" name="Rectangle 19"/>
          <p:cNvSpPr/>
          <p:nvPr/>
        </p:nvSpPr>
        <p:spPr>
          <a:xfrm>
            <a:off x="4000500" y="2082800"/>
            <a:ext cx="1333500" cy="635000"/>
          </a:xfrm>
          <a:prstGeom prst="rect">
            <a:avLst/>
          </a:prstGeom>
          <a:solidFill>
            <a:srgbClr val="F4F7FB"/>
          </a:solidFill>
          <a:ln w="12700">
            <a:solidFill>
              <a:srgbClr val="C6D0DD"/>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1" name="Text Box 20"/>
          <p:cNvSpPr txBox="1"/>
          <p:nvPr/>
        </p:nvSpPr>
        <p:spPr>
          <a:xfrm>
            <a:off x="4038600" y="2273300"/>
            <a:ext cx="1257300" cy="188595"/>
          </a:xfrm>
          <a:prstGeom prst="rect">
            <a:avLst/>
          </a:prstGeom>
          <a:noFill/>
        </p:spPr>
        <p:txBody>
          <a:bodyPr wrap="square" lIns="0" tIns="0" rIns="0" rtlCol="0" anchor="t">
            <a:spAutoFit/>
          </a:bodyPr>
          <a:p>
            <a:pPr algn="ctr"/>
            <a:r>
              <a:rPr lang="en-US" sz="930">
                <a:solidFill>
                  <a:srgbClr val="172B4D"/>
                </a:solidFill>
                <a:latin typeface="Aptos" charset="0"/>
                <a:cs typeface="Aptos" charset="0"/>
              </a:rPr>
              <a:t>150.783</a:t>
            </a:r>
            <a:endParaRPr lang="en-US" sz="930">
              <a:solidFill>
                <a:srgbClr val="172B4D"/>
              </a:solidFill>
              <a:latin typeface="Aptos" charset="0"/>
              <a:cs typeface="Aptos" charset="0"/>
            </a:endParaRPr>
          </a:p>
        </p:txBody>
      </p:sp>
      <p:sp>
        <p:nvSpPr>
          <p:cNvPr id="22" name="Rectangle 21"/>
          <p:cNvSpPr/>
          <p:nvPr/>
        </p:nvSpPr>
        <p:spPr>
          <a:xfrm>
            <a:off x="5334000" y="2082800"/>
            <a:ext cx="1333500" cy="635000"/>
          </a:xfrm>
          <a:prstGeom prst="rect">
            <a:avLst/>
          </a:prstGeom>
          <a:solidFill>
            <a:srgbClr val="F4F7FB"/>
          </a:solidFill>
          <a:ln w="12700">
            <a:solidFill>
              <a:srgbClr val="C6D0DD"/>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3" name="Text Box 22"/>
          <p:cNvSpPr txBox="1"/>
          <p:nvPr/>
        </p:nvSpPr>
        <p:spPr>
          <a:xfrm>
            <a:off x="5372100" y="2273300"/>
            <a:ext cx="1257300" cy="188595"/>
          </a:xfrm>
          <a:prstGeom prst="rect">
            <a:avLst/>
          </a:prstGeom>
          <a:noFill/>
        </p:spPr>
        <p:txBody>
          <a:bodyPr wrap="square" lIns="0" tIns="0" rIns="0" rtlCol="0" anchor="t">
            <a:spAutoFit/>
          </a:bodyPr>
          <a:p>
            <a:pPr algn="ctr"/>
            <a:r>
              <a:rPr lang="en-US" sz="930">
                <a:solidFill>
                  <a:srgbClr val="172B4D"/>
                </a:solidFill>
                <a:latin typeface="Aptos" charset="0"/>
                <a:cs typeface="Aptos" charset="0"/>
              </a:rPr>
              <a:t>29.936</a:t>
            </a:r>
            <a:endParaRPr lang="en-US" sz="930">
              <a:solidFill>
                <a:srgbClr val="172B4D"/>
              </a:solidFill>
              <a:latin typeface="Aptos" charset="0"/>
              <a:cs typeface="Aptos" charset="0"/>
            </a:endParaRPr>
          </a:p>
        </p:txBody>
      </p:sp>
      <p:sp>
        <p:nvSpPr>
          <p:cNvPr id="24" name="Rectangle 23"/>
          <p:cNvSpPr/>
          <p:nvPr/>
        </p:nvSpPr>
        <p:spPr>
          <a:xfrm>
            <a:off x="6667500" y="2082800"/>
            <a:ext cx="1676400" cy="635000"/>
          </a:xfrm>
          <a:prstGeom prst="rect">
            <a:avLst/>
          </a:prstGeom>
          <a:solidFill>
            <a:srgbClr val="F4F7FB"/>
          </a:solidFill>
          <a:ln w="12700">
            <a:solidFill>
              <a:srgbClr val="C6D0DD"/>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5" name="Text Box 24"/>
          <p:cNvSpPr txBox="1"/>
          <p:nvPr/>
        </p:nvSpPr>
        <p:spPr>
          <a:xfrm>
            <a:off x="6705600" y="2273300"/>
            <a:ext cx="1600200" cy="188595"/>
          </a:xfrm>
          <a:prstGeom prst="rect">
            <a:avLst/>
          </a:prstGeom>
          <a:noFill/>
        </p:spPr>
        <p:txBody>
          <a:bodyPr wrap="square" lIns="0" tIns="0" rIns="0" rtlCol="0" anchor="t">
            <a:spAutoFit/>
          </a:bodyPr>
          <a:p>
            <a:pPr algn="ctr"/>
            <a:r>
              <a:rPr lang="en-US" sz="930">
                <a:solidFill>
                  <a:srgbClr val="172B4D"/>
                </a:solidFill>
                <a:latin typeface="Aptos" charset="0"/>
                <a:cs typeface="Aptos" charset="0"/>
              </a:rPr>
              <a:t>498.849</a:t>
            </a:r>
            <a:endParaRPr lang="en-US" sz="930">
              <a:solidFill>
                <a:srgbClr val="172B4D"/>
              </a:solidFill>
              <a:latin typeface="Aptos" charset="0"/>
              <a:cs typeface="Aptos" charset="0"/>
            </a:endParaRPr>
          </a:p>
        </p:txBody>
      </p:sp>
      <p:sp>
        <p:nvSpPr>
          <p:cNvPr id="26" name="Rectangle 25"/>
          <p:cNvSpPr/>
          <p:nvPr/>
        </p:nvSpPr>
        <p:spPr>
          <a:xfrm>
            <a:off x="609600" y="2717800"/>
            <a:ext cx="2057400" cy="635000"/>
          </a:xfrm>
          <a:prstGeom prst="rect">
            <a:avLst/>
          </a:prstGeom>
          <a:solidFill>
            <a:srgbClr val="FFFFFF"/>
          </a:solidFill>
          <a:ln w="12700">
            <a:solidFill>
              <a:srgbClr val="C6D0DD"/>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7" name="Text Box 26"/>
          <p:cNvSpPr txBox="1"/>
          <p:nvPr/>
        </p:nvSpPr>
        <p:spPr>
          <a:xfrm>
            <a:off x="647700" y="2908300"/>
            <a:ext cx="1981200" cy="188595"/>
          </a:xfrm>
          <a:prstGeom prst="rect">
            <a:avLst/>
          </a:prstGeom>
          <a:noFill/>
        </p:spPr>
        <p:txBody>
          <a:bodyPr wrap="square" lIns="0" tIns="0" rIns="0" rtlCol="0" anchor="t">
            <a:spAutoFit/>
          </a:bodyPr>
          <a:p>
            <a:pPr algn="ctr"/>
            <a:r>
              <a:rPr lang="en-US" sz="930" b="1">
                <a:solidFill>
                  <a:srgbClr val="172B4D"/>
                </a:solidFill>
                <a:latin typeface="Aptos" charset="0"/>
                <a:cs typeface="Aptos" charset="0"/>
              </a:rPr>
              <a:t>Validation warm</a:t>
            </a:r>
            <a:endParaRPr lang="en-US" sz="930" b="1">
              <a:solidFill>
                <a:srgbClr val="172B4D"/>
              </a:solidFill>
              <a:latin typeface="Aptos" charset="0"/>
              <a:cs typeface="Aptos" charset="0"/>
            </a:endParaRPr>
          </a:p>
        </p:txBody>
      </p:sp>
      <p:sp>
        <p:nvSpPr>
          <p:cNvPr id="28" name="Rectangle 27"/>
          <p:cNvSpPr/>
          <p:nvPr/>
        </p:nvSpPr>
        <p:spPr>
          <a:xfrm>
            <a:off x="2667000" y="2717800"/>
            <a:ext cx="1333500" cy="635000"/>
          </a:xfrm>
          <a:prstGeom prst="rect">
            <a:avLst/>
          </a:prstGeom>
          <a:solidFill>
            <a:srgbClr val="FFFFFF"/>
          </a:solidFill>
          <a:ln w="12700">
            <a:solidFill>
              <a:srgbClr val="C6D0DD"/>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9" name="Text Box 28"/>
          <p:cNvSpPr txBox="1"/>
          <p:nvPr/>
        </p:nvSpPr>
        <p:spPr>
          <a:xfrm>
            <a:off x="2705100" y="2908300"/>
            <a:ext cx="1257300" cy="188595"/>
          </a:xfrm>
          <a:prstGeom prst="rect">
            <a:avLst/>
          </a:prstGeom>
          <a:noFill/>
        </p:spPr>
        <p:txBody>
          <a:bodyPr wrap="square" lIns="0" tIns="0" rIns="0" rtlCol="0" anchor="t">
            <a:spAutoFit/>
          </a:bodyPr>
          <a:p>
            <a:pPr algn="ctr"/>
            <a:r>
              <a:rPr lang="en-US" sz="930">
                <a:solidFill>
                  <a:srgbClr val="172B4D"/>
                </a:solidFill>
                <a:latin typeface="Aptos" charset="0"/>
                <a:cs typeface="Aptos" charset="0"/>
              </a:rPr>
              <a:t>39.450</a:t>
            </a:r>
            <a:endParaRPr lang="en-US" sz="930">
              <a:solidFill>
                <a:srgbClr val="172B4D"/>
              </a:solidFill>
              <a:latin typeface="Aptos" charset="0"/>
              <a:cs typeface="Aptos" charset="0"/>
            </a:endParaRPr>
          </a:p>
        </p:txBody>
      </p:sp>
      <p:sp>
        <p:nvSpPr>
          <p:cNvPr id="30" name="Rectangle 29"/>
          <p:cNvSpPr/>
          <p:nvPr/>
        </p:nvSpPr>
        <p:spPr>
          <a:xfrm>
            <a:off x="4000500" y="2717800"/>
            <a:ext cx="1333500" cy="635000"/>
          </a:xfrm>
          <a:prstGeom prst="rect">
            <a:avLst/>
          </a:prstGeom>
          <a:solidFill>
            <a:srgbClr val="FFFFFF"/>
          </a:solidFill>
          <a:ln w="12700">
            <a:solidFill>
              <a:srgbClr val="C6D0DD"/>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1" name="Text Box 30"/>
          <p:cNvSpPr txBox="1"/>
          <p:nvPr/>
        </p:nvSpPr>
        <p:spPr>
          <a:xfrm>
            <a:off x="4038600" y="2908300"/>
            <a:ext cx="1257300" cy="188595"/>
          </a:xfrm>
          <a:prstGeom prst="rect">
            <a:avLst/>
          </a:prstGeom>
          <a:noFill/>
        </p:spPr>
        <p:txBody>
          <a:bodyPr wrap="square" lIns="0" tIns="0" rIns="0" rtlCol="0" anchor="t">
            <a:spAutoFit/>
          </a:bodyPr>
          <a:p>
            <a:pPr algn="ctr"/>
            <a:r>
              <a:rPr lang="en-US" sz="930">
                <a:solidFill>
                  <a:srgbClr val="172B4D"/>
                </a:solidFill>
                <a:latin typeface="Aptos" charset="0"/>
                <a:cs typeface="Aptos" charset="0"/>
              </a:rPr>
              <a:t>9.622</a:t>
            </a:r>
            <a:endParaRPr lang="en-US" sz="930">
              <a:solidFill>
                <a:srgbClr val="172B4D"/>
              </a:solidFill>
              <a:latin typeface="Aptos" charset="0"/>
              <a:cs typeface="Aptos" charset="0"/>
            </a:endParaRPr>
          </a:p>
        </p:txBody>
      </p:sp>
      <p:sp>
        <p:nvSpPr>
          <p:cNvPr id="32" name="Rectangle 31"/>
          <p:cNvSpPr/>
          <p:nvPr/>
        </p:nvSpPr>
        <p:spPr>
          <a:xfrm>
            <a:off x="5334000" y="2717800"/>
            <a:ext cx="1333500" cy="635000"/>
          </a:xfrm>
          <a:prstGeom prst="rect">
            <a:avLst/>
          </a:prstGeom>
          <a:solidFill>
            <a:srgbClr val="FFFFFF"/>
          </a:solidFill>
          <a:ln w="12700">
            <a:solidFill>
              <a:srgbClr val="C6D0DD"/>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3" name="Text Box 32"/>
          <p:cNvSpPr txBox="1"/>
          <p:nvPr/>
        </p:nvSpPr>
        <p:spPr>
          <a:xfrm>
            <a:off x="5372100" y="2908300"/>
            <a:ext cx="1257300" cy="188595"/>
          </a:xfrm>
          <a:prstGeom prst="rect">
            <a:avLst/>
          </a:prstGeom>
          <a:noFill/>
        </p:spPr>
        <p:txBody>
          <a:bodyPr wrap="square" lIns="0" tIns="0" rIns="0" rtlCol="0" anchor="t">
            <a:spAutoFit/>
          </a:bodyPr>
          <a:p>
            <a:pPr algn="ctr"/>
            <a:r>
              <a:rPr lang="en-US" sz="930">
                <a:solidFill>
                  <a:srgbClr val="172B4D"/>
                </a:solidFill>
                <a:latin typeface="Aptos" charset="0"/>
                <a:cs typeface="Aptos" charset="0"/>
              </a:rPr>
              <a:t>12.227</a:t>
            </a:r>
            <a:endParaRPr lang="en-US" sz="930">
              <a:solidFill>
                <a:srgbClr val="172B4D"/>
              </a:solidFill>
              <a:latin typeface="Aptos" charset="0"/>
              <a:cs typeface="Aptos" charset="0"/>
            </a:endParaRPr>
          </a:p>
        </p:txBody>
      </p:sp>
      <p:sp>
        <p:nvSpPr>
          <p:cNvPr id="34" name="Rectangle 33"/>
          <p:cNvSpPr/>
          <p:nvPr/>
        </p:nvSpPr>
        <p:spPr>
          <a:xfrm>
            <a:off x="6667500" y="2717800"/>
            <a:ext cx="1676400" cy="635000"/>
          </a:xfrm>
          <a:prstGeom prst="rect">
            <a:avLst/>
          </a:prstGeom>
          <a:solidFill>
            <a:srgbClr val="FFFFFF"/>
          </a:solidFill>
          <a:ln w="12700">
            <a:solidFill>
              <a:srgbClr val="C6D0DD"/>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5" name="Text Box 34"/>
          <p:cNvSpPr txBox="1"/>
          <p:nvPr/>
        </p:nvSpPr>
        <p:spPr>
          <a:xfrm>
            <a:off x="6705600" y="2908300"/>
            <a:ext cx="1600200" cy="188595"/>
          </a:xfrm>
          <a:prstGeom prst="rect">
            <a:avLst/>
          </a:prstGeom>
          <a:noFill/>
        </p:spPr>
        <p:txBody>
          <a:bodyPr wrap="square" lIns="0" tIns="0" rIns="0" rtlCol="0" anchor="t">
            <a:spAutoFit/>
          </a:bodyPr>
          <a:p>
            <a:pPr algn="ctr"/>
            <a:r>
              <a:rPr lang="en-US" sz="930">
                <a:solidFill>
                  <a:srgbClr val="172B4D"/>
                </a:solidFill>
                <a:latin typeface="Aptos" charset="0"/>
                <a:cs typeface="Aptos" charset="0"/>
              </a:rPr>
              <a:t>29.828</a:t>
            </a:r>
            <a:endParaRPr lang="en-US" sz="930">
              <a:solidFill>
                <a:srgbClr val="172B4D"/>
              </a:solidFill>
              <a:latin typeface="Aptos" charset="0"/>
              <a:cs typeface="Aptos" charset="0"/>
            </a:endParaRPr>
          </a:p>
        </p:txBody>
      </p:sp>
      <p:sp>
        <p:nvSpPr>
          <p:cNvPr id="36" name="Rectangle 35"/>
          <p:cNvSpPr/>
          <p:nvPr/>
        </p:nvSpPr>
        <p:spPr>
          <a:xfrm>
            <a:off x="609600" y="3352800"/>
            <a:ext cx="2057400" cy="635000"/>
          </a:xfrm>
          <a:prstGeom prst="rect">
            <a:avLst/>
          </a:prstGeom>
          <a:solidFill>
            <a:srgbClr val="F4F7FB"/>
          </a:solidFill>
          <a:ln w="12700">
            <a:solidFill>
              <a:srgbClr val="C6D0DD"/>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7" name="Text Box 36"/>
          <p:cNvSpPr txBox="1"/>
          <p:nvPr/>
        </p:nvSpPr>
        <p:spPr>
          <a:xfrm>
            <a:off x="647700" y="3543300"/>
            <a:ext cx="1981200" cy="188595"/>
          </a:xfrm>
          <a:prstGeom prst="rect">
            <a:avLst/>
          </a:prstGeom>
          <a:noFill/>
        </p:spPr>
        <p:txBody>
          <a:bodyPr wrap="square" lIns="0" tIns="0" rIns="0" rtlCol="0" anchor="t">
            <a:spAutoFit/>
          </a:bodyPr>
          <a:p>
            <a:pPr algn="ctr"/>
            <a:r>
              <a:rPr lang="en-US" sz="930" b="1">
                <a:solidFill>
                  <a:srgbClr val="172B4D"/>
                </a:solidFill>
                <a:latin typeface="Aptos" charset="0"/>
                <a:cs typeface="Aptos" charset="0"/>
              </a:rPr>
              <a:t>Test warm</a:t>
            </a:r>
            <a:endParaRPr lang="en-US" sz="930" b="1">
              <a:solidFill>
                <a:srgbClr val="172B4D"/>
              </a:solidFill>
              <a:latin typeface="Aptos" charset="0"/>
              <a:cs typeface="Aptos" charset="0"/>
            </a:endParaRPr>
          </a:p>
        </p:txBody>
      </p:sp>
      <p:sp>
        <p:nvSpPr>
          <p:cNvPr id="38" name="Rectangle 37"/>
          <p:cNvSpPr/>
          <p:nvPr/>
        </p:nvSpPr>
        <p:spPr>
          <a:xfrm>
            <a:off x="2667000" y="3352800"/>
            <a:ext cx="1333500" cy="635000"/>
          </a:xfrm>
          <a:prstGeom prst="rect">
            <a:avLst/>
          </a:prstGeom>
          <a:solidFill>
            <a:srgbClr val="F4F7FB"/>
          </a:solidFill>
          <a:ln w="12700">
            <a:solidFill>
              <a:srgbClr val="C6D0DD"/>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9" name="Text Box 38"/>
          <p:cNvSpPr txBox="1"/>
          <p:nvPr/>
        </p:nvSpPr>
        <p:spPr>
          <a:xfrm>
            <a:off x="2705100" y="3543300"/>
            <a:ext cx="1257300" cy="188595"/>
          </a:xfrm>
          <a:prstGeom prst="rect">
            <a:avLst/>
          </a:prstGeom>
          <a:noFill/>
        </p:spPr>
        <p:txBody>
          <a:bodyPr wrap="square" lIns="0" tIns="0" rIns="0" rtlCol="0" anchor="t">
            <a:spAutoFit/>
          </a:bodyPr>
          <a:p>
            <a:pPr algn="ctr"/>
            <a:r>
              <a:rPr lang="en-US" sz="930">
                <a:solidFill>
                  <a:srgbClr val="172B4D"/>
                </a:solidFill>
                <a:latin typeface="Aptos" charset="0"/>
                <a:cs typeface="Aptos" charset="0"/>
              </a:rPr>
              <a:t>52.792</a:t>
            </a:r>
            <a:endParaRPr lang="en-US" sz="930">
              <a:solidFill>
                <a:srgbClr val="172B4D"/>
              </a:solidFill>
              <a:latin typeface="Aptos" charset="0"/>
              <a:cs typeface="Aptos" charset="0"/>
            </a:endParaRPr>
          </a:p>
        </p:txBody>
      </p:sp>
      <p:sp>
        <p:nvSpPr>
          <p:cNvPr id="40" name="Rectangle 39"/>
          <p:cNvSpPr/>
          <p:nvPr/>
        </p:nvSpPr>
        <p:spPr>
          <a:xfrm>
            <a:off x="4000500" y="3352800"/>
            <a:ext cx="1333500" cy="635000"/>
          </a:xfrm>
          <a:prstGeom prst="rect">
            <a:avLst/>
          </a:prstGeom>
          <a:solidFill>
            <a:srgbClr val="F4F7FB"/>
          </a:solidFill>
          <a:ln w="12700">
            <a:solidFill>
              <a:srgbClr val="C6D0DD"/>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1" name="Text Box 40"/>
          <p:cNvSpPr txBox="1"/>
          <p:nvPr/>
        </p:nvSpPr>
        <p:spPr>
          <a:xfrm>
            <a:off x="4038600" y="3543300"/>
            <a:ext cx="1257300" cy="188595"/>
          </a:xfrm>
          <a:prstGeom prst="rect">
            <a:avLst/>
          </a:prstGeom>
          <a:noFill/>
        </p:spPr>
        <p:txBody>
          <a:bodyPr wrap="square" lIns="0" tIns="0" rIns="0" rtlCol="0" anchor="t">
            <a:spAutoFit/>
          </a:bodyPr>
          <a:p>
            <a:pPr algn="ctr"/>
            <a:r>
              <a:rPr lang="en-US" sz="930">
                <a:solidFill>
                  <a:srgbClr val="172B4D"/>
                </a:solidFill>
                <a:latin typeface="Aptos" charset="0"/>
                <a:cs typeface="Aptos" charset="0"/>
              </a:rPr>
              <a:t>12.791</a:t>
            </a:r>
            <a:endParaRPr lang="en-US" sz="930">
              <a:solidFill>
                <a:srgbClr val="172B4D"/>
              </a:solidFill>
              <a:latin typeface="Aptos" charset="0"/>
              <a:cs typeface="Aptos" charset="0"/>
            </a:endParaRPr>
          </a:p>
        </p:txBody>
      </p:sp>
      <p:sp>
        <p:nvSpPr>
          <p:cNvPr id="42" name="Rectangle 41"/>
          <p:cNvSpPr/>
          <p:nvPr/>
        </p:nvSpPr>
        <p:spPr>
          <a:xfrm>
            <a:off x="5334000" y="3352800"/>
            <a:ext cx="1333500" cy="635000"/>
          </a:xfrm>
          <a:prstGeom prst="rect">
            <a:avLst/>
          </a:prstGeom>
          <a:solidFill>
            <a:srgbClr val="F4F7FB"/>
          </a:solidFill>
          <a:ln w="12700">
            <a:solidFill>
              <a:srgbClr val="C6D0DD"/>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3" name="Text Box 42"/>
          <p:cNvSpPr txBox="1"/>
          <p:nvPr/>
        </p:nvSpPr>
        <p:spPr>
          <a:xfrm>
            <a:off x="5372100" y="3543300"/>
            <a:ext cx="1257300" cy="188595"/>
          </a:xfrm>
          <a:prstGeom prst="rect">
            <a:avLst/>
          </a:prstGeom>
          <a:noFill/>
        </p:spPr>
        <p:txBody>
          <a:bodyPr wrap="square" lIns="0" tIns="0" rIns="0" rtlCol="0" anchor="t">
            <a:spAutoFit/>
          </a:bodyPr>
          <a:p>
            <a:pPr algn="ctr"/>
            <a:r>
              <a:rPr lang="en-US" sz="930">
                <a:solidFill>
                  <a:srgbClr val="172B4D"/>
                </a:solidFill>
                <a:latin typeface="Aptos" charset="0"/>
                <a:cs typeface="Aptos" charset="0"/>
              </a:rPr>
              <a:t>13.847</a:t>
            </a:r>
            <a:endParaRPr lang="en-US" sz="930">
              <a:solidFill>
                <a:srgbClr val="172B4D"/>
              </a:solidFill>
              <a:latin typeface="Aptos" charset="0"/>
              <a:cs typeface="Aptos" charset="0"/>
            </a:endParaRPr>
          </a:p>
        </p:txBody>
      </p:sp>
      <p:sp>
        <p:nvSpPr>
          <p:cNvPr id="44" name="Rectangle 43"/>
          <p:cNvSpPr/>
          <p:nvPr/>
        </p:nvSpPr>
        <p:spPr>
          <a:xfrm>
            <a:off x="6667500" y="3352800"/>
            <a:ext cx="1676400" cy="635000"/>
          </a:xfrm>
          <a:prstGeom prst="rect">
            <a:avLst/>
          </a:prstGeom>
          <a:solidFill>
            <a:srgbClr val="F4F7FB"/>
          </a:solidFill>
          <a:ln w="12700">
            <a:solidFill>
              <a:srgbClr val="C6D0DD"/>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5" name="Text Box 44"/>
          <p:cNvSpPr txBox="1"/>
          <p:nvPr/>
        </p:nvSpPr>
        <p:spPr>
          <a:xfrm>
            <a:off x="6705600" y="3543300"/>
            <a:ext cx="1600200" cy="188595"/>
          </a:xfrm>
          <a:prstGeom prst="rect">
            <a:avLst/>
          </a:prstGeom>
          <a:noFill/>
        </p:spPr>
        <p:txBody>
          <a:bodyPr wrap="square" lIns="0" tIns="0" rIns="0" rtlCol="0" anchor="t">
            <a:spAutoFit/>
          </a:bodyPr>
          <a:p>
            <a:pPr algn="ctr"/>
            <a:r>
              <a:rPr lang="en-US" sz="930">
                <a:solidFill>
                  <a:srgbClr val="172B4D"/>
                </a:solidFill>
                <a:latin typeface="Aptos" charset="0"/>
                <a:cs typeface="Aptos" charset="0"/>
              </a:rPr>
              <a:t>40.001</a:t>
            </a:r>
            <a:endParaRPr lang="en-US" sz="930">
              <a:solidFill>
                <a:srgbClr val="172B4D"/>
              </a:solidFill>
              <a:latin typeface="Aptos" charset="0"/>
              <a:cs typeface="Aptos" charset="0"/>
            </a:endParaRPr>
          </a:p>
        </p:txBody>
      </p:sp>
      <p:sp>
        <p:nvSpPr>
          <p:cNvPr id="46" name="Text Box 45"/>
          <p:cNvSpPr txBox="1"/>
          <p:nvPr/>
        </p:nvSpPr>
        <p:spPr>
          <a:xfrm>
            <a:off x="609600" y="4254500"/>
            <a:ext cx="6604000" cy="191770"/>
          </a:xfrm>
          <a:prstGeom prst="rect">
            <a:avLst/>
          </a:prstGeom>
          <a:noFill/>
        </p:spPr>
        <p:txBody>
          <a:bodyPr wrap="square" lIns="0" tIns="0" rIns="0" rtlCol="0" anchor="t">
            <a:spAutoFit/>
          </a:bodyPr>
          <a:p>
            <a:pPr algn="l"/>
            <a:r>
              <a:rPr lang="en-US" sz="950" b="1">
                <a:solidFill>
                  <a:srgbClr val="2F6BFF"/>
                </a:solidFill>
                <a:latin typeface="Aptos" charset="0"/>
                <a:cs typeface="Aptos" charset="0"/>
              </a:rPr>
              <a:t>NHÓM POPULARITY TỪ FINAL TRAIN</a:t>
            </a:r>
            <a:endParaRPr lang="en-US" sz="950" b="1">
              <a:solidFill>
                <a:srgbClr val="2F6BFF"/>
              </a:solidFill>
              <a:latin typeface="Aptos" charset="0"/>
              <a:cs typeface="Aptos" charset="0"/>
            </a:endParaRPr>
          </a:p>
        </p:txBody>
      </p:sp>
      <p:sp>
        <p:nvSpPr>
          <p:cNvPr id="47" name="Rounded Rectangle 46"/>
          <p:cNvSpPr/>
          <p:nvPr/>
        </p:nvSpPr>
        <p:spPr>
          <a:xfrm>
            <a:off x="609600" y="4648200"/>
            <a:ext cx="1905000" cy="1155700"/>
          </a:xfrm>
          <a:prstGeom prst="roundRect">
            <a:avLst/>
          </a:prstGeom>
          <a:solidFill>
            <a:srgbClr val="F4F7FB"/>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8" name="Text Box 47"/>
          <p:cNvSpPr txBox="1"/>
          <p:nvPr/>
        </p:nvSpPr>
        <p:spPr>
          <a:xfrm>
            <a:off x="609600" y="4800600"/>
            <a:ext cx="1905000" cy="175895"/>
          </a:xfrm>
          <a:prstGeom prst="rect">
            <a:avLst/>
          </a:prstGeom>
          <a:noFill/>
        </p:spPr>
        <p:txBody>
          <a:bodyPr wrap="square" lIns="0" tIns="0" rIns="0" rtlCol="0" anchor="t">
            <a:spAutoFit/>
          </a:bodyPr>
          <a:p>
            <a:pPr algn="ctr"/>
            <a:r>
              <a:rPr lang="en-US" sz="850" b="1">
                <a:solidFill>
                  <a:srgbClr val="576884"/>
                </a:solidFill>
                <a:latin typeface="Aptos" charset="0"/>
                <a:cs typeface="Aptos" charset="0"/>
              </a:rPr>
              <a:t>COLD</a:t>
            </a:r>
            <a:endParaRPr lang="en-US" sz="850" b="1">
              <a:solidFill>
                <a:srgbClr val="576884"/>
              </a:solidFill>
              <a:latin typeface="Aptos" charset="0"/>
              <a:cs typeface="Aptos" charset="0"/>
            </a:endParaRPr>
          </a:p>
        </p:txBody>
      </p:sp>
      <p:sp>
        <p:nvSpPr>
          <p:cNvPr id="49" name="Text Box 48"/>
          <p:cNvSpPr txBox="1"/>
          <p:nvPr/>
        </p:nvSpPr>
        <p:spPr>
          <a:xfrm>
            <a:off x="609600" y="5105400"/>
            <a:ext cx="1905000" cy="245745"/>
          </a:xfrm>
          <a:prstGeom prst="rect">
            <a:avLst/>
          </a:prstGeom>
          <a:noFill/>
        </p:spPr>
        <p:txBody>
          <a:bodyPr wrap="square" lIns="0" tIns="0" rIns="0" rtlCol="0" anchor="t">
            <a:spAutoFit/>
          </a:bodyPr>
          <a:p>
            <a:pPr algn="ctr"/>
            <a:r>
              <a:rPr lang="en-US" sz="1300" b="1">
                <a:solidFill>
                  <a:srgbClr val="0B1F33"/>
                </a:solidFill>
                <a:latin typeface="Aptos" charset="0"/>
                <a:cs typeface="Aptos" charset="0"/>
              </a:rPr>
              <a:t>7.647 item</a:t>
            </a:r>
            <a:endParaRPr lang="en-US" sz="1300" b="1">
              <a:solidFill>
                <a:srgbClr val="0B1F33"/>
              </a:solidFill>
              <a:latin typeface="Aptos" charset="0"/>
              <a:cs typeface="Aptos" charset="0"/>
            </a:endParaRPr>
          </a:p>
        </p:txBody>
      </p:sp>
      <p:sp>
        <p:nvSpPr>
          <p:cNvPr id="50" name="Text Box 49"/>
          <p:cNvSpPr txBox="1"/>
          <p:nvPr/>
        </p:nvSpPr>
        <p:spPr>
          <a:xfrm>
            <a:off x="609600" y="5473700"/>
            <a:ext cx="1905000" cy="175895"/>
          </a:xfrm>
          <a:prstGeom prst="rect">
            <a:avLst/>
          </a:prstGeom>
          <a:noFill/>
        </p:spPr>
        <p:txBody>
          <a:bodyPr wrap="square" lIns="0" tIns="0" rIns="0" rtlCol="0" anchor="t">
            <a:spAutoFit/>
          </a:bodyPr>
          <a:p>
            <a:pPr algn="ctr"/>
            <a:r>
              <a:rPr lang="en-US" sz="850" b="1">
                <a:solidFill>
                  <a:srgbClr val="576884"/>
                </a:solidFill>
                <a:latin typeface="Aptos" charset="0"/>
                <a:cs typeface="Aptos" charset="0"/>
              </a:rPr>
              <a:t>f = 0</a:t>
            </a:r>
            <a:endParaRPr lang="en-US" sz="850" b="1">
              <a:solidFill>
                <a:srgbClr val="576884"/>
              </a:solidFill>
              <a:latin typeface="Aptos" charset="0"/>
              <a:cs typeface="Aptos" charset="0"/>
            </a:endParaRPr>
          </a:p>
        </p:txBody>
      </p:sp>
      <p:sp>
        <p:nvSpPr>
          <p:cNvPr id="51" name="Rounded Rectangle 50"/>
          <p:cNvSpPr/>
          <p:nvPr/>
        </p:nvSpPr>
        <p:spPr>
          <a:xfrm>
            <a:off x="2692400" y="4648200"/>
            <a:ext cx="1905000" cy="11557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2" name="Text Box 51"/>
          <p:cNvSpPr txBox="1"/>
          <p:nvPr/>
        </p:nvSpPr>
        <p:spPr>
          <a:xfrm>
            <a:off x="2692400" y="4800600"/>
            <a:ext cx="1905000" cy="175895"/>
          </a:xfrm>
          <a:prstGeom prst="rect">
            <a:avLst/>
          </a:prstGeom>
          <a:noFill/>
        </p:spPr>
        <p:txBody>
          <a:bodyPr wrap="square" lIns="0" tIns="0" rIns="0" rtlCol="0" anchor="t">
            <a:spAutoFit/>
          </a:bodyPr>
          <a:p>
            <a:pPr algn="ctr"/>
            <a:r>
              <a:rPr lang="en-US" sz="850" b="1">
                <a:solidFill>
                  <a:srgbClr val="2F6BFF"/>
                </a:solidFill>
                <a:latin typeface="Aptos" charset="0"/>
                <a:cs typeface="Aptos" charset="0"/>
              </a:rPr>
              <a:t>RARE</a:t>
            </a:r>
            <a:endParaRPr lang="en-US" sz="850" b="1">
              <a:solidFill>
                <a:srgbClr val="2F6BFF"/>
              </a:solidFill>
              <a:latin typeface="Aptos" charset="0"/>
              <a:cs typeface="Aptos" charset="0"/>
            </a:endParaRPr>
          </a:p>
        </p:txBody>
      </p:sp>
      <p:sp>
        <p:nvSpPr>
          <p:cNvPr id="53" name="Text Box 52"/>
          <p:cNvSpPr txBox="1"/>
          <p:nvPr/>
        </p:nvSpPr>
        <p:spPr>
          <a:xfrm>
            <a:off x="2692400" y="5105400"/>
            <a:ext cx="1905000" cy="245745"/>
          </a:xfrm>
          <a:prstGeom prst="rect">
            <a:avLst/>
          </a:prstGeom>
          <a:noFill/>
        </p:spPr>
        <p:txBody>
          <a:bodyPr wrap="square" lIns="0" tIns="0" rIns="0" rtlCol="0" anchor="t">
            <a:spAutoFit/>
          </a:bodyPr>
          <a:p>
            <a:pPr algn="ctr"/>
            <a:r>
              <a:rPr lang="en-US" sz="1300" b="1">
                <a:solidFill>
                  <a:srgbClr val="0B1F33"/>
                </a:solidFill>
                <a:latin typeface="Aptos" charset="0"/>
                <a:cs typeface="Aptos" charset="0"/>
              </a:rPr>
              <a:t>6.884 item</a:t>
            </a:r>
            <a:endParaRPr lang="en-US" sz="1300" b="1">
              <a:solidFill>
                <a:srgbClr val="0B1F33"/>
              </a:solidFill>
              <a:latin typeface="Aptos" charset="0"/>
              <a:cs typeface="Aptos" charset="0"/>
            </a:endParaRPr>
          </a:p>
        </p:txBody>
      </p:sp>
      <p:sp>
        <p:nvSpPr>
          <p:cNvPr id="54" name="Text Box 53"/>
          <p:cNvSpPr txBox="1"/>
          <p:nvPr/>
        </p:nvSpPr>
        <p:spPr>
          <a:xfrm>
            <a:off x="2692400" y="5473700"/>
            <a:ext cx="1905000" cy="175895"/>
          </a:xfrm>
          <a:prstGeom prst="rect">
            <a:avLst/>
          </a:prstGeom>
          <a:noFill/>
        </p:spPr>
        <p:txBody>
          <a:bodyPr wrap="square" lIns="0" tIns="0" rIns="0" rtlCol="0" anchor="t">
            <a:spAutoFit/>
          </a:bodyPr>
          <a:p>
            <a:pPr algn="ctr"/>
            <a:r>
              <a:rPr lang="en-US" sz="850" b="1">
                <a:solidFill>
                  <a:srgbClr val="576884"/>
                </a:solidFill>
                <a:latin typeface="Aptos" charset="0"/>
                <a:cs typeface="Aptos" charset="0"/>
              </a:rPr>
              <a:t>f ≤ 6</a:t>
            </a:r>
            <a:endParaRPr lang="en-US" sz="850" b="1">
              <a:solidFill>
                <a:srgbClr val="576884"/>
              </a:solidFill>
              <a:latin typeface="Aptos" charset="0"/>
              <a:cs typeface="Aptos" charset="0"/>
            </a:endParaRPr>
          </a:p>
        </p:txBody>
      </p:sp>
      <p:sp>
        <p:nvSpPr>
          <p:cNvPr id="55" name="Rounded Rectangle 54"/>
          <p:cNvSpPr/>
          <p:nvPr/>
        </p:nvSpPr>
        <p:spPr>
          <a:xfrm>
            <a:off x="4775200" y="4648200"/>
            <a:ext cx="1905000" cy="1155700"/>
          </a:xfrm>
          <a:prstGeom prst="roundRect">
            <a:avLst/>
          </a:prstGeom>
          <a:solidFill>
            <a:srgbClr val="E4F8F5"/>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6" name="Text Box 55"/>
          <p:cNvSpPr txBox="1"/>
          <p:nvPr/>
        </p:nvSpPr>
        <p:spPr>
          <a:xfrm>
            <a:off x="4775200" y="4800600"/>
            <a:ext cx="1905000" cy="175895"/>
          </a:xfrm>
          <a:prstGeom prst="rect">
            <a:avLst/>
          </a:prstGeom>
          <a:noFill/>
        </p:spPr>
        <p:txBody>
          <a:bodyPr wrap="square" lIns="0" tIns="0" rIns="0" rtlCol="0" anchor="t">
            <a:spAutoFit/>
          </a:bodyPr>
          <a:p>
            <a:pPr algn="ctr"/>
            <a:r>
              <a:rPr lang="en-US" sz="850" b="1">
                <a:solidFill>
                  <a:srgbClr val="16B3A3"/>
                </a:solidFill>
                <a:latin typeface="Aptos" charset="0"/>
                <a:cs typeface="Aptos" charset="0"/>
              </a:rPr>
              <a:t>MEDIUM</a:t>
            </a:r>
            <a:endParaRPr lang="en-US" sz="850" b="1">
              <a:solidFill>
                <a:srgbClr val="16B3A3"/>
              </a:solidFill>
              <a:latin typeface="Aptos" charset="0"/>
              <a:cs typeface="Aptos" charset="0"/>
            </a:endParaRPr>
          </a:p>
        </p:txBody>
      </p:sp>
      <p:sp>
        <p:nvSpPr>
          <p:cNvPr id="57" name="Text Box 56"/>
          <p:cNvSpPr txBox="1"/>
          <p:nvPr/>
        </p:nvSpPr>
        <p:spPr>
          <a:xfrm>
            <a:off x="4775200" y="5105400"/>
            <a:ext cx="1905000" cy="245745"/>
          </a:xfrm>
          <a:prstGeom prst="rect">
            <a:avLst/>
          </a:prstGeom>
          <a:noFill/>
        </p:spPr>
        <p:txBody>
          <a:bodyPr wrap="square" lIns="0" tIns="0" rIns="0" rtlCol="0" anchor="t">
            <a:spAutoFit/>
          </a:bodyPr>
          <a:p>
            <a:pPr algn="ctr"/>
            <a:r>
              <a:rPr lang="en-US" sz="1300" b="1">
                <a:solidFill>
                  <a:srgbClr val="0B1F33"/>
                </a:solidFill>
                <a:latin typeface="Aptos" charset="0"/>
                <a:cs typeface="Aptos" charset="0"/>
              </a:rPr>
              <a:t>16.940 item</a:t>
            </a:r>
            <a:endParaRPr lang="en-US" sz="1300" b="1">
              <a:solidFill>
                <a:srgbClr val="0B1F33"/>
              </a:solidFill>
              <a:latin typeface="Aptos" charset="0"/>
              <a:cs typeface="Aptos" charset="0"/>
            </a:endParaRPr>
          </a:p>
        </p:txBody>
      </p:sp>
      <p:sp>
        <p:nvSpPr>
          <p:cNvPr id="58" name="Text Box 57"/>
          <p:cNvSpPr txBox="1"/>
          <p:nvPr/>
        </p:nvSpPr>
        <p:spPr>
          <a:xfrm>
            <a:off x="4775200" y="5473700"/>
            <a:ext cx="1905000" cy="175895"/>
          </a:xfrm>
          <a:prstGeom prst="rect">
            <a:avLst/>
          </a:prstGeom>
          <a:noFill/>
        </p:spPr>
        <p:txBody>
          <a:bodyPr wrap="square" lIns="0" tIns="0" rIns="0" rtlCol="0" anchor="t">
            <a:spAutoFit/>
          </a:bodyPr>
          <a:p>
            <a:pPr algn="ctr"/>
            <a:r>
              <a:rPr lang="en-US" sz="850" b="1">
                <a:solidFill>
                  <a:srgbClr val="576884"/>
                </a:solidFill>
                <a:latin typeface="Aptos" charset="0"/>
                <a:cs typeface="Aptos" charset="0"/>
              </a:rPr>
              <a:t>f = 7–26</a:t>
            </a:r>
            <a:endParaRPr lang="en-US" sz="850" b="1">
              <a:solidFill>
                <a:srgbClr val="576884"/>
              </a:solidFill>
              <a:latin typeface="Aptos" charset="0"/>
              <a:cs typeface="Aptos" charset="0"/>
            </a:endParaRPr>
          </a:p>
        </p:txBody>
      </p:sp>
      <p:sp>
        <p:nvSpPr>
          <p:cNvPr id="59" name="Rounded Rectangle 58"/>
          <p:cNvSpPr/>
          <p:nvPr/>
        </p:nvSpPr>
        <p:spPr>
          <a:xfrm>
            <a:off x="6858000" y="4648200"/>
            <a:ext cx="1905000" cy="1155700"/>
          </a:xfrm>
          <a:prstGeom prst="roundRect">
            <a:avLst/>
          </a:prstGeom>
          <a:solidFill>
            <a:srgbClr val="FFF4E4"/>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0" name="Text Box 59"/>
          <p:cNvSpPr txBox="1"/>
          <p:nvPr/>
        </p:nvSpPr>
        <p:spPr>
          <a:xfrm>
            <a:off x="6858000" y="4800600"/>
            <a:ext cx="1905000" cy="175895"/>
          </a:xfrm>
          <a:prstGeom prst="rect">
            <a:avLst/>
          </a:prstGeom>
          <a:noFill/>
        </p:spPr>
        <p:txBody>
          <a:bodyPr wrap="square" lIns="0" tIns="0" rIns="0" rtlCol="0" anchor="t">
            <a:spAutoFit/>
          </a:bodyPr>
          <a:p>
            <a:pPr algn="ctr"/>
            <a:r>
              <a:rPr lang="en-US" sz="850" b="1">
                <a:solidFill>
                  <a:srgbClr val="FF9F43"/>
                </a:solidFill>
                <a:latin typeface="Aptos" charset="0"/>
                <a:cs typeface="Aptos" charset="0"/>
              </a:rPr>
              <a:t>POPULAR</a:t>
            </a:r>
            <a:endParaRPr lang="en-US" sz="850" b="1">
              <a:solidFill>
                <a:srgbClr val="FF9F43"/>
              </a:solidFill>
              <a:latin typeface="Aptos" charset="0"/>
              <a:cs typeface="Aptos" charset="0"/>
            </a:endParaRPr>
          </a:p>
        </p:txBody>
      </p:sp>
      <p:sp>
        <p:nvSpPr>
          <p:cNvPr id="61" name="Text Box 60"/>
          <p:cNvSpPr txBox="1"/>
          <p:nvPr/>
        </p:nvSpPr>
        <p:spPr>
          <a:xfrm>
            <a:off x="6858000" y="5105400"/>
            <a:ext cx="1905000" cy="245745"/>
          </a:xfrm>
          <a:prstGeom prst="rect">
            <a:avLst/>
          </a:prstGeom>
          <a:noFill/>
        </p:spPr>
        <p:txBody>
          <a:bodyPr wrap="square" lIns="0" tIns="0" rIns="0" rtlCol="0" anchor="t">
            <a:spAutoFit/>
          </a:bodyPr>
          <a:p>
            <a:pPr algn="ctr"/>
            <a:r>
              <a:rPr lang="en-US" sz="1300" b="1">
                <a:solidFill>
                  <a:srgbClr val="0B1F33"/>
                </a:solidFill>
                <a:latin typeface="Aptos" charset="0"/>
                <a:cs typeface="Aptos" charset="0"/>
              </a:rPr>
              <a:t>6.112 item</a:t>
            </a:r>
            <a:endParaRPr lang="en-US" sz="1300" b="1">
              <a:solidFill>
                <a:srgbClr val="0B1F33"/>
              </a:solidFill>
              <a:latin typeface="Aptos" charset="0"/>
              <a:cs typeface="Aptos" charset="0"/>
            </a:endParaRPr>
          </a:p>
        </p:txBody>
      </p:sp>
      <p:sp>
        <p:nvSpPr>
          <p:cNvPr id="62" name="Text Box 61"/>
          <p:cNvSpPr txBox="1"/>
          <p:nvPr/>
        </p:nvSpPr>
        <p:spPr>
          <a:xfrm>
            <a:off x="6858000" y="5473700"/>
            <a:ext cx="1905000" cy="175895"/>
          </a:xfrm>
          <a:prstGeom prst="rect">
            <a:avLst/>
          </a:prstGeom>
          <a:noFill/>
        </p:spPr>
        <p:txBody>
          <a:bodyPr wrap="square" lIns="0" tIns="0" rIns="0" rtlCol="0" anchor="t">
            <a:spAutoFit/>
          </a:bodyPr>
          <a:p>
            <a:pPr algn="ctr"/>
            <a:r>
              <a:rPr lang="en-US" sz="850" b="1">
                <a:solidFill>
                  <a:srgbClr val="576884"/>
                </a:solidFill>
                <a:latin typeface="Aptos" charset="0"/>
                <a:cs typeface="Aptos" charset="0"/>
              </a:rPr>
              <a:t>f ≥ 27</a:t>
            </a:r>
            <a:endParaRPr lang="en-US" sz="850" b="1">
              <a:solidFill>
                <a:srgbClr val="576884"/>
              </a:solidFill>
              <a:latin typeface="Aptos" charset="0"/>
              <a:cs typeface="Aptos" charset="0"/>
            </a:endParaRPr>
          </a:p>
        </p:txBody>
      </p:sp>
      <p:sp>
        <p:nvSpPr>
          <p:cNvPr id="63" name="Rounded Rectangle 62"/>
          <p:cNvSpPr/>
          <p:nvPr/>
        </p:nvSpPr>
        <p:spPr>
          <a:xfrm>
            <a:off x="9144000" y="1625600"/>
            <a:ext cx="2235200" cy="4178300"/>
          </a:xfrm>
          <a:prstGeom prst="roundRect">
            <a:avLst/>
          </a:prstGeom>
          <a:solidFill>
            <a:srgbClr val="0B1F33"/>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4" name="Text Box 63"/>
          <p:cNvSpPr txBox="1"/>
          <p:nvPr/>
        </p:nvSpPr>
        <p:spPr>
          <a:xfrm>
            <a:off x="9372600" y="1905000"/>
            <a:ext cx="1778000" cy="191770"/>
          </a:xfrm>
          <a:prstGeom prst="rect">
            <a:avLst/>
          </a:prstGeom>
          <a:noFill/>
        </p:spPr>
        <p:txBody>
          <a:bodyPr wrap="square" lIns="0" tIns="0" rIns="0" rtlCol="0" anchor="t">
            <a:spAutoFit/>
          </a:bodyPr>
          <a:p>
            <a:pPr algn="ctr"/>
            <a:r>
              <a:rPr lang="en-US" sz="950" b="1">
                <a:solidFill>
                  <a:srgbClr val="16B3A3"/>
                </a:solidFill>
                <a:latin typeface="Aptos" charset="0"/>
                <a:cs typeface="Aptos" charset="0"/>
              </a:rPr>
              <a:t>CÁCH HIỂU</a:t>
            </a:r>
            <a:endParaRPr lang="en-US" sz="950" b="1">
              <a:solidFill>
                <a:srgbClr val="16B3A3"/>
              </a:solidFill>
              <a:latin typeface="Aptos" charset="0"/>
              <a:cs typeface="Aptos" charset="0"/>
            </a:endParaRPr>
          </a:p>
        </p:txBody>
      </p:sp>
      <p:sp>
        <p:nvSpPr>
          <p:cNvPr id="65" name="Text Box 64"/>
          <p:cNvSpPr txBox="1"/>
          <p:nvPr/>
        </p:nvSpPr>
        <p:spPr>
          <a:xfrm>
            <a:off x="9398000" y="2425700"/>
            <a:ext cx="1727200" cy="1787525"/>
          </a:xfrm>
          <a:prstGeom prst="rect">
            <a:avLst/>
          </a:prstGeom>
          <a:noFill/>
        </p:spPr>
        <p:txBody>
          <a:bodyPr wrap="square" lIns="0" tIns="0" rIns="0" rtlCol="0" anchor="t">
            <a:spAutoFit/>
          </a:bodyPr>
          <a:p>
            <a:pPr algn="l"/>
            <a:r>
              <a:rPr lang="en-US" sz="1030">
                <a:solidFill>
                  <a:srgbClr val="FFFFFF"/>
                </a:solidFill>
                <a:latin typeface="Aptos" charset="0"/>
                <a:cs typeface="Aptos" charset="0"/>
              </a:rPr>
              <a:t>Rare/medium/popular là các warm item đã được học.
Nhóm không đúng chính xác 20% vì pipeline giữ các item có cùng frequency trong cùng một nhóm.
Main accuracy chỉ đo trên warm target để phù hợp ba baseline item-ID-based.</a:t>
            </a:r>
            <a:endParaRPr lang="en-US" sz="1030">
              <a:solidFill>
                <a:srgbClr val="FFFFFF"/>
              </a:solidFill>
              <a:latin typeface="Aptos" charset="0"/>
              <a:cs typeface="Aptos"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2000" cy="68580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Rectangle 2"/>
          <p:cNvSpPr/>
          <p:nvPr/>
        </p:nvSpPr>
        <p:spPr>
          <a:xfrm>
            <a:off x="0" y="0"/>
            <a:ext cx="177800" cy="6858000"/>
          </a:xfrm>
          <a:prstGeom prst="rect">
            <a:avLst/>
          </a:prstGeom>
          <a:solidFill>
            <a:srgbClr val="2F6B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ext Box 3"/>
          <p:cNvSpPr txBox="1"/>
          <p:nvPr/>
        </p:nvSpPr>
        <p:spPr>
          <a:xfrm>
            <a:off x="635000" y="355600"/>
            <a:ext cx="10922000" cy="437515"/>
          </a:xfrm>
          <a:prstGeom prst="rect">
            <a:avLst/>
          </a:prstGeom>
          <a:noFill/>
        </p:spPr>
        <p:txBody>
          <a:bodyPr wrap="square" lIns="0" tIns="0" rIns="0" rtlCol="0" anchor="t">
            <a:spAutoFit/>
          </a:bodyPr>
          <a:p>
            <a:pPr algn="l"/>
            <a:r>
              <a:rPr lang="en-US" sz="2550" b="1">
                <a:solidFill>
                  <a:srgbClr val="0B1F33"/>
                </a:solidFill>
                <a:latin typeface="Aptos" charset="0"/>
                <a:cs typeface="Aptos" charset="0"/>
              </a:rPr>
              <a:t>Notebook 02 đã xuất gì và kiểm tra những gì?</a:t>
            </a:r>
            <a:endParaRPr lang="en-US" sz="2550" b="1">
              <a:solidFill>
                <a:srgbClr val="0B1F33"/>
              </a:solidFill>
              <a:latin typeface="Aptos" charset="0"/>
              <a:cs typeface="Aptos" charset="0"/>
            </a:endParaRPr>
          </a:p>
        </p:txBody>
      </p:sp>
      <p:sp>
        <p:nvSpPr>
          <p:cNvPr id="5" name="Text Box 4"/>
          <p:cNvSpPr txBox="1"/>
          <p:nvPr/>
        </p:nvSpPr>
        <p:spPr>
          <a:xfrm>
            <a:off x="10515600" y="6477000"/>
            <a:ext cx="1016000" cy="207010"/>
          </a:xfrm>
          <a:prstGeom prst="rect">
            <a:avLst/>
          </a:prstGeom>
          <a:noFill/>
        </p:spPr>
        <p:txBody>
          <a:bodyPr wrap="square" lIns="0" tIns="0" rIns="0" rtlCol="0" anchor="t">
            <a:spAutoFit/>
          </a:bodyPr>
          <a:p>
            <a:pPr algn="r"/>
            <a:r>
              <a:rPr lang="en-US" sz="1050" b="1">
                <a:solidFill>
                  <a:srgbClr val="2F6BFF"/>
                </a:solidFill>
                <a:latin typeface="Aptos" charset="0"/>
                <a:cs typeface="Aptos" charset="0"/>
              </a:rPr>
              <a:t>24 / 25</a:t>
            </a:r>
            <a:endParaRPr lang="en-US" sz="1050" b="1">
              <a:solidFill>
                <a:srgbClr val="2F6BFF"/>
              </a:solidFill>
              <a:latin typeface="Aptos" charset="0"/>
              <a:cs typeface="Aptos" charset="0"/>
            </a:endParaRPr>
          </a:p>
        </p:txBody>
      </p:sp>
      <p:sp>
        <p:nvSpPr>
          <p:cNvPr id="6" name="Rounded Rectangle 5"/>
          <p:cNvSpPr/>
          <p:nvPr/>
        </p:nvSpPr>
        <p:spPr>
          <a:xfrm>
            <a:off x="635000" y="1219200"/>
            <a:ext cx="5334000" cy="19939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 name="Text Box 6"/>
          <p:cNvSpPr txBox="1"/>
          <p:nvPr/>
        </p:nvSpPr>
        <p:spPr>
          <a:xfrm>
            <a:off x="838200" y="1397000"/>
            <a:ext cx="533400" cy="306705"/>
          </a:xfrm>
          <a:prstGeom prst="rect">
            <a:avLst/>
          </a:prstGeom>
          <a:noFill/>
        </p:spPr>
        <p:txBody>
          <a:bodyPr wrap="square" lIns="0" tIns="0" rIns="0" rtlCol="0" anchor="t">
            <a:spAutoFit/>
          </a:bodyPr>
          <a:p>
            <a:pPr algn="l"/>
            <a:r>
              <a:rPr lang="en-US" sz="1700" b="1">
                <a:solidFill>
                  <a:srgbClr val="2F6BFF"/>
                </a:solidFill>
                <a:latin typeface="Aptos" charset="0"/>
                <a:cs typeface="Aptos" charset="0"/>
              </a:rPr>
              <a:t>01</a:t>
            </a:r>
            <a:endParaRPr lang="en-US" sz="1700" b="1">
              <a:solidFill>
                <a:srgbClr val="2F6BFF"/>
              </a:solidFill>
              <a:latin typeface="Aptos" charset="0"/>
              <a:cs typeface="Aptos" charset="0"/>
            </a:endParaRPr>
          </a:p>
        </p:txBody>
      </p:sp>
      <p:sp>
        <p:nvSpPr>
          <p:cNvPr id="8" name="Text Box 7"/>
          <p:cNvSpPr txBox="1"/>
          <p:nvPr/>
        </p:nvSpPr>
        <p:spPr>
          <a:xfrm>
            <a:off x="1422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Parquet và examples</a:t>
            </a:r>
            <a:endParaRPr lang="en-US" sz="1350" b="1">
              <a:solidFill>
                <a:srgbClr val="0B1F33"/>
              </a:solidFill>
              <a:latin typeface="Aptos" charset="0"/>
              <a:cs typeface="Aptos" charset="0"/>
            </a:endParaRPr>
          </a:p>
        </p:txBody>
      </p:sp>
      <p:sp>
        <p:nvSpPr>
          <p:cNvPr id="9" name="Text Box 8"/>
          <p:cNvSpPr txBox="1"/>
          <p:nvPr/>
        </p:nvSpPr>
        <p:spPr>
          <a:xfrm>
            <a:off x="889000" y="18796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Xuất event, session sequence, all-prefix examples và last-item examples cho train/validation/test. Bản validation/test full được giữ để audit cold.</a:t>
            </a:r>
            <a:endParaRPr lang="en-US" sz="1200">
              <a:solidFill>
                <a:srgbClr val="172B4D"/>
              </a:solidFill>
              <a:latin typeface="Aptos" charset="0"/>
              <a:cs typeface="Aptos" charset="0"/>
            </a:endParaRPr>
          </a:p>
        </p:txBody>
      </p:sp>
      <p:sp>
        <p:nvSpPr>
          <p:cNvPr id="10" name="Rounded Rectangle 9"/>
          <p:cNvSpPr/>
          <p:nvPr/>
        </p:nvSpPr>
        <p:spPr>
          <a:xfrm>
            <a:off x="6223000" y="1219200"/>
            <a:ext cx="5334000" cy="1993900"/>
          </a:xfrm>
          <a:prstGeom prst="roundRect">
            <a:avLst/>
          </a:prstGeom>
          <a:solidFill>
            <a:srgbClr val="E4F8F5"/>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Text Box 10"/>
          <p:cNvSpPr txBox="1"/>
          <p:nvPr/>
        </p:nvSpPr>
        <p:spPr>
          <a:xfrm>
            <a:off x="6426200" y="1397000"/>
            <a:ext cx="533400" cy="306705"/>
          </a:xfrm>
          <a:prstGeom prst="rect">
            <a:avLst/>
          </a:prstGeom>
          <a:noFill/>
        </p:spPr>
        <p:txBody>
          <a:bodyPr wrap="square" lIns="0" tIns="0" rIns="0" rtlCol="0" anchor="t">
            <a:spAutoFit/>
          </a:bodyPr>
          <a:p>
            <a:pPr algn="l"/>
            <a:r>
              <a:rPr lang="en-US" sz="1700" b="1">
                <a:solidFill>
                  <a:srgbClr val="16B3A3"/>
                </a:solidFill>
                <a:latin typeface="Aptos" charset="0"/>
                <a:cs typeface="Aptos" charset="0"/>
              </a:rPr>
              <a:t>02</a:t>
            </a:r>
            <a:endParaRPr lang="en-US" sz="1700" b="1">
              <a:solidFill>
                <a:srgbClr val="16B3A3"/>
              </a:solidFill>
              <a:latin typeface="Aptos" charset="0"/>
              <a:cs typeface="Aptos" charset="0"/>
            </a:endParaRPr>
          </a:p>
        </p:txBody>
      </p:sp>
      <p:sp>
        <p:nvSpPr>
          <p:cNvPr id="12" name="Text Box 11"/>
          <p:cNvSpPr txBox="1"/>
          <p:nvPr/>
        </p:nvSpPr>
        <p:spPr>
          <a:xfrm>
            <a:off x="7010400" y="14097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Mapping và nhóm item</a:t>
            </a:r>
            <a:endParaRPr lang="en-US" sz="1350" b="1">
              <a:solidFill>
                <a:srgbClr val="0B1F33"/>
              </a:solidFill>
              <a:latin typeface="Aptos" charset="0"/>
              <a:cs typeface="Aptos" charset="0"/>
            </a:endParaRPr>
          </a:p>
        </p:txBody>
      </p:sp>
      <p:sp>
        <p:nvSpPr>
          <p:cNvPr id="13" name="Text Box 12"/>
          <p:cNvSpPr txBox="1"/>
          <p:nvPr/>
        </p:nvSpPr>
        <p:spPr>
          <a:xfrm>
            <a:off x="6477000" y="18796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Xuất item mapping, category mapping, popularity groups và cold item list. ID nội bộ bắt đầu từ 1; ID 0 được dành cho padding.</a:t>
            </a:r>
            <a:endParaRPr lang="en-US" sz="1200">
              <a:solidFill>
                <a:srgbClr val="172B4D"/>
              </a:solidFill>
              <a:latin typeface="Aptos" charset="0"/>
              <a:cs typeface="Aptos" charset="0"/>
            </a:endParaRPr>
          </a:p>
        </p:txBody>
      </p:sp>
      <p:sp>
        <p:nvSpPr>
          <p:cNvPr id="14" name="Rounded Rectangle 13"/>
          <p:cNvSpPr/>
          <p:nvPr/>
        </p:nvSpPr>
        <p:spPr>
          <a:xfrm>
            <a:off x="635000" y="3467100"/>
            <a:ext cx="5334000" cy="1993900"/>
          </a:xfrm>
          <a:prstGeom prst="roundRect">
            <a:avLst/>
          </a:prstGeom>
          <a:solidFill>
            <a:srgbClr val="FFF4E4"/>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5" name="Text Box 14"/>
          <p:cNvSpPr txBox="1"/>
          <p:nvPr/>
        </p:nvSpPr>
        <p:spPr>
          <a:xfrm>
            <a:off x="838200" y="3644900"/>
            <a:ext cx="533400" cy="306705"/>
          </a:xfrm>
          <a:prstGeom prst="rect">
            <a:avLst/>
          </a:prstGeom>
          <a:noFill/>
        </p:spPr>
        <p:txBody>
          <a:bodyPr wrap="square" lIns="0" tIns="0" rIns="0" rtlCol="0" anchor="t">
            <a:spAutoFit/>
          </a:bodyPr>
          <a:p>
            <a:pPr algn="l"/>
            <a:r>
              <a:rPr lang="en-US" sz="1700" b="1">
                <a:solidFill>
                  <a:srgbClr val="FF9F43"/>
                </a:solidFill>
                <a:latin typeface="Aptos" charset="0"/>
                <a:cs typeface="Aptos" charset="0"/>
              </a:rPr>
              <a:t>03</a:t>
            </a:r>
            <a:endParaRPr lang="en-US" sz="1700" b="1">
              <a:solidFill>
                <a:srgbClr val="FF9F43"/>
              </a:solidFill>
              <a:latin typeface="Aptos" charset="0"/>
              <a:cs typeface="Aptos" charset="0"/>
            </a:endParaRPr>
          </a:p>
        </p:txBody>
      </p:sp>
      <p:sp>
        <p:nvSpPr>
          <p:cNvPr id="16" name="Text Box 15"/>
          <p:cNvSpPr txBox="1"/>
          <p:nvPr/>
        </p:nvSpPr>
        <p:spPr>
          <a:xfrm>
            <a:off x="1422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Định dạng RecBole</a:t>
            </a:r>
            <a:endParaRPr lang="en-US" sz="1350" b="1">
              <a:solidFill>
                <a:srgbClr val="0B1F33"/>
              </a:solidFill>
              <a:latin typeface="Aptos" charset="0"/>
              <a:cs typeface="Aptos" charset="0"/>
            </a:endParaRPr>
          </a:p>
        </p:txBody>
      </p:sp>
      <p:sp>
        <p:nvSpPr>
          <p:cNvPr id="17" name="Text Box 16"/>
          <p:cNvSpPr txBox="1"/>
          <p:nvPr/>
        </p:nvSpPr>
        <p:spPr>
          <a:xfrm>
            <a:off x="889000" y="4127500"/>
            <a:ext cx="48260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Các file .train.inter, .valid.inter, .test.inter và .item là cùng Diginetica đã xử lý, không phải dataset khác. RecBole không được tự chia ngẫu nhiên lại.</a:t>
            </a:r>
            <a:endParaRPr lang="en-US" sz="1200">
              <a:solidFill>
                <a:srgbClr val="172B4D"/>
              </a:solidFill>
              <a:latin typeface="Aptos" charset="0"/>
              <a:cs typeface="Aptos" charset="0"/>
            </a:endParaRPr>
          </a:p>
        </p:txBody>
      </p:sp>
      <p:sp>
        <p:nvSpPr>
          <p:cNvPr id="18" name="Rounded Rectangle 17"/>
          <p:cNvSpPr/>
          <p:nvPr/>
        </p:nvSpPr>
        <p:spPr>
          <a:xfrm>
            <a:off x="6223000" y="3467100"/>
            <a:ext cx="5334000" cy="1993900"/>
          </a:xfrm>
          <a:prstGeom prst="roundRect">
            <a:avLst/>
          </a:prstGeom>
          <a:solidFill>
            <a:srgbClr val="F4F7FB"/>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9" name="Text Box 18"/>
          <p:cNvSpPr txBox="1"/>
          <p:nvPr/>
        </p:nvSpPr>
        <p:spPr>
          <a:xfrm>
            <a:off x="6426200" y="3644900"/>
            <a:ext cx="533400" cy="306705"/>
          </a:xfrm>
          <a:prstGeom prst="rect">
            <a:avLst/>
          </a:prstGeom>
          <a:noFill/>
        </p:spPr>
        <p:txBody>
          <a:bodyPr wrap="square" lIns="0" tIns="0" rIns="0" rtlCol="0" anchor="t">
            <a:spAutoFit/>
          </a:bodyPr>
          <a:p>
            <a:pPr algn="l"/>
            <a:r>
              <a:rPr lang="en-US" sz="1700" b="1">
                <a:solidFill>
                  <a:srgbClr val="E45756"/>
                </a:solidFill>
                <a:latin typeface="Aptos" charset="0"/>
                <a:cs typeface="Aptos" charset="0"/>
              </a:rPr>
              <a:t>04</a:t>
            </a:r>
            <a:endParaRPr lang="en-US" sz="1700" b="1">
              <a:solidFill>
                <a:srgbClr val="E45756"/>
              </a:solidFill>
              <a:latin typeface="Aptos" charset="0"/>
              <a:cs typeface="Aptos" charset="0"/>
            </a:endParaRPr>
          </a:p>
        </p:txBody>
      </p:sp>
      <p:sp>
        <p:nvSpPr>
          <p:cNvPr id="20" name="Text Box 19"/>
          <p:cNvSpPr txBox="1"/>
          <p:nvPr/>
        </p:nvSpPr>
        <p:spPr>
          <a:xfrm>
            <a:off x="7010400" y="3657600"/>
            <a:ext cx="43434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Kiểm tra tự động</a:t>
            </a:r>
            <a:endParaRPr lang="en-US" sz="1350" b="1">
              <a:solidFill>
                <a:srgbClr val="0B1F33"/>
              </a:solidFill>
              <a:latin typeface="Aptos" charset="0"/>
              <a:cs typeface="Aptos" charset="0"/>
            </a:endParaRPr>
          </a:p>
        </p:txBody>
      </p:sp>
      <p:sp>
        <p:nvSpPr>
          <p:cNvPr id="21" name="Text Box 20"/>
          <p:cNvSpPr txBox="1"/>
          <p:nvPr/>
        </p:nvSpPr>
        <p:spPr>
          <a:xfrm>
            <a:off x="6477000" y="4127500"/>
            <a:ext cx="4826000" cy="414655"/>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23/23 audit và 11/11 pytest đạt: không trùng session, không cold trong train, mapping duy nhất, category đầy đủ và popularity chỉ từ train.</a:t>
            </a:r>
            <a:endParaRPr lang="en-US" sz="1200">
              <a:solidFill>
                <a:srgbClr val="172B4D"/>
              </a:solidFill>
              <a:latin typeface="Aptos" charset="0"/>
              <a:cs typeface="Aptos" charset="0"/>
            </a:endParaRPr>
          </a:p>
        </p:txBody>
      </p:sp>
      <p:sp>
        <p:nvSpPr>
          <p:cNvPr id="22" name="Rounded Rectangle 21"/>
          <p:cNvSpPr/>
          <p:nvPr/>
        </p:nvSpPr>
        <p:spPr>
          <a:xfrm>
            <a:off x="2032000" y="5524500"/>
            <a:ext cx="8128000" cy="571500"/>
          </a:xfrm>
          <a:prstGeom prst="roundRect">
            <a:avLst/>
          </a:prstGeom>
          <a:solidFill>
            <a:srgbClr val="E4F8F5"/>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3" name="Text Box 22"/>
          <p:cNvSpPr txBox="1"/>
          <p:nvPr/>
        </p:nvSpPr>
        <p:spPr>
          <a:xfrm>
            <a:off x="2286000" y="5676900"/>
            <a:ext cx="7620000" cy="207010"/>
          </a:xfrm>
          <a:prstGeom prst="rect">
            <a:avLst/>
          </a:prstGeom>
          <a:noFill/>
        </p:spPr>
        <p:txBody>
          <a:bodyPr wrap="square" lIns="0" tIns="0" rIns="0" rtlCol="0" anchor="t">
            <a:spAutoFit/>
          </a:bodyPr>
          <a:p>
            <a:pPr algn="ctr"/>
            <a:r>
              <a:rPr lang="en-US" sz="1050" b="1">
                <a:solidFill>
                  <a:srgbClr val="16B3A3"/>
                </a:solidFill>
                <a:latin typeface="Aptos" charset="0"/>
                <a:cs typeface="Aptos" charset="0"/>
              </a:rPr>
              <a:t>Các kiểm tra chứng minh implementation đúng giao thức; chúng không chứng minh hyperparameter là tối ưu.</a:t>
            </a:r>
            <a:endParaRPr lang="en-US" sz="1050" b="1">
              <a:solidFill>
                <a:srgbClr val="16B3A3"/>
              </a:solidFill>
              <a:latin typeface="Aptos" charset="0"/>
              <a:cs typeface="Aptos"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2000" cy="68580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Rectangle 2"/>
          <p:cNvSpPr/>
          <p:nvPr/>
        </p:nvSpPr>
        <p:spPr>
          <a:xfrm>
            <a:off x="0" y="0"/>
            <a:ext cx="177800" cy="6858000"/>
          </a:xfrm>
          <a:prstGeom prst="rect">
            <a:avLst/>
          </a:prstGeom>
          <a:solidFill>
            <a:srgbClr val="2F6B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ext Box 3"/>
          <p:cNvSpPr txBox="1"/>
          <p:nvPr/>
        </p:nvSpPr>
        <p:spPr>
          <a:xfrm>
            <a:off x="685800" y="533400"/>
            <a:ext cx="10668000" cy="476250"/>
          </a:xfrm>
          <a:prstGeom prst="rect">
            <a:avLst/>
          </a:prstGeom>
          <a:noFill/>
        </p:spPr>
        <p:txBody>
          <a:bodyPr wrap="square" lIns="0" tIns="0" rIns="0" rtlCol="0" anchor="t">
            <a:spAutoFit/>
          </a:bodyPr>
          <a:p>
            <a:pPr algn="l"/>
            <a:r>
              <a:rPr lang="en-US" sz="2800" b="1">
                <a:solidFill>
                  <a:srgbClr val="0B1F33"/>
                </a:solidFill>
                <a:latin typeface="Aptos" charset="0"/>
                <a:cs typeface="Aptos" charset="0"/>
              </a:rPr>
              <a:t>Hai notebook đầu đã tạo nền tảng hợp lệ cho thí nghiệm</a:t>
            </a:r>
            <a:endParaRPr lang="en-US" sz="2800" b="1">
              <a:solidFill>
                <a:srgbClr val="0B1F33"/>
              </a:solidFill>
              <a:latin typeface="Aptos" charset="0"/>
              <a:cs typeface="Aptos" charset="0"/>
            </a:endParaRPr>
          </a:p>
        </p:txBody>
      </p:sp>
      <p:sp>
        <p:nvSpPr>
          <p:cNvPr id="5" name="Rounded Rectangle 4"/>
          <p:cNvSpPr/>
          <p:nvPr/>
        </p:nvSpPr>
        <p:spPr>
          <a:xfrm>
            <a:off x="685800" y="2413000"/>
            <a:ext cx="5105400" cy="2032000"/>
          </a:xfrm>
          <a:prstGeom prst="roundRect">
            <a:avLst/>
          </a:prstGeom>
          <a:solidFill>
            <a:srgbClr val="E8F0FF"/>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Text Box 5"/>
          <p:cNvSpPr txBox="1"/>
          <p:nvPr/>
        </p:nvSpPr>
        <p:spPr>
          <a:xfrm>
            <a:off x="889000" y="2590800"/>
            <a:ext cx="533400" cy="306705"/>
          </a:xfrm>
          <a:prstGeom prst="rect">
            <a:avLst/>
          </a:prstGeom>
          <a:noFill/>
        </p:spPr>
        <p:txBody>
          <a:bodyPr wrap="square" lIns="0" tIns="0" rIns="0" rtlCol="0" anchor="t">
            <a:spAutoFit/>
          </a:bodyPr>
          <a:p>
            <a:pPr algn="l"/>
            <a:r>
              <a:rPr lang="en-US" sz="1700" b="1">
                <a:solidFill>
                  <a:srgbClr val="2F6BFF"/>
                </a:solidFill>
                <a:latin typeface="Aptos" charset="0"/>
                <a:cs typeface="Aptos" charset="0"/>
              </a:rPr>
              <a:t>01</a:t>
            </a:r>
            <a:endParaRPr lang="en-US" sz="1700" b="1">
              <a:solidFill>
                <a:srgbClr val="2F6BFF"/>
              </a:solidFill>
              <a:latin typeface="Aptos" charset="0"/>
              <a:cs typeface="Aptos" charset="0"/>
            </a:endParaRPr>
          </a:p>
        </p:txBody>
      </p:sp>
      <p:sp>
        <p:nvSpPr>
          <p:cNvPr id="7" name="Text Box 6"/>
          <p:cNvSpPr txBox="1"/>
          <p:nvPr/>
        </p:nvSpPr>
        <p:spPr>
          <a:xfrm>
            <a:off x="1473200" y="2603500"/>
            <a:ext cx="41148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Điều đã chứng minh</a:t>
            </a:r>
            <a:endParaRPr lang="en-US" sz="1350" b="1">
              <a:solidFill>
                <a:srgbClr val="0B1F33"/>
              </a:solidFill>
              <a:latin typeface="Aptos" charset="0"/>
              <a:cs typeface="Aptos" charset="0"/>
            </a:endParaRPr>
          </a:p>
        </p:txBody>
      </p:sp>
      <p:sp>
        <p:nvSpPr>
          <p:cNvPr id="8" name="Text Box 7"/>
          <p:cNvSpPr txBox="1"/>
          <p:nvPr/>
        </p:nvSpPr>
        <p:spPr>
          <a:xfrm>
            <a:off x="939800" y="3073400"/>
            <a:ext cx="45974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Diginetica có long-tail mạnh; category mang tín hiệu hành vi; raw event cần sắp lại; ngưỡng lọc có trade-off lớn và dữ liệu phải chia theo thời gian.</a:t>
            </a:r>
            <a:endParaRPr lang="en-US" sz="1200">
              <a:solidFill>
                <a:srgbClr val="172B4D"/>
              </a:solidFill>
              <a:latin typeface="Aptos" charset="0"/>
              <a:cs typeface="Aptos" charset="0"/>
            </a:endParaRPr>
          </a:p>
        </p:txBody>
      </p:sp>
      <p:sp>
        <p:nvSpPr>
          <p:cNvPr id="9" name="Rounded Rectangle 8"/>
          <p:cNvSpPr/>
          <p:nvPr/>
        </p:nvSpPr>
        <p:spPr>
          <a:xfrm>
            <a:off x="6400800" y="2413000"/>
            <a:ext cx="5105400" cy="2032000"/>
          </a:xfrm>
          <a:prstGeom prst="roundRect">
            <a:avLst/>
          </a:prstGeom>
          <a:solidFill>
            <a:srgbClr val="E4F8F5"/>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Text Box 9"/>
          <p:cNvSpPr txBox="1"/>
          <p:nvPr/>
        </p:nvSpPr>
        <p:spPr>
          <a:xfrm>
            <a:off x="6604000" y="2590800"/>
            <a:ext cx="533400" cy="306705"/>
          </a:xfrm>
          <a:prstGeom prst="rect">
            <a:avLst/>
          </a:prstGeom>
          <a:noFill/>
        </p:spPr>
        <p:txBody>
          <a:bodyPr wrap="square" lIns="0" tIns="0" rIns="0" rtlCol="0" anchor="t">
            <a:spAutoFit/>
          </a:bodyPr>
          <a:p>
            <a:pPr algn="l"/>
            <a:r>
              <a:rPr lang="en-US" sz="1700" b="1">
                <a:solidFill>
                  <a:srgbClr val="16B3A3"/>
                </a:solidFill>
                <a:latin typeface="Aptos" charset="0"/>
                <a:cs typeface="Aptos" charset="0"/>
              </a:rPr>
              <a:t>02</a:t>
            </a:r>
            <a:endParaRPr lang="en-US" sz="1700" b="1">
              <a:solidFill>
                <a:srgbClr val="16B3A3"/>
              </a:solidFill>
              <a:latin typeface="Aptos" charset="0"/>
              <a:cs typeface="Aptos" charset="0"/>
            </a:endParaRPr>
          </a:p>
        </p:txBody>
      </p:sp>
      <p:sp>
        <p:nvSpPr>
          <p:cNvPr id="11" name="Text Box 10"/>
          <p:cNvSpPr txBox="1"/>
          <p:nvPr/>
        </p:nvSpPr>
        <p:spPr>
          <a:xfrm>
            <a:off x="7188200" y="2603500"/>
            <a:ext cx="4114800" cy="253365"/>
          </a:xfrm>
          <a:prstGeom prst="rect">
            <a:avLst/>
          </a:prstGeom>
          <a:noFill/>
        </p:spPr>
        <p:txBody>
          <a:bodyPr wrap="square" lIns="0" tIns="0" rIns="0" rtlCol="0" anchor="t">
            <a:spAutoFit/>
          </a:bodyPr>
          <a:p>
            <a:pPr algn="l"/>
            <a:r>
              <a:rPr lang="en-US" sz="1350" b="1">
                <a:solidFill>
                  <a:srgbClr val="0B1F33"/>
                </a:solidFill>
                <a:latin typeface="Aptos" charset="0"/>
                <a:cs typeface="Aptos" charset="0"/>
              </a:rPr>
              <a:t>Điều đã hoàn thành</a:t>
            </a:r>
            <a:endParaRPr lang="en-US" sz="1350" b="1">
              <a:solidFill>
                <a:srgbClr val="0B1F33"/>
              </a:solidFill>
              <a:latin typeface="Aptos" charset="0"/>
              <a:cs typeface="Aptos" charset="0"/>
            </a:endParaRPr>
          </a:p>
        </p:txBody>
      </p:sp>
      <p:sp>
        <p:nvSpPr>
          <p:cNvPr id="12" name="Text Box 11"/>
          <p:cNvSpPr txBox="1"/>
          <p:nvPr/>
        </p:nvSpPr>
        <p:spPr>
          <a:xfrm>
            <a:off x="6654800" y="3073400"/>
            <a:ext cx="4597400" cy="599440"/>
          </a:xfrm>
          <a:prstGeom prst="rect">
            <a:avLst/>
          </a:prstGeom>
          <a:noFill/>
        </p:spPr>
        <p:txBody>
          <a:bodyPr wrap="square" lIns="0" tIns="0" rIns="0" rtlCol="0" anchor="t">
            <a:spAutoFit/>
          </a:bodyPr>
          <a:p>
            <a:pPr algn="l"/>
            <a:r>
              <a:rPr lang="en-US" sz="1200">
                <a:solidFill>
                  <a:srgbClr val="172B4D"/>
                </a:solidFill>
                <a:latin typeface="Aptos" charset="0"/>
                <a:cs typeface="Aptos" charset="0"/>
              </a:rPr>
              <a:t>Đã tạo temporal split, fixed-point filter, controlled cold 20%, final warm evaluation, mapping, popularity groups, examples và RecBole; toàn bộ audit đều đạt.</a:t>
            </a:r>
            <a:endParaRPr lang="en-US" sz="1200">
              <a:solidFill>
                <a:srgbClr val="172B4D"/>
              </a:solidFill>
              <a:latin typeface="Aptos" charset="0"/>
              <a:cs typeface="Aptos" charset="0"/>
            </a:endParaRPr>
          </a:p>
        </p:txBody>
      </p:sp>
      <p:sp>
        <p:nvSpPr>
          <p:cNvPr id="13" name="Rounded Rectangle 12"/>
          <p:cNvSpPr/>
          <p:nvPr/>
        </p:nvSpPr>
        <p:spPr>
          <a:xfrm>
            <a:off x="685800" y="4699000"/>
            <a:ext cx="10820400" cy="1054100"/>
          </a:xfrm>
          <a:prstGeom prst="roundRect">
            <a:avLst/>
          </a:prstGeom>
          <a:solidFill>
            <a:srgbClr val="FFF4E4"/>
          </a:solidFill>
          <a:ln w="12700" cap="flat" cmpd="sng" algn="ctr">
            <a:noFill/>
            <a:prstDash val="solid"/>
            <a:miter lim="800000"/>
          </a:ln>
          <a:extLst>
            <a:ext uri="{91240B29-F687-4F45-9708-019B960494DF}">
              <a14:hiddenLine xmlns:a14="http://schemas.microsoft.com/office/drawing/2010/main" w="12700" cap="flat" cmpd="sng" algn="ctr">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Text Box 13"/>
          <p:cNvSpPr txBox="1"/>
          <p:nvPr/>
        </p:nvSpPr>
        <p:spPr>
          <a:xfrm>
            <a:off x="939800" y="4914900"/>
            <a:ext cx="2413000" cy="222250"/>
          </a:xfrm>
          <a:prstGeom prst="rect">
            <a:avLst/>
          </a:prstGeom>
          <a:noFill/>
        </p:spPr>
        <p:txBody>
          <a:bodyPr wrap="square" lIns="0" tIns="0" rIns="0" rtlCol="0" anchor="t">
            <a:spAutoFit/>
          </a:bodyPr>
          <a:p>
            <a:pPr algn="l"/>
            <a:r>
              <a:rPr lang="en-US" sz="1150" b="1">
                <a:solidFill>
                  <a:srgbClr val="FF9F43"/>
                </a:solidFill>
                <a:latin typeface="Aptos" charset="0"/>
                <a:cs typeface="Aptos" charset="0"/>
              </a:rPr>
              <a:t>CHƯA THỂ KẾT LUẬN</a:t>
            </a:r>
            <a:endParaRPr lang="en-US" sz="1150" b="1">
              <a:solidFill>
                <a:srgbClr val="FF9F43"/>
              </a:solidFill>
              <a:latin typeface="Aptos" charset="0"/>
              <a:cs typeface="Aptos" charset="0"/>
            </a:endParaRPr>
          </a:p>
        </p:txBody>
      </p:sp>
      <p:sp>
        <p:nvSpPr>
          <p:cNvPr id="15" name="Text Box 14"/>
          <p:cNvSpPr txBox="1"/>
          <p:nvPr/>
        </p:nvSpPr>
        <p:spPr>
          <a:xfrm>
            <a:off x="3479800" y="4851400"/>
            <a:ext cx="7721600" cy="419735"/>
          </a:xfrm>
          <a:prstGeom prst="rect">
            <a:avLst/>
          </a:prstGeom>
          <a:noFill/>
        </p:spPr>
        <p:txBody>
          <a:bodyPr wrap="square" lIns="0" tIns="0" rIns="0" rtlCol="0" anchor="t">
            <a:spAutoFit/>
          </a:bodyPr>
          <a:p>
            <a:pPr algn="l"/>
            <a:r>
              <a:rPr lang="en-US" sz="1220">
                <a:solidFill>
                  <a:srgbClr val="0B1F33"/>
                </a:solidFill>
                <a:latin typeface="Aptos" charset="0"/>
                <a:cs typeface="Aptos" charset="0"/>
              </a:rPr>
              <a:t>Chưa biết mô hình nào bias hơn, chưa có metric Top-20 và chưa có embedding đã huấn luyện. Bước tiếp theo là train GRU4Rec, NARM, SASRec với hai seed rồi mới liên hệ frequency – norm – recommendation count.</a:t>
            </a:r>
            <a:endParaRPr lang="en-US" sz="1220">
              <a:solidFill>
                <a:srgbClr val="0B1F33"/>
              </a:solidFill>
              <a:latin typeface="Aptos" charset="0"/>
              <a:cs typeface="Aptos" charset="0"/>
            </a:endParaRPr>
          </a:p>
        </p:txBody>
      </p:sp>
      <p:sp>
        <p:nvSpPr>
          <p:cNvPr id="16" name="Text Box 15"/>
          <p:cNvSpPr txBox="1"/>
          <p:nvPr/>
        </p:nvSpPr>
        <p:spPr>
          <a:xfrm>
            <a:off x="2209800" y="6019800"/>
            <a:ext cx="7772400" cy="276225"/>
          </a:xfrm>
          <a:prstGeom prst="rect">
            <a:avLst/>
          </a:prstGeom>
          <a:noFill/>
        </p:spPr>
        <p:txBody>
          <a:bodyPr wrap="square" lIns="0" tIns="0" rIns="0" rtlCol="0" anchor="t">
            <a:spAutoFit/>
          </a:bodyPr>
          <a:p>
            <a:pPr algn="ctr"/>
            <a:r>
              <a:rPr lang="en-US" sz="1500" b="1">
                <a:solidFill>
                  <a:srgbClr val="16B3A3"/>
                </a:solidFill>
                <a:latin typeface="Aptos" charset="0"/>
                <a:cs typeface="Aptos" charset="0"/>
              </a:rPr>
              <a:t>Measure first  •  Explain second  •  Mitigate next</a:t>
            </a:r>
            <a:endParaRPr lang="en-US" sz="1500" b="1">
              <a:solidFill>
                <a:srgbClr val="16B3A3"/>
              </a:solidFill>
              <a:latin typeface="Aptos" charset="0"/>
              <a:cs typeface="Aptos" charset="0"/>
            </a:endParaRPr>
          </a:p>
        </p:txBody>
      </p:sp>
      <p:sp>
        <p:nvSpPr>
          <p:cNvPr id="17" name="Text Box 16"/>
          <p:cNvSpPr txBox="1"/>
          <p:nvPr/>
        </p:nvSpPr>
        <p:spPr>
          <a:xfrm>
            <a:off x="10452100" y="6413500"/>
            <a:ext cx="1079500" cy="207010"/>
          </a:xfrm>
          <a:prstGeom prst="rect">
            <a:avLst/>
          </a:prstGeom>
          <a:noFill/>
        </p:spPr>
        <p:txBody>
          <a:bodyPr wrap="square" lIns="0" tIns="0" rIns="0" rtlCol="0" anchor="t">
            <a:spAutoFit/>
          </a:bodyPr>
          <a:p>
            <a:pPr algn="r"/>
            <a:r>
              <a:rPr lang="en-US" sz="1050" b="1">
                <a:solidFill>
                  <a:srgbClr val="2F6BFF"/>
                </a:solidFill>
                <a:latin typeface="Aptos" charset="0"/>
                <a:cs typeface="Aptos" charset="0"/>
              </a:rPr>
              <a:t>25 / 25</a:t>
            </a:r>
            <a:endParaRPr lang="en-US" sz="1050" b="1">
              <a:solidFill>
                <a:srgbClr val="2F6BFF"/>
              </a:solidFill>
              <a:latin typeface="Aptos" charset="0"/>
              <a:cs typeface="Aptos" charset="0"/>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14657</Words>
  <Application>WPS Presentation</Application>
  <PresentationFormat>Widescreen</PresentationFormat>
  <Paragraphs>660</Paragraphs>
  <Slides>25</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25</vt:i4>
      </vt:variant>
    </vt:vector>
  </HeadingPairs>
  <TitlesOfParts>
    <vt:vector size="35" baseType="lpstr">
      <vt:lpstr>Arial</vt:lpstr>
      <vt:lpstr>SimSun</vt:lpstr>
      <vt:lpstr>Wingdings</vt:lpstr>
      <vt:lpstr>Wingdings</vt:lpstr>
      <vt:lpstr>Arial Unicode MS</vt:lpstr>
      <vt:lpstr>Microsoft YaHei</vt:lpstr>
      <vt:lpstr>Calibri</vt:lpstr>
      <vt:lpstr>Aptos</vt:lpstr>
      <vt:lpstr>Segoe UI</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Blank Presentation</dc:title>
  <dc:creator>Admin</dc:creator>
  <cp:lastModifiedBy>Admin</cp:lastModifiedBy>
  <cp:revision>1</cp:revision>
  <dcterms:created xsi:type="dcterms:W3CDTF">2026-10-24T06:12:28Z</dcterms:created>
  <dcterms:modified xsi:type="dcterms:W3CDTF">2026-10-24T06:12:28Z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3F885E090ECA4352BB0A25AA368555CC_11</vt:lpwstr>
  </property>
</Properties>
</file>