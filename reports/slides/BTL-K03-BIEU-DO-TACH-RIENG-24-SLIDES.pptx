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9525"/>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2286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685800" y="1333500"/>
            <a:ext cx="10541000" cy="1030605"/>
          </a:xfrm>
          <a:prstGeom prst="rect">
            <a:avLst/>
          </a:prstGeom>
          <a:noFill/>
        </p:spPr>
        <p:txBody>
          <a:bodyPr wrap="square" lIns="0" tIns="0" rIns="0" rtlCol="0" anchor="t">
            <a:spAutoFit/>
          </a:bodyPr>
          <a:p>
            <a:pPr algn="l"/>
            <a:r>
              <a:rPr lang="en-US" sz="3200" b="1">
                <a:solidFill>
                  <a:srgbClr val="0B1F33"/>
                </a:solidFill>
                <a:latin typeface="Aptos" charset="0"/>
                <a:cs typeface="Aptos" charset="0"/>
              </a:rPr>
              <a:t>Thiên lệch độ phổ biến và hình học không gian embedding</a:t>
            </a:r>
            <a:endParaRPr lang="en-US" sz="3200" b="1">
              <a:solidFill>
                <a:srgbClr val="0B1F33"/>
              </a:solidFill>
              <a:latin typeface="Aptos" charset="0"/>
              <a:cs typeface="Aptos" charset="0"/>
            </a:endParaRPr>
          </a:p>
        </p:txBody>
      </p:sp>
      <p:sp>
        <p:nvSpPr>
          <p:cNvPr id="7" name="Text Box 6"/>
          <p:cNvSpPr txBox="1"/>
          <p:nvPr/>
        </p:nvSpPr>
        <p:spPr>
          <a:xfrm>
            <a:off x="698500" y="2768600"/>
            <a:ext cx="10414000" cy="691515"/>
          </a:xfrm>
          <a:prstGeom prst="rect">
            <a:avLst/>
          </a:prstGeom>
          <a:noFill/>
        </p:spPr>
        <p:txBody>
          <a:bodyPr wrap="square" lIns="0" tIns="0" rIns="0" rtlCol="0" anchor="t">
            <a:spAutoFit/>
          </a:bodyPr>
          <a:p>
            <a:pPr algn="l"/>
            <a:r>
              <a:rPr lang="en-US" sz="2100" b="1">
                <a:solidFill>
                  <a:srgbClr val="2F6BFF"/>
                </a:solidFill>
                <a:latin typeface="Aptos" charset="0"/>
                <a:cs typeface="Aptos" charset="0"/>
              </a:rPr>
              <a:t>trong mô hình Session-Based Recommendation</a:t>
            </a:r>
            <a:endParaRPr lang="en-US" sz="2100" b="1">
              <a:solidFill>
                <a:srgbClr val="2F6BFF"/>
              </a:solidFill>
              <a:latin typeface="Aptos" charset="0"/>
              <a:cs typeface="Aptos" charset="0"/>
            </a:endParaRPr>
          </a:p>
          <a:p>
            <a:pPr algn="l"/>
            <a:r>
              <a:rPr lang="en-US" sz="2100" b="1">
                <a:solidFill>
                  <a:srgbClr val="2F6BFF"/>
                </a:solidFill>
                <a:latin typeface="Aptos" charset="0"/>
                <a:cs typeface="Aptos" charset="0"/>
              </a:rPr>
              <a:t>Báo cáo tiến độ </a:t>
            </a:r>
            <a:endParaRPr lang="en-US" sz="2100" b="1">
              <a:solidFill>
                <a:srgbClr val="2F6BFF"/>
              </a:solidFill>
              <a:latin typeface="Aptos" charset="0"/>
              <a:cs typeface="Aptos" charset="0"/>
            </a:endParaRPr>
          </a:p>
        </p:txBody>
      </p:sp>
      <p:sp>
        <p:nvSpPr>
          <p:cNvPr id="8" name="Rounded Rectangle 7"/>
          <p:cNvSpPr/>
          <p:nvPr/>
        </p:nvSpPr>
        <p:spPr>
          <a:xfrm>
            <a:off x="698500" y="3810000"/>
            <a:ext cx="10223500" cy="14732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1041400" y="4254500"/>
            <a:ext cx="9525000" cy="291465"/>
          </a:xfrm>
          <a:prstGeom prst="rect">
            <a:avLst/>
          </a:prstGeom>
          <a:noFill/>
        </p:spPr>
        <p:txBody>
          <a:bodyPr wrap="square" lIns="0" tIns="0" rIns="0" rtlCol="0" anchor="t">
            <a:spAutoFit/>
          </a:bodyPr>
          <a:p>
            <a:pPr algn="ctr"/>
            <a:r>
              <a:rPr lang="en-US" sz="1600" b="1">
                <a:solidFill>
                  <a:srgbClr val="0B1F33"/>
                </a:solidFill>
                <a:latin typeface="Aptos" charset="0"/>
                <a:cs typeface="Aptos" charset="0"/>
              </a:rPr>
              <a:t>Vấn đề nghiên cứu  →  EDA Diginetica  →  Tiền xử lý  →  Dữ liệu sẵn sàng huấn luyện</a:t>
            </a:r>
            <a:endParaRPr lang="en-US" sz="1600" b="1">
              <a:solidFill>
                <a:srgbClr val="0B1F33"/>
              </a:solidFill>
              <a:latin typeface="Aptos" charset="0"/>
              <a:cs typeface="Aptos" charset="0"/>
            </a:endParaRPr>
          </a:p>
        </p:txBody>
      </p:sp>
      <p:sp>
        <p:nvSpPr>
          <p:cNvPr id="12" name="Text Box 11"/>
          <p:cNvSpPr txBox="1"/>
          <p:nvPr/>
        </p:nvSpPr>
        <p:spPr>
          <a:xfrm>
            <a:off x="10452100" y="6413500"/>
            <a:ext cx="10795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01 / 24</a:t>
            </a:r>
            <a:endParaRPr lang="en-US" sz="1050" b="1">
              <a:solidFill>
                <a:srgbClr val="2F6BFF"/>
              </a:solidFill>
              <a:latin typeface="Aptos" charset="0"/>
              <a:cs typeface="Apto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Session-Based Recommendation là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02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Đơn vị phân tích</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Một session là chuỗi các item mà người dùng tương tác trong một lần truy cập. Bài toán không cần lịch sử dài hạn của user, vì mô hình tập trung vào ý định trong phiên hiện tại.</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Mục tiêu dự đoán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lịch sử [A, B, C], mô hình tính điểm cho catalog và dự đoán item tiếp theo D. Kết quả cuối thường là danh sách Top-20 item có điểm cao nhất.</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tạo mẫu</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[A, B, C, D] có thể tạo [A]→B, [A,B]→C và [A,B,C]→D. Vì vậy session dài đóng góp nhiều mẫu huấn luyện hơn session ngắn.</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Ý nghĩa của thứ tự</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Nếu click bị đảo thứ tự, mô hình sẽ học sai quan hệ chuyển tiếp. Do đó việc sắp event theo đúng thời gian là điều kiện kỹ thuật bắt buộc, không phải thao tác trang trí dữ liệu.</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720080"/>
            <a:ext cx="6858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Hiểu đơn giản: xem các item trước đó để đoán item kế tiếp trong cùng session.</a:t>
            </a:r>
            <a:endParaRPr lang="en-US" sz="1100" b="1">
              <a:solidFill>
                <a:srgbClr val="FFFFFF"/>
              </a:solidFill>
              <a:latin typeface="Aptos" charset="0"/>
              <a:cs typeface="Apto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Popularity bias là vấn đề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03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Định nghĩa</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Popularity bias là xu hướng mô hình ưu tiên những item vốn đã xuất hiện nhiều trong train, trong khi item hiếm hoặc item mới ít có cơ hội xuất hiện trong danh sách gợi ý.</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Vòng lặp phản hồi</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đã phổ biến được gợi ý nhiều hơn, nhận thêm tương tác rồi tiếp tục trở nên phổ biến. Nếu không đo exposure, hệ thống có thể khuếch đại mất cân bằng vốn có.</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Accuracy chưa đủ</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Recall, MRR và NDCG cho biết dự đoán có đúng hay không. Coverage, recommendation Gini và ARP cho biết các lượt gợi ý có tập trung vào item phổ biến hay không.</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Câu hỏi của đề tài</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Đề tài so sánh GRU4Rec, NARM và SASRec trên cùng dữ liệu để xem mô hình nào tập trung Top-20 mạnh hơn và hiện tượng đó có đi kèm khác biệt embedding hay không.</a:t>
            </a:r>
            <a:endParaRPr lang="en-US" sz="1200">
              <a:solidFill>
                <a:srgbClr val="172B4D"/>
              </a:solidFill>
              <a:latin typeface="Aptos" charset="0"/>
              <a:cs typeface="Aptos" charset="0"/>
            </a:endParaRPr>
          </a:p>
        </p:txBody>
      </p:sp>
      <p:sp>
        <p:nvSpPr>
          <p:cNvPr id="22" name="Rounded Rectangle 21"/>
          <p:cNvSpPr/>
          <p:nvPr/>
        </p:nvSpPr>
        <p:spPr>
          <a:xfrm>
            <a:off x="2222500" y="5524500"/>
            <a:ext cx="7747000" cy="5715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476500" y="5676900"/>
            <a:ext cx="7239000" cy="207010"/>
          </a:xfrm>
          <a:prstGeom prst="rect">
            <a:avLst/>
          </a:prstGeom>
          <a:noFill/>
        </p:spPr>
        <p:txBody>
          <a:bodyPr wrap="square" lIns="0" tIns="0" rIns="0" rtlCol="0" anchor="t">
            <a:spAutoFit/>
          </a:bodyPr>
          <a:p>
            <a:pPr algn="ctr"/>
            <a:r>
              <a:rPr lang="en-US" sz="1050" b="1">
                <a:solidFill>
                  <a:srgbClr val="E45756"/>
                </a:solidFill>
                <a:latin typeface="Aptos" charset="0"/>
                <a:cs typeface="Aptos" charset="0"/>
              </a:rPr>
              <a:t>Không đánh đổi mù quáng: Gini thấp nhưng accuracy gần ngẫu nhiên cũng không phải kết quả tốt.</a:t>
            </a:r>
            <a:endParaRPr lang="en-US" sz="1050" b="1">
              <a:solidFill>
                <a:srgbClr val="E45756"/>
              </a:solidFill>
              <a:latin typeface="Aptos" charset="0"/>
              <a:cs typeface="Apto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Phân biệt popular, rare, warm và cold item</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04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Popular item</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xuất hiện nhiều lần trong final train. Nó có nhiều ví dụ học và thường nhận nhiều lần cập nhật embedding hơn các item ở phần đuôi.</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Rare item</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vẫn xuất hiện trong train nhưng có tần suất thấp hơn. Rare không phải cold vì mô hình vẫn nhìn thấy item và vẫn có thể cập nhật embedding của nó.</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Warm item</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Mọi item có ít nhất một interaction trong train đều là warm. Trong pipeline chính, warm item còn phải vượt ngưỡng hỗ trợ tối thiểu sau fixed-point filtering.</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Cold item</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Cold có frequency bằng 0 trong train. Controlled cold được chủ động holdout; natural temporal cold chỉ xuất hiện sau mốc train. Hai loại được theo dõi riêng.</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689600"/>
            <a:ext cx="6858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Trục tần suất: popular → medium → rare (&gt;0) → cold (=0 trong train).</a:t>
            </a:r>
            <a:endParaRPr lang="en-US" sz="1100" b="1">
              <a:solidFill>
                <a:srgbClr val="FFFFFF"/>
              </a:solidFill>
              <a:latin typeface="Aptos" charset="0"/>
              <a:cs typeface="Apto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Ý tưởng nghiên cứu: nối đầu ra với embedding</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05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So sánh ba mô hình</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GRU4Rec, NARM và SASRec phải dùng cùng split, mapping, candidate catalog, nhóm popularity và Top-20. Chạy hai seed giúp kiểm tra kết luận có ổn định hay không.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Đo chất lượng</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Recall@20, MRR@20 và NDCG@20 là sanity check để chứng minh mô hình học được tín hiệu next-item, thay vì tạo danh sách đa dạng nhưng gần ngẫu nhiên.</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Đo output bias</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tất cả Top-20, đếm recommendation count theo item rồi tính Coverage@20, recommendation Gini và ARP. Đây mới là các chỉ số bias của đầu ra mô hình.</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Phân tích embedding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Tính norm, Spearman với train frequency, cosine cùng/khác category và t-SNE. Sau đó liên hệ embedding norm với recommendation count ở cấp item.</a:t>
            </a:r>
            <a:endParaRPr lang="en-US" sz="1200">
              <a:solidFill>
                <a:srgbClr val="172B4D"/>
              </a:solidFill>
              <a:latin typeface="Aptos" charset="0"/>
              <a:cs typeface="Aptos" charset="0"/>
            </a:endParaRPr>
          </a:p>
        </p:txBody>
      </p:sp>
      <p:sp>
        <p:nvSpPr>
          <p:cNvPr id="22" name="Rounded Rectangle 21"/>
          <p:cNvSpPr/>
          <p:nvPr/>
        </p:nvSpPr>
        <p:spPr>
          <a:xfrm>
            <a:off x="1968500" y="5524500"/>
            <a:ext cx="8255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22500" y="5676900"/>
            <a:ext cx="7747000" cy="207010"/>
          </a:xfrm>
          <a:prstGeom prst="rect">
            <a:avLst/>
          </a:prstGeom>
          <a:noFill/>
        </p:spPr>
        <p:txBody>
          <a:bodyPr wrap="square" lIns="0" tIns="0" rIns="0" rtlCol="0" anchor="t">
            <a:spAutoFit/>
          </a:bodyPr>
          <a:p>
            <a:pPr algn="ctr"/>
            <a:r>
              <a:rPr lang="en-US" sz="1050" b="1">
                <a:solidFill>
                  <a:srgbClr val="16B3A3"/>
                </a:solidFill>
                <a:latin typeface="Aptos" charset="0"/>
                <a:cs typeface="Aptos" charset="0"/>
              </a:rPr>
              <a:t>Trạng thái hiện tại: đã chuẩn bị dữ liệu; các kết quả mô hình và embedding vẫn là bước tiếp theo.</a:t>
            </a:r>
            <a:endParaRPr lang="en-US" sz="1050" b="1">
              <a:solidFill>
                <a:srgbClr val="16B3A3"/>
              </a:solidFill>
              <a:latin typeface="Aptos" charset="0"/>
              <a:cs typeface="Apto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Diginetica cung cấp đúng loại dữ liệu đề tài cần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06 / 24</a:t>
            </a:r>
            <a:endParaRPr lang="en-US" sz="1050" b="1">
              <a:solidFill>
                <a:srgbClr val="2F6BFF"/>
              </a:solidFill>
              <a:latin typeface="Aptos" charset="0"/>
              <a:cs typeface="Aptos" charset="0"/>
            </a:endParaRPr>
          </a:p>
        </p:txBody>
      </p:sp>
      <p:sp>
        <p:nvSpPr>
          <p:cNvPr id="6" name="Rounded Rectangle 5"/>
          <p:cNvSpPr/>
          <p:nvPr/>
        </p:nvSpPr>
        <p:spPr>
          <a:xfrm>
            <a:off x="635000" y="1600200"/>
            <a:ext cx="2514600" cy="10668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Rounded Rectangle 6"/>
          <p:cNvSpPr/>
          <p:nvPr/>
        </p:nvSpPr>
        <p:spPr>
          <a:xfrm>
            <a:off x="635000" y="1600200"/>
            <a:ext cx="88900" cy="1066800"/>
          </a:xfrm>
          <a:prstGeom prst="round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Text Box 7"/>
          <p:cNvSpPr txBox="1"/>
          <p:nvPr/>
        </p:nvSpPr>
        <p:spPr>
          <a:xfrm>
            <a:off x="8636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1.235.380</a:t>
            </a:r>
            <a:endParaRPr lang="en-US" sz="2200" b="1">
              <a:solidFill>
                <a:srgbClr val="0B1F33"/>
              </a:solidFill>
              <a:latin typeface="Aptos" charset="0"/>
              <a:cs typeface="Aptos" charset="0"/>
            </a:endParaRPr>
          </a:p>
        </p:txBody>
      </p:sp>
      <p:sp>
        <p:nvSpPr>
          <p:cNvPr id="9" name="Text Box 8"/>
          <p:cNvSpPr txBox="1"/>
          <p:nvPr/>
        </p:nvSpPr>
        <p:spPr>
          <a:xfrm>
            <a:off x="8636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INTERACTION</a:t>
            </a:r>
            <a:endParaRPr lang="en-US" sz="950" b="1">
              <a:solidFill>
                <a:srgbClr val="576884"/>
              </a:solidFill>
              <a:latin typeface="Aptos" charset="0"/>
              <a:cs typeface="Aptos" charset="0"/>
            </a:endParaRPr>
          </a:p>
        </p:txBody>
      </p:sp>
      <p:sp>
        <p:nvSpPr>
          <p:cNvPr id="10" name="Rounded Rectangle 9"/>
          <p:cNvSpPr/>
          <p:nvPr/>
        </p:nvSpPr>
        <p:spPr>
          <a:xfrm>
            <a:off x="3352800" y="1600200"/>
            <a:ext cx="2514600" cy="10668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ounded Rectangle 10"/>
          <p:cNvSpPr/>
          <p:nvPr/>
        </p:nvSpPr>
        <p:spPr>
          <a:xfrm>
            <a:off x="3352800" y="1600200"/>
            <a:ext cx="88900" cy="1066800"/>
          </a:xfrm>
          <a:prstGeom prst="roundRect">
            <a:avLst/>
          </a:prstGeom>
          <a:solidFill>
            <a:srgbClr val="16B3A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ext Box 11"/>
          <p:cNvSpPr txBox="1"/>
          <p:nvPr/>
        </p:nvSpPr>
        <p:spPr>
          <a:xfrm>
            <a:off x="35814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310.324</a:t>
            </a:r>
            <a:endParaRPr lang="en-US" sz="2200" b="1">
              <a:solidFill>
                <a:srgbClr val="0B1F33"/>
              </a:solidFill>
              <a:latin typeface="Aptos" charset="0"/>
              <a:cs typeface="Aptos" charset="0"/>
            </a:endParaRPr>
          </a:p>
        </p:txBody>
      </p:sp>
      <p:sp>
        <p:nvSpPr>
          <p:cNvPr id="13" name="Text Box 12"/>
          <p:cNvSpPr txBox="1"/>
          <p:nvPr/>
        </p:nvSpPr>
        <p:spPr>
          <a:xfrm>
            <a:off x="35814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SESSION</a:t>
            </a:r>
            <a:endParaRPr lang="en-US" sz="950" b="1">
              <a:solidFill>
                <a:srgbClr val="576884"/>
              </a:solidFill>
              <a:latin typeface="Aptos" charset="0"/>
              <a:cs typeface="Aptos" charset="0"/>
            </a:endParaRPr>
          </a:p>
        </p:txBody>
      </p:sp>
      <p:sp>
        <p:nvSpPr>
          <p:cNvPr id="14" name="Rounded Rectangle 13"/>
          <p:cNvSpPr/>
          <p:nvPr/>
        </p:nvSpPr>
        <p:spPr>
          <a:xfrm>
            <a:off x="6070600" y="1600200"/>
            <a:ext cx="2514600" cy="10668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ounded Rectangle 14"/>
          <p:cNvSpPr/>
          <p:nvPr/>
        </p:nvSpPr>
        <p:spPr>
          <a:xfrm>
            <a:off x="6070600" y="1600200"/>
            <a:ext cx="88900" cy="1066800"/>
          </a:xfrm>
          <a:prstGeom prst="roundRect">
            <a:avLst/>
          </a:prstGeom>
          <a:solidFill>
            <a:srgbClr val="FF9F4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Text Box 15"/>
          <p:cNvSpPr txBox="1"/>
          <p:nvPr/>
        </p:nvSpPr>
        <p:spPr>
          <a:xfrm>
            <a:off x="62992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122.993</a:t>
            </a:r>
            <a:endParaRPr lang="en-US" sz="2200" b="1">
              <a:solidFill>
                <a:srgbClr val="0B1F33"/>
              </a:solidFill>
              <a:latin typeface="Aptos" charset="0"/>
              <a:cs typeface="Aptos" charset="0"/>
            </a:endParaRPr>
          </a:p>
        </p:txBody>
      </p:sp>
      <p:sp>
        <p:nvSpPr>
          <p:cNvPr id="17" name="Text Box 16"/>
          <p:cNvSpPr txBox="1"/>
          <p:nvPr/>
        </p:nvSpPr>
        <p:spPr>
          <a:xfrm>
            <a:off x="62992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ITEM CÓ TƯƠNG TÁC</a:t>
            </a:r>
            <a:endParaRPr lang="en-US" sz="950" b="1">
              <a:solidFill>
                <a:srgbClr val="576884"/>
              </a:solidFill>
              <a:latin typeface="Aptos" charset="0"/>
              <a:cs typeface="Aptos" charset="0"/>
            </a:endParaRPr>
          </a:p>
        </p:txBody>
      </p:sp>
      <p:sp>
        <p:nvSpPr>
          <p:cNvPr id="18" name="Rounded Rectangle 17"/>
          <p:cNvSpPr/>
          <p:nvPr/>
        </p:nvSpPr>
        <p:spPr>
          <a:xfrm>
            <a:off x="8788400" y="1600200"/>
            <a:ext cx="2590800" cy="10668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Rounded Rectangle 18"/>
          <p:cNvSpPr/>
          <p:nvPr/>
        </p:nvSpPr>
        <p:spPr>
          <a:xfrm>
            <a:off x="8788400" y="1600200"/>
            <a:ext cx="88900" cy="1066800"/>
          </a:xfrm>
          <a:prstGeom prst="roundRect">
            <a:avLst/>
          </a:prstGeom>
          <a:solidFill>
            <a:srgbClr val="E45756"/>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Text Box 19"/>
          <p:cNvSpPr txBox="1"/>
          <p:nvPr/>
        </p:nvSpPr>
        <p:spPr>
          <a:xfrm>
            <a:off x="9017000" y="1765300"/>
            <a:ext cx="22352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1.217</a:t>
            </a:r>
            <a:endParaRPr lang="en-US" sz="2200" b="1">
              <a:solidFill>
                <a:srgbClr val="0B1F33"/>
              </a:solidFill>
              <a:latin typeface="Aptos" charset="0"/>
              <a:cs typeface="Aptos" charset="0"/>
            </a:endParaRPr>
          </a:p>
        </p:txBody>
      </p:sp>
      <p:sp>
        <p:nvSpPr>
          <p:cNvPr id="21" name="Text Box 20"/>
          <p:cNvSpPr txBox="1"/>
          <p:nvPr/>
        </p:nvSpPr>
        <p:spPr>
          <a:xfrm>
            <a:off x="9017000" y="2247900"/>
            <a:ext cx="22352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CATEGORY METADATA</a:t>
            </a:r>
            <a:endParaRPr lang="en-US" sz="950" b="1">
              <a:solidFill>
                <a:srgbClr val="576884"/>
              </a:solidFill>
              <a:latin typeface="Aptos" charset="0"/>
              <a:cs typeface="Aptos" charset="0"/>
            </a:endParaRPr>
          </a:p>
        </p:txBody>
      </p:sp>
      <p:sp>
        <p:nvSpPr>
          <p:cNvPr id="22" name="Rounded Rectangle 21"/>
          <p:cNvSpPr/>
          <p:nvPr/>
        </p:nvSpPr>
        <p:spPr>
          <a:xfrm>
            <a:off x="635000" y="2984500"/>
            <a:ext cx="34290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838200" y="31623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24" name="Text Box 23"/>
          <p:cNvSpPr txBox="1"/>
          <p:nvPr/>
        </p:nvSpPr>
        <p:spPr>
          <a:xfrm>
            <a:off x="1422400" y="3175000"/>
            <a:ext cx="2438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train-item-views.csv</a:t>
            </a:r>
            <a:endParaRPr lang="en-US" sz="1350" b="1">
              <a:solidFill>
                <a:srgbClr val="0B1F33"/>
              </a:solidFill>
              <a:latin typeface="Aptos" charset="0"/>
              <a:cs typeface="Aptos" charset="0"/>
            </a:endParaRPr>
          </a:p>
        </p:txBody>
      </p:sp>
      <p:sp>
        <p:nvSpPr>
          <p:cNvPr id="25" name="Text Box 24"/>
          <p:cNvSpPr txBox="1"/>
          <p:nvPr/>
        </p:nvSpPr>
        <p:spPr>
          <a:xfrm>
            <a:off x="889000" y="3644900"/>
            <a:ext cx="29210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Chứa sessionId, itemId, eventdate và timeframe. Đây là nguồn chính để sắp chuỗi, chia theo thời gian và tạo mẫu next-item.</a:t>
            </a:r>
            <a:endParaRPr lang="en-US" sz="1200">
              <a:solidFill>
                <a:srgbClr val="172B4D"/>
              </a:solidFill>
              <a:latin typeface="Aptos" charset="0"/>
              <a:cs typeface="Aptos" charset="0"/>
            </a:endParaRPr>
          </a:p>
        </p:txBody>
      </p:sp>
      <p:sp>
        <p:nvSpPr>
          <p:cNvPr id="26" name="Rounded Rectangle 25"/>
          <p:cNvSpPr/>
          <p:nvPr/>
        </p:nvSpPr>
        <p:spPr>
          <a:xfrm>
            <a:off x="4381500" y="2984500"/>
            <a:ext cx="34290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4584700" y="31623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28" name="Text Box 27"/>
          <p:cNvSpPr txBox="1"/>
          <p:nvPr/>
        </p:nvSpPr>
        <p:spPr>
          <a:xfrm>
            <a:off x="5168900" y="3175000"/>
            <a:ext cx="2438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product-categories.csv</a:t>
            </a:r>
            <a:endParaRPr lang="en-US" sz="1350" b="1">
              <a:solidFill>
                <a:srgbClr val="0B1F33"/>
              </a:solidFill>
              <a:latin typeface="Aptos" charset="0"/>
              <a:cs typeface="Aptos" charset="0"/>
            </a:endParaRPr>
          </a:p>
        </p:txBody>
      </p:sp>
      <p:sp>
        <p:nvSpPr>
          <p:cNvPr id="29" name="Text Box 28"/>
          <p:cNvSpPr txBox="1"/>
          <p:nvPr/>
        </p:nvSpPr>
        <p:spPr>
          <a:xfrm>
            <a:off x="4635500" y="3644900"/>
            <a:ext cx="29210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Ánh xạ item sang category. File này phục vụ kiểm tra category transition, phân tầng controlled cold và cosine embedding sau huấn luyện.</a:t>
            </a:r>
            <a:endParaRPr lang="en-US" sz="1200">
              <a:solidFill>
                <a:srgbClr val="172B4D"/>
              </a:solidFill>
              <a:latin typeface="Aptos" charset="0"/>
              <a:cs typeface="Aptos" charset="0"/>
            </a:endParaRPr>
          </a:p>
        </p:txBody>
      </p:sp>
      <p:sp>
        <p:nvSpPr>
          <p:cNvPr id="30" name="Rounded Rectangle 29"/>
          <p:cNvSpPr/>
          <p:nvPr/>
        </p:nvSpPr>
        <p:spPr>
          <a:xfrm>
            <a:off x="8128000" y="2984500"/>
            <a:ext cx="32512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8331200" y="31623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32" name="Text Box 31"/>
          <p:cNvSpPr txBox="1"/>
          <p:nvPr/>
        </p:nvSpPr>
        <p:spPr>
          <a:xfrm>
            <a:off x="8915400" y="3175000"/>
            <a:ext cx="22606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products.csv</a:t>
            </a:r>
            <a:endParaRPr lang="en-US" sz="1350" b="1">
              <a:solidFill>
                <a:srgbClr val="0B1F33"/>
              </a:solidFill>
              <a:latin typeface="Aptos" charset="0"/>
              <a:cs typeface="Aptos" charset="0"/>
            </a:endParaRPr>
          </a:p>
        </p:txBody>
      </p:sp>
      <p:sp>
        <p:nvSpPr>
          <p:cNvPr id="33" name="Text Box 32"/>
          <p:cNvSpPr txBox="1"/>
          <p:nvPr/>
        </p:nvSpPr>
        <p:spPr>
          <a:xfrm>
            <a:off x="8382000" y="3644900"/>
            <a:ext cx="27432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Dùng để kiểm tra catalog và tính toàn vẹn metadata. Các trường giá/tên chưa được dùng vì ba baseline hiện tại là mô hình item-ID-based.</a:t>
            </a:r>
            <a:endParaRPr lang="en-US" sz="1200">
              <a:solidFill>
                <a:srgbClr val="172B4D"/>
              </a:solidFill>
              <a:latin typeface="Aptos" charset="0"/>
              <a:cs typeface="Aptos" charset="0"/>
            </a:endParaRPr>
          </a:p>
        </p:txBody>
      </p:sp>
      <p:sp>
        <p:nvSpPr>
          <p:cNvPr id="34" name="Rounded Rectangle 33"/>
          <p:cNvSpPr/>
          <p:nvPr/>
        </p:nvSpPr>
        <p:spPr>
          <a:xfrm>
            <a:off x="1803400" y="5397500"/>
            <a:ext cx="8585200" cy="6350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5" name="Text Box 34"/>
          <p:cNvSpPr txBox="1"/>
          <p:nvPr/>
        </p:nvSpPr>
        <p:spPr>
          <a:xfrm>
            <a:off x="2057400" y="5575300"/>
            <a:ext cx="8077200" cy="207010"/>
          </a:xfrm>
          <a:prstGeom prst="rect">
            <a:avLst/>
          </a:prstGeom>
          <a:noFill/>
        </p:spPr>
        <p:txBody>
          <a:bodyPr wrap="square" lIns="0" tIns="0" rIns="0" rtlCol="0" anchor="t">
            <a:spAutoFit/>
          </a:bodyPr>
          <a:p>
            <a:pPr algn="ctr"/>
            <a:r>
              <a:rPr lang="en-US" sz="1050" b="1">
                <a:solidFill>
                  <a:srgbClr val="FFFFFF"/>
                </a:solidFill>
                <a:latin typeface="Aptos" charset="0"/>
                <a:cs typeface="Aptos" charset="0"/>
              </a:rPr>
              <a:t>152 ngày có quan sát trong khoảng 01/01–01/06/2016 • ba file liên kết bằng itemId</a:t>
            </a:r>
            <a:endParaRPr lang="en-US" sz="1050" b="1">
              <a:solidFill>
                <a:srgbClr val="FFFFFF"/>
              </a:solidFill>
              <a:latin typeface="Aptos" charset="0"/>
              <a:cs typeface="Apto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EDA xác nhận dữ liệu đủ sạch để tiếp tục</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07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Liên kết đầy đủ</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Không item nào đã tương tác bị thiếu category hoặc product metadata. Ba SHA-256 được lưu lại để notebook 02 xác nhận đang dùng đúng phiên bản raw đã EDA.</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Không có lỗi khóa chính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Không có dòng trùng hoàn toàn, không có event trùng khóa, không có itemId trùng trong hai bảng metadata và không có timeframe âm.</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Ngày và catalog hợp lệ</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Tất cả eventdate đều parse được. Có 61.054 item trong metadata chưa từng xuất hiện trong interaction; đây là catalog chưa hoạt động, không phải lỗi liên kết.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UserId không dùng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UserId thiếu 69,81%, nhưng không cản trở SBR vì đơn vị học là session. Pipeline không tự ý điền userId và không mở rộng sang mô hình hóa người dùng.</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689600"/>
            <a:ext cx="6858000" cy="214630"/>
          </a:xfrm>
          <a:prstGeom prst="rect">
            <a:avLst/>
          </a:prstGeom>
          <a:noFill/>
        </p:spPr>
        <p:txBody>
          <a:bodyPr wrap="square" lIns="0" tIns="0" rIns="0" rtlCol="0" anchor="t">
            <a:spAutoFit/>
          </a:bodyPr>
          <a:p>
            <a:pPr algn="ctr"/>
            <a:r>
              <a:rPr lang="en-US" sz="1100" b="1">
                <a:solidFill>
                  <a:srgbClr val="16B3A3"/>
                </a:solidFill>
                <a:latin typeface="Aptos" charset="0"/>
                <a:cs typeface="Aptos" charset="0"/>
              </a:rPr>
              <a:t>Kết luận EDA chất lượng: dữ liệu đủ tin cậy, nhưng vẫn phải sửa thứ tự click.</a:t>
            </a:r>
            <a:endParaRPr lang="en-US" sz="1100" b="1">
              <a:solidFill>
                <a:srgbClr val="16B3A3"/>
              </a:solidFill>
              <a:latin typeface="Aptos" charset="0"/>
              <a:cs typeface="Apto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Vấn đề nghiêm trọng nhất là thứ tự event trong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08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58,21% session sai thứ tự raw</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Có 180.643 session không tăng theo timeframe nếu giữ nguyên thứ tự dòng trong CSV. Vì vậy không thể dùng row order làm thứ tự chuỗi chính.</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Quy tắc sắp ổn định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Event được sắp theo sessionId → timeframe → row_order. Timeframe xác định thứ tự trong session; row_order chỉ dùng để phá hòa khi thời gian bằng nhau.</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Bốn nhóm trùng timeframe</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nhóm trùng gồm hai item khác nhau tại cùng một thời điểm. Không có căn cứ để xóa một event, nên pipeline giữ cả hai và dùng stable sort.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260 session qua nửa đêm</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session này kéo dài tối đa khoảng 19 phút 57 giây và chỉ đi qua hai ngày liên tiếp. Pipeline giữ nguyên session và chia tập theo ngày event cuối.</a:t>
            </a:r>
            <a:endParaRPr lang="en-US" sz="1200">
              <a:solidFill>
                <a:srgbClr val="172B4D"/>
              </a:solidFill>
              <a:latin typeface="Aptos" charset="0"/>
              <a:cs typeface="Aptos" charset="0"/>
            </a:endParaRPr>
          </a:p>
        </p:txBody>
      </p:sp>
      <p:sp>
        <p:nvSpPr>
          <p:cNvPr id="22" name="Rounded Rectangle 21"/>
          <p:cNvSpPr/>
          <p:nvPr/>
        </p:nvSpPr>
        <p:spPr>
          <a:xfrm>
            <a:off x="2286000" y="5524500"/>
            <a:ext cx="7620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689600"/>
            <a:ext cx="7112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Quyết định: sửa thứ tự bên trong session, nhưng không chia nhỏ session theo ngày.</a:t>
            </a:r>
            <a:endParaRPr lang="en-US" sz="1100" b="1">
              <a:solidFill>
                <a:srgbClr val="FFFFFF"/>
              </a:solidFill>
              <a:latin typeface="Aptos" charset="0"/>
              <a:cs typeface="Apto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1: phân bố độ dài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09 / 24</a:t>
            </a:r>
            <a:endParaRPr lang="en-US" sz="1050" b="1">
              <a:solidFill>
                <a:srgbClr val="2F6BFF"/>
              </a:solidFill>
              <a:latin typeface="Aptos" charset="0"/>
              <a:cs typeface="Aptos" charset="0"/>
            </a:endParaRPr>
          </a:p>
        </p:txBody>
      </p:sp>
      <p:pic>
        <p:nvPicPr>
          <p:cNvPr id="6" name="Picture 5" descr="eda_session_length_histogram_ecdf"/>
          <p:cNvPicPr>
            <a:picLocks noChangeAspect="1"/>
          </p:cNvPicPr>
          <p:nvPr/>
        </p:nvPicPr>
        <p:blipFill>
          <a:blip r:embed="rId1"/>
          <a:stretch>
            <a:fillRect/>
          </a:stretch>
        </p:blipFill>
        <p:spPr>
          <a:xfrm>
            <a:off x="27420" y="1368660"/>
            <a:ext cx="12137159" cy="42349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độ dài session cho biết điều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10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Biểu đồ cột đếm số session theo độ dài. Đường ECDF cho biết tỷ lệ session có độ dài nhỏ hơn hoặc bằng một giá trị trên trục ngang.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Kết quả chính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Median session length bằng 3 và 77,07% session dài không quá 5. Diginetica chủ yếu gồm các chuỗi hành vi ngắn.</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Quyết định xử lý</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29,23% session chỉ có một event nên không tạo được lịch sử → target và phải loại. Click lặp được giữ vì có thể là hành vi thật.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Điểm cần kiểm soát</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dài hơn 10 chỉ chiếm 6,59% nhưng chứa 24,72% event. All-prefix training khiến chúng đóng góp nhiều mẫu hơn session ngắn.</a:t>
            </a:r>
            <a:endParaRPr lang="en-US" sz="1200">
              <a:solidFill>
                <a:srgbClr val="172B4D"/>
              </a:solidFill>
              <a:latin typeface="Aptos" charset="0"/>
              <a:cs typeface="Aptos" charset="0"/>
            </a:endParaRPr>
          </a:p>
        </p:txBody>
      </p:sp>
      <p:sp>
        <p:nvSpPr>
          <p:cNvPr id="22" name="Rounded Rectangle 21"/>
          <p:cNvSpPr/>
          <p:nvPr/>
        </p:nvSpPr>
        <p:spPr>
          <a:xfrm>
            <a:off x="2159000" y="5651500"/>
            <a:ext cx="7874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413000" y="5791200"/>
            <a:ext cx="7366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Kết luận: bỏ session length 1, giữ click lặp và theo dõi ảnh hưởng của session dài.</a:t>
            </a:r>
            <a:endParaRPr lang="en-US" sz="1200" b="1">
              <a:solidFill>
                <a:srgbClr val="0B1F33"/>
              </a:solidFill>
              <a:latin typeface="Aptos" charset="0"/>
              <a:cs typeface="Apto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2: đường Lorenz của interaction theo item</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11 / 24</a:t>
            </a:r>
            <a:endParaRPr lang="en-US" sz="1050" b="1">
              <a:solidFill>
                <a:srgbClr val="2F6BFF"/>
              </a:solidFill>
              <a:latin typeface="Aptos" charset="0"/>
              <a:cs typeface="Aptos" charset="0"/>
            </a:endParaRPr>
          </a:p>
        </p:txBody>
      </p:sp>
      <p:pic>
        <p:nvPicPr>
          <p:cNvPr id="6" name="Picture 5" descr="eda_interaction_lorenz_curve"/>
          <p:cNvPicPr>
            <a:picLocks noChangeAspect="1"/>
          </p:cNvPicPr>
          <p:nvPr/>
        </p:nvPicPr>
        <p:blipFill>
          <a:blip r:embed="rId1"/>
          <a:stretch>
            <a:fillRect/>
          </a:stretch>
        </p:blipFill>
        <p:spPr>
          <a:xfrm>
            <a:off x="3919361" y="1475317"/>
            <a:ext cx="4353278" cy="43391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Đường Lorenz chứng minh long-tail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12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Trục ngang là tỷ lệ item tích lũy; trục dọc là tỷ lệ interaction tích lũy. Đường đỏ càng xa đường chéo thì phân phối càng bất bình đẳng.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Độ dài phần đuôi</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34,20% item chỉ xuất hiện đúng một lần và 63,80% item xuất hiện dưới 5 lần. Catalog có phần đuôi rất dài và thưa.</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Mức độ tập trung</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Top 1% item nhận 21,65% interaction; top 20% item nhận 77,54%. Gini đầu vào bằng 0,726.</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Giới hạn kết luận</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Kết quả này chứng minh dữ liệu có long-tail, chưa chứng minh mô hình bị bias. Recommendation Gini chỉ được tính sau khi có Top-20 của mô hình.</a:t>
            </a:r>
            <a:endParaRPr lang="en-US" sz="1200">
              <a:solidFill>
                <a:srgbClr val="172B4D"/>
              </a:solidFill>
              <a:latin typeface="Aptos" charset="0"/>
              <a:cs typeface="Aptos" charset="0"/>
            </a:endParaRPr>
          </a:p>
        </p:txBody>
      </p:sp>
      <p:sp>
        <p:nvSpPr>
          <p:cNvPr id="22" name="Rounded Rectangle 21"/>
          <p:cNvSpPr/>
          <p:nvPr/>
        </p:nvSpPr>
        <p:spPr>
          <a:xfrm>
            <a:off x="2349500" y="5651500"/>
            <a:ext cx="7493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03500" y="5778500"/>
            <a:ext cx="6985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Diginetica phù hợp để nghiên cứu popularity bias, nhưng bias đầu ra vẫn phải đo sau huấn luyện.</a:t>
            </a:r>
            <a:endParaRPr lang="en-US" sz="1200" b="1">
              <a:solidFill>
                <a:srgbClr val="E45756"/>
              </a:solidFill>
              <a:latin typeface="Aptos" charset="0"/>
              <a:cs typeface="Apto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3: cấu trúc category và chuyển tiếp trong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13 / 24</a:t>
            </a:r>
            <a:endParaRPr lang="en-US" sz="1050" b="1">
              <a:solidFill>
                <a:srgbClr val="2F6BFF"/>
              </a:solidFill>
              <a:latin typeface="Aptos" charset="0"/>
              <a:cs typeface="Aptos" charset="0"/>
            </a:endParaRPr>
          </a:p>
        </p:txBody>
      </p:sp>
      <p:pic>
        <p:nvPicPr>
          <p:cNvPr id="6" name="Picture 5" descr="eda_category_structure_and_transition"/>
          <p:cNvPicPr>
            <a:picLocks noChangeAspect="1"/>
          </p:cNvPicPr>
          <p:nvPr/>
        </p:nvPicPr>
        <p:blipFill>
          <a:blip r:embed="rId1"/>
          <a:stretch>
            <a:fillRect/>
          </a:stretch>
        </p:blipFill>
        <p:spPr>
          <a:xfrm>
            <a:off x="27038" y="1734316"/>
            <a:ext cx="12137924" cy="35036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category có ý nghĩa gì với embedding?</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14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Ba phần của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Ba ô lần lượt mô tả quy mô category, số category trong mỗi session và tỷ lệ chuyển tiếp cùng category so với baseline ngẫu nhiên.</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Tín hiệu trong session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80,95% session chỉ chứa một category. Sau khi bỏ self-repeat, 87,45% chuyển tiếp liên tiếp vẫn cùng category.</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So với ngẫu nhiên</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Baseline ngẫu nhiên chỉ đạt 1,08%. Category vì vậy phản ánh cấu trúc hành vi thực, không chỉ là nhãn metadata.</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Dùng ở bước embedding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Sau huấn luyện sẽ so sánh cosine của cặp cùng/khác category. Phải cân bằng category để category lớn không thống trị kết quả.</a:t>
            </a:r>
            <a:endParaRPr lang="en-US" sz="1200">
              <a:solidFill>
                <a:srgbClr val="172B4D"/>
              </a:solidFill>
              <a:latin typeface="Aptos" charset="0"/>
              <a:cs typeface="Aptos" charset="0"/>
            </a:endParaRPr>
          </a:p>
        </p:txBody>
      </p:sp>
      <p:sp>
        <p:nvSpPr>
          <p:cNvPr id="22" name="Rounded Rectangle 21"/>
          <p:cNvSpPr/>
          <p:nvPr/>
        </p:nvSpPr>
        <p:spPr>
          <a:xfrm>
            <a:off x="2286000" y="5651500"/>
            <a:ext cx="7620000" cy="5334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778500"/>
            <a:ext cx="7112000" cy="408305"/>
          </a:xfrm>
          <a:prstGeom prst="rect">
            <a:avLst/>
          </a:prstGeom>
          <a:noFill/>
        </p:spPr>
        <p:txBody>
          <a:bodyPr wrap="square" lIns="0" tIns="0" rIns="0" rtlCol="0" anchor="t">
            <a:spAutoFit/>
          </a:bodyPr>
          <a:p>
            <a:pPr algn="ctr"/>
            <a:r>
              <a:rPr lang="en-US" sz="1180" b="1">
                <a:solidFill>
                  <a:srgbClr val="16B3A3"/>
                </a:solidFill>
                <a:latin typeface="Aptos" charset="0"/>
                <a:cs typeface="Aptos" charset="0"/>
              </a:rPr>
              <a:t>Tuổi item và frequency có Spearman 0,504 nên quan hệ frequency–norm không được diễn giải là nhân quả.</a:t>
            </a:r>
            <a:endParaRPr lang="en-US" sz="1180" b="1">
              <a:solidFill>
                <a:srgbClr val="16B3A3"/>
              </a:solidFill>
              <a:latin typeface="Aptos" charset="0"/>
              <a:cs typeface="Apto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2032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4: độ nhạy theo minimum item frequency</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15 / 24</a:t>
            </a:r>
            <a:endParaRPr lang="en-US" sz="1050" b="1">
              <a:solidFill>
                <a:srgbClr val="2F6BFF"/>
              </a:solidFill>
              <a:latin typeface="Aptos" charset="0"/>
              <a:cs typeface="Aptos" charset="0"/>
            </a:endParaRPr>
          </a:p>
        </p:txBody>
      </p:sp>
      <p:pic>
        <p:nvPicPr>
          <p:cNvPr id="6" name="Picture 5" descr="eda_frequency_threshold_tradeoff"/>
          <p:cNvPicPr>
            <a:picLocks noChangeAspect="1"/>
          </p:cNvPicPr>
          <p:nvPr/>
        </p:nvPicPr>
        <p:blipFill>
          <a:blip r:embed="rId1"/>
          <a:stretch>
            <a:fillRect/>
          </a:stretch>
        </p:blipFill>
        <p:spPr>
          <a:xfrm>
            <a:off x="2049145" y="793115"/>
            <a:ext cx="8314690" cy="58959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Ngưỡng lọc tạo ra sự đánh đổi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16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Bốn ô lần lượt cho biết tỷ lệ event/session còn lại, kích thước item vocabulary, Gini sau lọc và tỷ lệ loại rare item khi tăng ngưỡng.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Ngưỡng 2 và 3</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Ngưỡng 2 giữ 78.989 item và 88,92% event. Ngưỡng 3 giữ 60.454 item và 85,64% event.</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Ngưỡng 5</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Ngưỡng 5 giữ 42.171 item và 80,07% event, nhưng chỉ còn 34,29% catalog raw. Đây là mức cắt long-tail đáng kể.</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kết luận đúng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Gini giảm chủ yếu vì item tail bị loại, chưa phải giảm model bias. Ngưỡng 5 là baseline; ngưỡng 2/3 dành cho thí nghiệm độ nhạy.</a:t>
            </a:r>
            <a:endParaRPr lang="en-US" sz="1200">
              <a:solidFill>
                <a:srgbClr val="172B4D"/>
              </a:solidFill>
              <a:latin typeface="Aptos" charset="0"/>
              <a:cs typeface="Aptos" charset="0"/>
            </a:endParaRPr>
          </a:p>
        </p:txBody>
      </p:sp>
      <p:sp>
        <p:nvSpPr>
          <p:cNvPr id="22" name="Rounded Rectangle 21"/>
          <p:cNvSpPr/>
          <p:nvPr/>
        </p:nvSpPr>
        <p:spPr>
          <a:xfrm>
            <a:off x="2286000" y="5651500"/>
            <a:ext cx="7620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778500"/>
            <a:ext cx="7112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Không tuyên bố ngưỡng 5 tối ưu; đây là baseline có giải thích và có số liệu attrition.</a:t>
            </a:r>
            <a:endParaRPr lang="en-US" sz="1200" b="1">
              <a:solidFill>
                <a:srgbClr val="E45756"/>
              </a:solidFill>
              <a:latin typeface="Aptos" charset="0"/>
              <a:cs typeface="Aptos"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Notebook 02 xử lý trực tiếp các vấn đề tìm thấy ở EDA</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17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Khôi phục chuỗi</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Sai thứ tự raw được xử lý bằng stable sort. Session length 1 bị loại vì không có target; click lặp được giữ vì có thể là tín hiệu hành vi thật.</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thời gian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qua nửa đêm được giữ nguyên. Toàn bộ session được gán split theo ngày event cuối để tránh cắt session và hạn chế temporal leakage.</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sparsity</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Minimum frequency bằng 5 được áp dụng lặp với minimum session length bằng 2 cho tới fixed point, vì xóa item và session tác động qua lại.</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leakage</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Popularity group, item frequency và catalog có thể học đều được xác định từ final train. Validation/test không được dùng để đặt nhãn popularity.</a:t>
            </a:r>
            <a:endParaRPr lang="en-US" sz="1200">
              <a:solidFill>
                <a:srgbClr val="172B4D"/>
              </a:solidFill>
              <a:latin typeface="Aptos" charset="0"/>
              <a:cs typeface="Aptos" charset="0"/>
            </a:endParaRPr>
          </a:p>
        </p:txBody>
      </p:sp>
      <p:sp>
        <p:nvSpPr>
          <p:cNvPr id="22" name="Rounded Rectangle 21"/>
          <p:cNvSpPr/>
          <p:nvPr/>
        </p:nvSpPr>
        <p:spPr>
          <a:xfrm>
            <a:off x="2095500" y="5651500"/>
            <a:ext cx="8001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349500" y="5791200"/>
            <a:ext cx="7493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Một pipeline chung được dùng cho GRU4Rec, NARM và SASRec để so sánh công bằng.</a:t>
            </a:r>
            <a:endParaRPr lang="en-US" sz="1200" b="1">
              <a:solidFill>
                <a:srgbClr val="0B1F33"/>
              </a:solidFill>
              <a:latin typeface="Aptos" charset="0"/>
              <a:cs typeface="Apto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5: số event theo ngày và ranh giới temporal split</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18 / 24</a:t>
            </a:r>
            <a:endParaRPr lang="en-US" sz="1050" b="1">
              <a:solidFill>
                <a:srgbClr val="2F6BFF"/>
              </a:solidFill>
              <a:latin typeface="Aptos" charset="0"/>
              <a:cs typeface="Aptos" charset="0"/>
            </a:endParaRPr>
          </a:p>
        </p:txBody>
      </p:sp>
      <p:pic>
        <p:nvPicPr>
          <p:cNvPr id="6" name="Picture 5" descr="preprocessing_temporal_split"/>
          <p:cNvPicPr>
            <a:picLocks noChangeAspect="1"/>
          </p:cNvPicPr>
          <p:nvPr/>
        </p:nvPicPr>
        <p:blipFill>
          <a:blip r:embed="rId1"/>
          <a:stretch>
            <a:fillRect/>
          </a:stretch>
        </p:blipFill>
        <p:spPr>
          <a:xfrm>
            <a:off x="27420" y="1371342"/>
            <a:ext cx="12137160" cy="4229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temporal split cần được hiểu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19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Đường xanh biểu diễn số event theo ngày. Hai đường dọc đánh dấu thời điểm bắt đầu validation và test.</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 mốc thời gian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Train dùng session kết thúc từ 01/01–18/05/2016; validation là 19/05–25/05; test là 26/05–01/06.</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Tại sao chia theo session?</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Gán split theo ngày của event cuối giúp giữ nguyên chuỗi và tránh một session xuất hiện ở hai tập. Ba tập không trùng session.</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Tại sao dùng 7 ngày?</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Mỗi cửa sổ có đủ các thứ trong tuần và vẫn còn hàng chục nghìn mẫu. Đây là baseline thiết kế, chưa được chứng minh tối ưu.</a:t>
            </a:r>
            <a:endParaRPr lang="en-US" sz="1200">
              <a:solidFill>
                <a:srgbClr val="172B4D"/>
              </a:solidFill>
              <a:latin typeface="Aptos" charset="0"/>
              <a:cs typeface="Aptos" charset="0"/>
            </a:endParaRPr>
          </a:p>
        </p:txBody>
      </p:sp>
      <p:sp>
        <p:nvSpPr>
          <p:cNvPr id="22" name="Rounded Rectangle 21"/>
          <p:cNvSpPr/>
          <p:nvPr/>
        </p:nvSpPr>
        <p:spPr>
          <a:xfrm>
            <a:off x="1905000" y="5651500"/>
            <a:ext cx="8382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159000" y="5778500"/>
            <a:ext cx="7874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Nguyên tắc quan trọng nhất: học từ quá khứ và không dùng tương lai để định nghĩa popularity.</a:t>
            </a:r>
            <a:endParaRPr lang="en-US" sz="1200" b="1">
              <a:solidFill>
                <a:srgbClr val="0B1F33"/>
              </a:solidFill>
              <a:latin typeface="Aptos" charset="0"/>
              <a:cs typeface="Aptos"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Fixed-point filtering: tại sao phải lọc lặp?</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20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Hai điều kiện</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Mỗi session phải có ít nhất 2 event để tạo target. Mỗi item phải xuất hiện ít nhất 5 lần trong train để có tín hiệu học tối thiểu.</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Tác động dây chuyền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Nếu item X bị xóa khỏi session [A,X], session chỉ còn [A] và phải xóa. Việc xóa session lại làm frequency của A và các item khác giảm.</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Trước cold holdout</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Train giảm từ 990.708 xuống 841.402 event; từ 189.774 xuống 174.691 session; catalog giảm từ 114.768 xuống 38.237 item.</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Ý nghĩa nghiên cứu</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Attrition được lưu theo từng vòng để minh bạch mức cắt long-tail. Cùng một fixed-point rule phải được dùng cho cả ba mô hình.</a:t>
            </a:r>
            <a:endParaRPr lang="en-US" sz="1200">
              <a:solidFill>
                <a:srgbClr val="172B4D"/>
              </a:solidFill>
              <a:latin typeface="Aptos" charset="0"/>
              <a:cs typeface="Aptos" charset="0"/>
            </a:endParaRPr>
          </a:p>
        </p:txBody>
      </p:sp>
      <p:sp>
        <p:nvSpPr>
          <p:cNvPr id="22" name="Rounded Rectangle 21"/>
          <p:cNvSpPr/>
          <p:nvPr/>
        </p:nvSpPr>
        <p:spPr>
          <a:xfrm>
            <a:off x="2032000" y="5651500"/>
            <a:ext cx="8128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86000" y="5791200"/>
            <a:ext cx="7620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Fixed point nghĩa là tiếp tục lọc cho tới khi số item và session không còn thay đổi.</a:t>
            </a:r>
            <a:endParaRPr lang="en-US" sz="1200" b="1">
              <a:solidFill>
                <a:srgbClr val="E45756"/>
              </a:solidFill>
              <a:latin typeface="Aptos" charset="0"/>
              <a:cs typeface="Aptos"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Controlled cold-start 20% được tạo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21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Chọn controlled cold</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38.237 item train sau lọc, chọn 7.647 item, tương đương 19,99895%. Chọn ở cấp item, phân tầng theo category và dùng seed 2024.</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Loại khỏi train nhưng giữ mapping</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Toàn bộ interaction của controlled cold bị xóa khỏi train. Item ID và category vẫn được giữ để còn một vector embedding khởi tạo cho phân tích minh họa.</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Giữ đối chứng category</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Controlled cold trải trên 629 category và cả 629 category vẫn còn ít nhất một warm peer. Điều này cho phép so sánh cold với warm cùng category.</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Natural cold là nhóm khác</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Có 6.700 item chỉ xuất hiện sau mốc train. Đây là natural temporal cold, được audit riêng và không trộn với controlled cold trong diễn giải.</a:t>
            </a:r>
            <a:endParaRPr lang="en-US" sz="1200">
              <a:solidFill>
                <a:srgbClr val="172B4D"/>
              </a:solidFill>
              <a:latin typeface="Aptos" charset="0"/>
              <a:cs typeface="Aptos" charset="0"/>
            </a:endParaRPr>
          </a:p>
        </p:txBody>
      </p:sp>
      <p:sp>
        <p:nvSpPr>
          <p:cNvPr id="22" name="Rounded Rectangle 21"/>
          <p:cNvSpPr/>
          <p:nvPr/>
        </p:nvSpPr>
        <p:spPr>
          <a:xfrm>
            <a:off x="1016000" y="5651500"/>
            <a:ext cx="10160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1270000" y="5778500"/>
            <a:ext cx="9652000" cy="226695"/>
          </a:xfrm>
          <a:prstGeom prst="rect">
            <a:avLst/>
          </a:prstGeom>
          <a:noFill/>
        </p:spPr>
        <p:txBody>
          <a:bodyPr wrap="square" lIns="0" tIns="0" rIns="0" rtlCol="0" anchor="t">
            <a:spAutoFit/>
          </a:bodyPr>
          <a:p>
            <a:pPr algn="ctr"/>
            <a:r>
              <a:rPr lang="en-US" sz="1180" b="1">
                <a:solidFill>
                  <a:srgbClr val="0B1F33"/>
                </a:solidFill>
                <a:latin typeface="Aptos" charset="0"/>
                <a:cs typeface="Aptos" charset="0"/>
              </a:rPr>
              <a:t>Khi train: cold không là positive, không negative sampling, không nhận gradient; phải lưu embedding khởi tạo.</a:t>
            </a:r>
            <a:endParaRPr lang="en-US" sz="1180" b="1">
              <a:solidFill>
                <a:srgbClr val="0B1F33"/>
              </a:solidFill>
              <a:latin typeface="Aptos" charset="0"/>
              <a:cs typeface="Aptos"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Dữ liệu cuối cùng và các nhóm popularity</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22 / 24</a:t>
            </a:r>
            <a:endParaRPr lang="en-US" sz="1050" b="1">
              <a:solidFill>
                <a:srgbClr val="2F6BFF"/>
              </a:solidFill>
              <a:latin typeface="Aptos" charset="0"/>
              <a:cs typeface="Aptos" charset="0"/>
            </a:endParaRPr>
          </a:p>
        </p:txBody>
      </p:sp>
      <p:sp>
        <p:nvSpPr>
          <p:cNvPr id="6" name="Rectangle 5"/>
          <p:cNvSpPr/>
          <p:nvPr/>
        </p:nvSpPr>
        <p:spPr>
          <a:xfrm>
            <a:off x="609600" y="1625600"/>
            <a:ext cx="20574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609600" y="1752600"/>
            <a:ext cx="20574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TẬP</a:t>
            </a:r>
            <a:endParaRPr lang="en-US" sz="870" b="1">
              <a:solidFill>
                <a:srgbClr val="FFFFFF"/>
              </a:solidFill>
              <a:latin typeface="Aptos" charset="0"/>
              <a:cs typeface="Aptos" charset="0"/>
            </a:endParaRPr>
          </a:p>
        </p:txBody>
      </p:sp>
      <p:sp>
        <p:nvSpPr>
          <p:cNvPr id="8" name="Rectangle 7"/>
          <p:cNvSpPr/>
          <p:nvPr/>
        </p:nvSpPr>
        <p:spPr>
          <a:xfrm>
            <a:off x="26670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26670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EVENT</a:t>
            </a:r>
            <a:endParaRPr lang="en-US" sz="870" b="1">
              <a:solidFill>
                <a:srgbClr val="FFFFFF"/>
              </a:solidFill>
              <a:latin typeface="Aptos" charset="0"/>
              <a:cs typeface="Aptos" charset="0"/>
            </a:endParaRPr>
          </a:p>
        </p:txBody>
      </p:sp>
      <p:sp>
        <p:nvSpPr>
          <p:cNvPr id="10" name="Rectangle 9"/>
          <p:cNvSpPr/>
          <p:nvPr/>
        </p:nvSpPr>
        <p:spPr>
          <a:xfrm>
            <a:off x="40005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40005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SESSION</a:t>
            </a:r>
            <a:endParaRPr lang="en-US" sz="870" b="1">
              <a:solidFill>
                <a:srgbClr val="FFFFFF"/>
              </a:solidFill>
              <a:latin typeface="Aptos" charset="0"/>
              <a:cs typeface="Aptos" charset="0"/>
            </a:endParaRPr>
          </a:p>
        </p:txBody>
      </p:sp>
      <p:sp>
        <p:nvSpPr>
          <p:cNvPr id="12" name="Rectangle 11"/>
          <p:cNvSpPr/>
          <p:nvPr/>
        </p:nvSpPr>
        <p:spPr>
          <a:xfrm>
            <a:off x="53340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Text Box 12"/>
          <p:cNvSpPr txBox="1"/>
          <p:nvPr/>
        </p:nvSpPr>
        <p:spPr>
          <a:xfrm>
            <a:off x="53340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ITEM</a:t>
            </a:r>
            <a:endParaRPr lang="en-US" sz="870" b="1">
              <a:solidFill>
                <a:srgbClr val="FFFFFF"/>
              </a:solidFill>
              <a:latin typeface="Aptos" charset="0"/>
              <a:cs typeface="Aptos" charset="0"/>
            </a:endParaRPr>
          </a:p>
        </p:txBody>
      </p:sp>
      <p:sp>
        <p:nvSpPr>
          <p:cNvPr id="14" name="Rectangle 13"/>
          <p:cNvSpPr/>
          <p:nvPr/>
        </p:nvSpPr>
        <p:spPr>
          <a:xfrm>
            <a:off x="6667500" y="1625600"/>
            <a:ext cx="16764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6667500" y="1752600"/>
            <a:ext cx="16764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PREFIX-TARGET</a:t>
            </a:r>
            <a:endParaRPr lang="en-US" sz="870" b="1">
              <a:solidFill>
                <a:srgbClr val="FFFFFF"/>
              </a:solidFill>
              <a:latin typeface="Aptos" charset="0"/>
              <a:cs typeface="Aptos" charset="0"/>
            </a:endParaRPr>
          </a:p>
        </p:txBody>
      </p:sp>
      <p:sp>
        <p:nvSpPr>
          <p:cNvPr id="16" name="Rectangle 15"/>
          <p:cNvSpPr/>
          <p:nvPr/>
        </p:nvSpPr>
        <p:spPr>
          <a:xfrm>
            <a:off x="609600" y="2082800"/>
            <a:ext cx="2057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Text Box 16"/>
          <p:cNvSpPr txBox="1"/>
          <p:nvPr/>
        </p:nvSpPr>
        <p:spPr>
          <a:xfrm>
            <a:off x="647700" y="2273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Train</a:t>
            </a:r>
            <a:endParaRPr lang="en-US" sz="930" b="1">
              <a:solidFill>
                <a:srgbClr val="172B4D"/>
              </a:solidFill>
              <a:latin typeface="Aptos" charset="0"/>
              <a:cs typeface="Aptos" charset="0"/>
            </a:endParaRPr>
          </a:p>
        </p:txBody>
      </p:sp>
      <p:sp>
        <p:nvSpPr>
          <p:cNvPr id="18" name="Rectangle 17"/>
          <p:cNvSpPr/>
          <p:nvPr/>
        </p:nvSpPr>
        <p:spPr>
          <a:xfrm>
            <a:off x="26670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27051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649.632</a:t>
            </a:r>
            <a:endParaRPr lang="en-US" sz="930">
              <a:solidFill>
                <a:srgbClr val="172B4D"/>
              </a:solidFill>
              <a:latin typeface="Aptos" charset="0"/>
              <a:cs typeface="Aptos" charset="0"/>
            </a:endParaRPr>
          </a:p>
        </p:txBody>
      </p:sp>
      <p:sp>
        <p:nvSpPr>
          <p:cNvPr id="20" name="Rectangle 19"/>
          <p:cNvSpPr/>
          <p:nvPr/>
        </p:nvSpPr>
        <p:spPr>
          <a:xfrm>
            <a:off x="40005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Text Box 20"/>
          <p:cNvSpPr txBox="1"/>
          <p:nvPr/>
        </p:nvSpPr>
        <p:spPr>
          <a:xfrm>
            <a:off x="40386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150.783</a:t>
            </a:r>
            <a:endParaRPr lang="en-US" sz="930">
              <a:solidFill>
                <a:srgbClr val="172B4D"/>
              </a:solidFill>
              <a:latin typeface="Aptos" charset="0"/>
              <a:cs typeface="Aptos" charset="0"/>
            </a:endParaRPr>
          </a:p>
        </p:txBody>
      </p:sp>
      <p:sp>
        <p:nvSpPr>
          <p:cNvPr id="22" name="Rectangle 21"/>
          <p:cNvSpPr/>
          <p:nvPr/>
        </p:nvSpPr>
        <p:spPr>
          <a:xfrm>
            <a:off x="53340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53721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29.936</a:t>
            </a:r>
            <a:endParaRPr lang="en-US" sz="930">
              <a:solidFill>
                <a:srgbClr val="172B4D"/>
              </a:solidFill>
              <a:latin typeface="Aptos" charset="0"/>
              <a:cs typeface="Aptos" charset="0"/>
            </a:endParaRPr>
          </a:p>
        </p:txBody>
      </p:sp>
      <p:sp>
        <p:nvSpPr>
          <p:cNvPr id="24" name="Rectangle 23"/>
          <p:cNvSpPr/>
          <p:nvPr/>
        </p:nvSpPr>
        <p:spPr>
          <a:xfrm>
            <a:off x="6667500" y="2082800"/>
            <a:ext cx="1676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Text Box 24"/>
          <p:cNvSpPr txBox="1"/>
          <p:nvPr/>
        </p:nvSpPr>
        <p:spPr>
          <a:xfrm>
            <a:off x="6705600" y="2273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498.849</a:t>
            </a:r>
            <a:endParaRPr lang="en-US" sz="930">
              <a:solidFill>
                <a:srgbClr val="172B4D"/>
              </a:solidFill>
              <a:latin typeface="Aptos" charset="0"/>
              <a:cs typeface="Aptos" charset="0"/>
            </a:endParaRPr>
          </a:p>
        </p:txBody>
      </p:sp>
      <p:sp>
        <p:nvSpPr>
          <p:cNvPr id="26" name="Rectangle 25"/>
          <p:cNvSpPr/>
          <p:nvPr/>
        </p:nvSpPr>
        <p:spPr>
          <a:xfrm>
            <a:off x="609600" y="2717800"/>
            <a:ext cx="20574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647700" y="2908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Validation warm</a:t>
            </a:r>
            <a:endParaRPr lang="en-US" sz="930" b="1">
              <a:solidFill>
                <a:srgbClr val="172B4D"/>
              </a:solidFill>
              <a:latin typeface="Aptos" charset="0"/>
              <a:cs typeface="Aptos" charset="0"/>
            </a:endParaRPr>
          </a:p>
        </p:txBody>
      </p:sp>
      <p:sp>
        <p:nvSpPr>
          <p:cNvPr id="28" name="Rectangle 27"/>
          <p:cNvSpPr/>
          <p:nvPr/>
        </p:nvSpPr>
        <p:spPr>
          <a:xfrm>
            <a:off x="26670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Text Box 28"/>
          <p:cNvSpPr txBox="1"/>
          <p:nvPr/>
        </p:nvSpPr>
        <p:spPr>
          <a:xfrm>
            <a:off x="27051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39.450</a:t>
            </a:r>
            <a:endParaRPr lang="en-US" sz="930">
              <a:solidFill>
                <a:srgbClr val="172B4D"/>
              </a:solidFill>
              <a:latin typeface="Aptos" charset="0"/>
              <a:cs typeface="Aptos" charset="0"/>
            </a:endParaRPr>
          </a:p>
        </p:txBody>
      </p:sp>
      <p:sp>
        <p:nvSpPr>
          <p:cNvPr id="30" name="Rectangle 29"/>
          <p:cNvSpPr/>
          <p:nvPr/>
        </p:nvSpPr>
        <p:spPr>
          <a:xfrm>
            <a:off x="40005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40386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9.622</a:t>
            </a:r>
            <a:endParaRPr lang="en-US" sz="930">
              <a:solidFill>
                <a:srgbClr val="172B4D"/>
              </a:solidFill>
              <a:latin typeface="Aptos" charset="0"/>
              <a:cs typeface="Aptos" charset="0"/>
            </a:endParaRPr>
          </a:p>
        </p:txBody>
      </p:sp>
      <p:sp>
        <p:nvSpPr>
          <p:cNvPr id="32" name="Rectangle 31"/>
          <p:cNvSpPr/>
          <p:nvPr/>
        </p:nvSpPr>
        <p:spPr>
          <a:xfrm>
            <a:off x="53340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3" name="Text Box 32"/>
          <p:cNvSpPr txBox="1"/>
          <p:nvPr/>
        </p:nvSpPr>
        <p:spPr>
          <a:xfrm>
            <a:off x="53721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12.227</a:t>
            </a:r>
            <a:endParaRPr lang="en-US" sz="930">
              <a:solidFill>
                <a:srgbClr val="172B4D"/>
              </a:solidFill>
              <a:latin typeface="Aptos" charset="0"/>
              <a:cs typeface="Aptos" charset="0"/>
            </a:endParaRPr>
          </a:p>
        </p:txBody>
      </p:sp>
      <p:sp>
        <p:nvSpPr>
          <p:cNvPr id="34" name="Rectangle 33"/>
          <p:cNvSpPr/>
          <p:nvPr/>
        </p:nvSpPr>
        <p:spPr>
          <a:xfrm>
            <a:off x="6667500" y="2717800"/>
            <a:ext cx="16764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5" name="Text Box 34"/>
          <p:cNvSpPr txBox="1"/>
          <p:nvPr/>
        </p:nvSpPr>
        <p:spPr>
          <a:xfrm>
            <a:off x="6705600" y="2908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29.828</a:t>
            </a:r>
            <a:endParaRPr lang="en-US" sz="930">
              <a:solidFill>
                <a:srgbClr val="172B4D"/>
              </a:solidFill>
              <a:latin typeface="Aptos" charset="0"/>
              <a:cs typeface="Aptos" charset="0"/>
            </a:endParaRPr>
          </a:p>
        </p:txBody>
      </p:sp>
      <p:sp>
        <p:nvSpPr>
          <p:cNvPr id="36" name="Rectangle 35"/>
          <p:cNvSpPr/>
          <p:nvPr/>
        </p:nvSpPr>
        <p:spPr>
          <a:xfrm>
            <a:off x="609600" y="3352800"/>
            <a:ext cx="2057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Text Box 36"/>
          <p:cNvSpPr txBox="1"/>
          <p:nvPr/>
        </p:nvSpPr>
        <p:spPr>
          <a:xfrm>
            <a:off x="647700" y="3543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Test warm</a:t>
            </a:r>
            <a:endParaRPr lang="en-US" sz="930" b="1">
              <a:solidFill>
                <a:srgbClr val="172B4D"/>
              </a:solidFill>
              <a:latin typeface="Aptos" charset="0"/>
              <a:cs typeface="Aptos" charset="0"/>
            </a:endParaRPr>
          </a:p>
        </p:txBody>
      </p:sp>
      <p:sp>
        <p:nvSpPr>
          <p:cNvPr id="38" name="Rectangle 37"/>
          <p:cNvSpPr/>
          <p:nvPr/>
        </p:nvSpPr>
        <p:spPr>
          <a:xfrm>
            <a:off x="26670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7051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52.792</a:t>
            </a:r>
            <a:endParaRPr lang="en-US" sz="930">
              <a:solidFill>
                <a:srgbClr val="172B4D"/>
              </a:solidFill>
              <a:latin typeface="Aptos" charset="0"/>
              <a:cs typeface="Aptos" charset="0"/>
            </a:endParaRPr>
          </a:p>
        </p:txBody>
      </p:sp>
      <p:sp>
        <p:nvSpPr>
          <p:cNvPr id="40" name="Rectangle 39"/>
          <p:cNvSpPr/>
          <p:nvPr/>
        </p:nvSpPr>
        <p:spPr>
          <a:xfrm>
            <a:off x="40005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1" name="Text Box 40"/>
          <p:cNvSpPr txBox="1"/>
          <p:nvPr/>
        </p:nvSpPr>
        <p:spPr>
          <a:xfrm>
            <a:off x="40386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12.791</a:t>
            </a:r>
            <a:endParaRPr lang="en-US" sz="930">
              <a:solidFill>
                <a:srgbClr val="172B4D"/>
              </a:solidFill>
              <a:latin typeface="Aptos" charset="0"/>
              <a:cs typeface="Aptos" charset="0"/>
            </a:endParaRPr>
          </a:p>
        </p:txBody>
      </p:sp>
      <p:sp>
        <p:nvSpPr>
          <p:cNvPr id="42" name="Rectangle 41"/>
          <p:cNvSpPr/>
          <p:nvPr/>
        </p:nvSpPr>
        <p:spPr>
          <a:xfrm>
            <a:off x="53340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3" name="Text Box 42"/>
          <p:cNvSpPr txBox="1"/>
          <p:nvPr/>
        </p:nvSpPr>
        <p:spPr>
          <a:xfrm>
            <a:off x="53721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13.847</a:t>
            </a:r>
            <a:endParaRPr lang="en-US" sz="930">
              <a:solidFill>
                <a:srgbClr val="172B4D"/>
              </a:solidFill>
              <a:latin typeface="Aptos" charset="0"/>
              <a:cs typeface="Aptos" charset="0"/>
            </a:endParaRPr>
          </a:p>
        </p:txBody>
      </p:sp>
      <p:sp>
        <p:nvSpPr>
          <p:cNvPr id="44" name="Rectangle 43"/>
          <p:cNvSpPr/>
          <p:nvPr/>
        </p:nvSpPr>
        <p:spPr>
          <a:xfrm>
            <a:off x="6667500" y="3352800"/>
            <a:ext cx="1676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5" name="Text Box 44"/>
          <p:cNvSpPr txBox="1"/>
          <p:nvPr/>
        </p:nvSpPr>
        <p:spPr>
          <a:xfrm>
            <a:off x="6705600" y="3543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40.001</a:t>
            </a:r>
            <a:endParaRPr lang="en-US" sz="930">
              <a:solidFill>
                <a:srgbClr val="172B4D"/>
              </a:solidFill>
              <a:latin typeface="Aptos" charset="0"/>
              <a:cs typeface="Aptos" charset="0"/>
            </a:endParaRPr>
          </a:p>
        </p:txBody>
      </p:sp>
      <p:sp>
        <p:nvSpPr>
          <p:cNvPr id="46" name="Text Box 45"/>
          <p:cNvSpPr txBox="1"/>
          <p:nvPr/>
        </p:nvSpPr>
        <p:spPr>
          <a:xfrm>
            <a:off x="609600" y="4254500"/>
            <a:ext cx="6604000" cy="191770"/>
          </a:xfrm>
          <a:prstGeom prst="rect">
            <a:avLst/>
          </a:prstGeom>
          <a:noFill/>
        </p:spPr>
        <p:txBody>
          <a:bodyPr wrap="square" lIns="0" tIns="0" rIns="0" rtlCol="0" anchor="t">
            <a:spAutoFit/>
          </a:bodyPr>
          <a:p>
            <a:pPr algn="l"/>
            <a:r>
              <a:rPr lang="en-US" sz="950" b="1">
                <a:solidFill>
                  <a:srgbClr val="2F6BFF"/>
                </a:solidFill>
                <a:latin typeface="Aptos" charset="0"/>
                <a:cs typeface="Aptos" charset="0"/>
              </a:rPr>
              <a:t>NHÓM POPULARITY TỪ FINAL TRAIN</a:t>
            </a:r>
            <a:endParaRPr lang="en-US" sz="950" b="1">
              <a:solidFill>
                <a:srgbClr val="2F6BFF"/>
              </a:solidFill>
              <a:latin typeface="Aptos" charset="0"/>
              <a:cs typeface="Aptos" charset="0"/>
            </a:endParaRPr>
          </a:p>
        </p:txBody>
      </p:sp>
      <p:sp>
        <p:nvSpPr>
          <p:cNvPr id="47" name="Rounded Rectangle 46"/>
          <p:cNvSpPr/>
          <p:nvPr/>
        </p:nvSpPr>
        <p:spPr>
          <a:xfrm>
            <a:off x="609600" y="4648200"/>
            <a:ext cx="1905000" cy="11557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8" name="Text Box 47"/>
          <p:cNvSpPr txBox="1"/>
          <p:nvPr/>
        </p:nvSpPr>
        <p:spPr>
          <a:xfrm>
            <a:off x="609600" y="48006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COLD</a:t>
            </a:r>
            <a:endParaRPr lang="en-US" sz="850" b="1">
              <a:solidFill>
                <a:srgbClr val="576884"/>
              </a:solidFill>
              <a:latin typeface="Aptos" charset="0"/>
              <a:cs typeface="Aptos" charset="0"/>
            </a:endParaRPr>
          </a:p>
        </p:txBody>
      </p:sp>
      <p:sp>
        <p:nvSpPr>
          <p:cNvPr id="49" name="Text Box 48"/>
          <p:cNvSpPr txBox="1"/>
          <p:nvPr/>
        </p:nvSpPr>
        <p:spPr>
          <a:xfrm>
            <a:off x="6096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7.647 item</a:t>
            </a:r>
            <a:endParaRPr lang="en-US" sz="1300" b="1">
              <a:solidFill>
                <a:srgbClr val="0B1F33"/>
              </a:solidFill>
              <a:latin typeface="Aptos" charset="0"/>
              <a:cs typeface="Aptos" charset="0"/>
            </a:endParaRPr>
          </a:p>
        </p:txBody>
      </p:sp>
      <p:sp>
        <p:nvSpPr>
          <p:cNvPr id="50" name="Text Box 49"/>
          <p:cNvSpPr txBox="1"/>
          <p:nvPr/>
        </p:nvSpPr>
        <p:spPr>
          <a:xfrm>
            <a:off x="6096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0</a:t>
            </a:r>
            <a:endParaRPr lang="en-US" sz="850" b="1">
              <a:solidFill>
                <a:srgbClr val="576884"/>
              </a:solidFill>
              <a:latin typeface="Aptos" charset="0"/>
              <a:cs typeface="Aptos" charset="0"/>
            </a:endParaRPr>
          </a:p>
        </p:txBody>
      </p:sp>
      <p:sp>
        <p:nvSpPr>
          <p:cNvPr id="51" name="Rounded Rectangle 50"/>
          <p:cNvSpPr/>
          <p:nvPr/>
        </p:nvSpPr>
        <p:spPr>
          <a:xfrm>
            <a:off x="2692400" y="4648200"/>
            <a:ext cx="1905000" cy="11557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Text Box 51"/>
          <p:cNvSpPr txBox="1"/>
          <p:nvPr/>
        </p:nvSpPr>
        <p:spPr>
          <a:xfrm>
            <a:off x="2692400" y="4800600"/>
            <a:ext cx="1905000" cy="175895"/>
          </a:xfrm>
          <a:prstGeom prst="rect">
            <a:avLst/>
          </a:prstGeom>
          <a:noFill/>
        </p:spPr>
        <p:txBody>
          <a:bodyPr wrap="square" lIns="0" tIns="0" rIns="0" rtlCol="0" anchor="t">
            <a:spAutoFit/>
          </a:bodyPr>
          <a:p>
            <a:pPr algn="ctr"/>
            <a:r>
              <a:rPr lang="en-US" sz="850" b="1">
                <a:solidFill>
                  <a:srgbClr val="2F6BFF"/>
                </a:solidFill>
                <a:latin typeface="Aptos" charset="0"/>
                <a:cs typeface="Aptos" charset="0"/>
              </a:rPr>
              <a:t>RARE</a:t>
            </a:r>
            <a:endParaRPr lang="en-US" sz="850" b="1">
              <a:solidFill>
                <a:srgbClr val="2F6BFF"/>
              </a:solidFill>
              <a:latin typeface="Aptos" charset="0"/>
              <a:cs typeface="Aptos" charset="0"/>
            </a:endParaRPr>
          </a:p>
        </p:txBody>
      </p:sp>
      <p:sp>
        <p:nvSpPr>
          <p:cNvPr id="53" name="Text Box 52"/>
          <p:cNvSpPr txBox="1"/>
          <p:nvPr/>
        </p:nvSpPr>
        <p:spPr>
          <a:xfrm>
            <a:off x="26924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6.884 item</a:t>
            </a:r>
            <a:endParaRPr lang="en-US" sz="1300" b="1">
              <a:solidFill>
                <a:srgbClr val="0B1F33"/>
              </a:solidFill>
              <a:latin typeface="Aptos" charset="0"/>
              <a:cs typeface="Aptos" charset="0"/>
            </a:endParaRPr>
          </a:p>
        </p:txBody>
      </p:sp>
      <p:sp>
        <p:nvSpPr>
          <p:cNvPr id="54" name="Text Box 53"/>
          <p:cNvSpPr txBox="1"/>
          <p:nvPr/>
        </p:nvSpPr>
        <p:spPr>
          <a:xfrm>
            <a:off x="26924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6</a:t>
            </a:r>
            <a:endParaRPr lang="en-US" sz="850" b="1">
              <a:solidFill>
                <a:srgbClr val="576884"/>
              </a:solidFill>
              <a:latin typeface="Aptos" charset="0"/>
              <a:cs typeface="Aptos" charset="0"/>
            </a:endParaRPr>
          </a:p>
        </p:txBody>
      </p:sp>
      <p:sp>
        <p:nvSpPr>
          <p:cNvPr id="55" name="Rounded Rectangle 54"/>
          <p:cNvSpPr/>
          <p:nvPr/>
        </p:nvSpPr>
        <p:spPr>
          <a:xfrm>
            <a:off x="4775200" y="4648200"/>
            <a:ext cx="1905000" cy="11557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6" name="Text Box 55"/>
          <p:cNvSpPr txBox="1"/>
          <p:nvPr/>
        </p:nvSpPr>
        <p:spPr>
          <a:xfrm>
            <a:off x="4775200" y="4800600"/>
            <a:ext cx="1905000" cy="175895"/>
          </a:xfrm>
          <a:prstGeom prst="rect">
            <a:avLst/>
          </a:prstGeom>
          <a:noFill/>
        </p:spPr>
        <p:txBody>
          <a:bodyPr wrap="square" lIns="0" tIns="0" rIns="0" rtlCol="0" anchor="t">
            <a:spAutoFit/>
          </a:bodyPr>
          <a:p>
            <a:pPr algn="ctr"/>
            <a:r>
              <a:rPr lang="en-US" sz="850" b="1">
                <a:solidFill>
                  <a:srgbClr val="16B3A3"/>
                </a:solidFill>
                <a:latin typeface="Aptos" charset="0"/>
                <a:cs typeface="Aptos" charset="0"/>
              </a:rPr>
              <a:t>MEDIUM</a:t>
            </a:r>
            <a:endParaRPr lang="en-US" sz="850" b="1">
              <a:solidFill>
                <a:srgbClr val="16B3A3"/>
              </a:solidFill>
              <a:latin typeface="Aptos" charset="0"/>
              <a:cs typeface="Aptos" charset="0"/>
            </a:endParaRPr>
          </a:p>
        </p:txBody>
      </p:sp>
      <p:sp>
        <p:nvSpPr>
          <p:cNvPr id="57" name="Text Box 56"/>
          <p:cNvSpPr txBox="1"/>
          <p:nvPr/>
        </p:nvSpPr>
        <p:spPr>
          <a:xfrm>
            <a:off x="47752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16.940 item</a:t>
            </a:r>
            <a:endParaRPr lang="en-US" sz="1300" b="1">
              <a:solidFill>
                <a:srgbClr val="0B1F33"/>
              </a:solidFill>
              <a:latin typeface="Aptos" charset="0"/>
              <a:cs typeface="Aptos" charset="0"/>
            </a:endParaRPr>
          </a:p>
        </p:txBody>
      </p:sp>
      <p:sp>
        <p:nvSpPr>
          <p:cNvPr id="58" name="Text Box 57"/>
          <p:cNvSpPr txBox="1"/>
          <p:nvPr/>
        </p:nvSpPr>
        <p:spPr>
          <a:xfrm>
            <a:off x="47752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7–26</a:t>
            </a:r>
            <a:endParaRPr lang="en-US" sz="850" b="1">
              <a:solidFill>
                <a:srgbClr val="576884"/>
              </a:solidFill>
              <a:latin typeface="Aptos" charset="0"/>
              <a:cs typeface="Aptos" charset="0"/>
            </a:endParaRPr>
          </a:p>
        </p:txBody>
      </p:sp>
      <p:sp>
        <p:nvSpPr>
          <p:cNvPr id="59" name="Rounded Rectangle 58"/>
          <p:cNvSpPr/>
          <p:nvPr/>
        </p:nvSpPr>
        <p:spPr>
          <a:xfrm>
            <a:off x="6858000" y="4648200"/>
            <a:ext cx="1905000" cy="11557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0" name="Text Box 59"/>
          <p:cNvSpPr txBox="1"/>
          <p:nvPr/>
        </p:nvSpPr>
        <p:spPr>
          <a:xfrm>
            <a:off x="6858000" y="4800600"/>
            <a:ext cx="1905000" cy="175895"/>
          </a:xfrm>
          <a:prstGeom prst="rect">
            <a:avLst/>
          </a:prstGeom>
          <a:noFill/>
        </p:spPr>
        <p:txBody>
          <a:bodyPr wrap="square" lIns="0" tIns="0" rIns="0" rtlCol="0" anchor="t">
            <a:spAutoFit/>
          </a:bodyPr>
          <a:p>
            <a:pPr algn="ctr"/>
            <a:r>
              <a:rPr lang="en-US" sz="850" b="1">
                <a:solidFill>
                  <a:srgbClr val="FF9F43"/>
                </a:solidFill>
                <a:latin typeface="Aptos" charset="0"/>
                <a:cs typeface="Aptos" charset="0"/>
              </a:rPr>
              <a:t>POPULAR</a:t>
            </a:r>
            <a:endParaRPr lang="en-US" sz="850" b="1">
              <a:solidFill>
                <a:srgbClr val="FF9F43"/>
              </a:solidFill>
              <a:latin typeface="Aptos" charset="0"/>
              <a:cs typeface="Aptos" charset="0"/>
            </a:endParaRPr>
          </a:p>
        </p:txBody>
      </p:sp>
      <p:sp>
        <p:nvSpPr>
          <p:cNvPr id="61" name="Text Box 60"/>
          <p:cNvSpPr txBox="1"/>
          <p:nvPr/>
        </p:nvSpPr>
        <p:spPr>
          <a:xfrm>
            <a:off x="68580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6.112 item</a:t>
            </a:r>
            <a:endParaRPr lang="en-US" sz="1300" b="1">
              <a:solidFill>
                <a:srgbClr val="0B1F33"/>
              </a:solidFill>
              <a:latin typeface="Aptos" charset="0"/>
              <a:cs typeface="Aptos" charset="0"/>
            </a:endParaRPr>
          </a:p>
        </p:txBody>
      </p:sp>
      <p:sp>
        <p:nvSpPr>
          <p:cNvPr id="62" name="Text Box 61"/>
          <p:cNvSpPr txBox="1"/>
          <p:nvPr/>
        </p:nvSpPr>
        <p:spPr>
          <a:xfrm>
            <a:off x="68580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27</a:t>
            </a:r>
            <a:endParaRPr lang="en-US" sz="850" b="1">
              <a:solidFill>
                <a:srgbClr val="576884"/>
              </a:solidFill>
              <a:latin typeface="Aptos" charset="0"/>
              <a:cs typeface="Aptos" charset="0"/>
            </a:endParaRPr>
          </a:p>
        </p:txBody>
      </p:sp>
      <p:sp>
        <p:nvSpPr>
          <p:cNvPr id="63" name="Rounded Rectangle 62"/>
          <p:cNvSpPr/>
          <p:nvPr/>
        </p:nvSpPr>
        <p:spPr>
          <a:xfrm>
            <a:off x="9144000" y="1625600"/>
            <a:ext cx="2235200" cy="41783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4" name="Text Box 63"/>
          <p:cNvSpPr txBox="1"/>
          <p:nvPr/>
        </p:nvSpPr>
        <p:spPr>
          <a:xfrm>
            <a:off x="9372600" y="1905000"/>
            <a:ext cx="1778000" cy="191770"/>
          </a:xfrm>
          <a:prstGeom prst="rect">
            <a:avLst/>
          </a:prstGeom>
          <a:noFill/>
        </p:spPr>
        <p:txBody>
          <a:bodyPr wrap="square" lIns="0" tIns="0" rIns="0" rtlCol="0" anchor="t">
            <a:spAutoFit/>
          </a:bodyPr>
          <a:p>
            <a:pPr algn="ctr"/>
            <a:r>
              <a:rPr lang="en-US" sz="950" b="1">
                <a:solidFill>
                  <a:srgbClr val="16B3A3"/>
                </a:solidFill>
                <a:latin typeface="Aptos" charset="0"/>
                <a:cs typeface="Aptos" charset="0"/>
              </a:rPr>
              <a:t>CÁCH HIỂU</a:t>
            </a:r>
            <a:endParaRPr lang="en-US" sz="950" b="1">
              <a:solidFill>
                <a:srgbClr val="16B3A3"/>
              </a:solidFill>
              <a:latin typeface="Aptos" charset="0"/>
              <a:cs typeface="Aptos" charset="0"/>
            </a:endParaRPr>
          </a:p>
        </p:txBody>
      </p:sp>
      <p:sp>
        <p:nvSpPr>
          <p:cNvPr id="65" name="Text Box 64"/>
          <p:cNvSpPr txBox="1"/>
          <p:nvPr/>
        </p:nvSpPr>
        <p:spPr>
          <a:xfrm>
            <a:off x="9398000" y="2425700"/>
            <a:ext cx="1727200" cy="1787525"/>
          </a:xfrm>
          <a:prstGeom prst="rect">
            <a:avLst/>
          </a:prstGeom>
          <a:noFill/>
        </p:spPr>
        <p:txBody>
          <a:bodyPr wrap="square" lIns="0" tIns="0" rIns="0" rtlCol="0" anchor="t">
            <a:spAutoFit/>
          </a:bodyPr>
          <a:p>
            <a:pPr algn="l"/>
            <a:r>
              <a:rPr lang="en-US" sz="1030">
                <a:solidFill>
                  <a:srgbClr val="FFFFFF"/>
                </a:solidFill>
                <a:latin typeface="Aptos" charset="0"/>
                <a:cs typeface="Aptos" charset="0"/>
              </a:rPr>
              <a:t>Rare/medium/popular là các warm item đã được học.
Nhóm không đúng chính xác 20% vì pipeline giữ các item có cùng frequency trong cùng một nhóm.
Main accuracy chỉ đo trên warm target để phù hợp ba baseline item-ID-based.</a:t>
            </a:r>
            <a:endParaRPr lang="en-US" sz="1030">
              <a:solidFill>
                <a:srgbClr val="FFFFFF"/>
              </a:solidFill>
              <a:latin typeface="Aptos" charset="0"/>
              <a:cs typeface="Aptos"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Notebook 02 đã xuất gì và kiểm tra những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23 / 24</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Parquet và examples</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Xuất event, session sequence, all-prefix examples và last-item examples cho train/validation/test. Bản validation/test full được giữ để audit cold.</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Mapping và nhóm item</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Xuất item mapping, category mapping, popularity groups và cold item list. ID nội bộ bắt đầu từ 1; ID 0 được dành cho padding.</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Định dạng RecBole</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file .train.inter, .valid.inter, .test.inter và .item là cùng Diginetica đã xử lý, không phải dataset khác. RecBole không được tự chia ngẫu nhiên lại.</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tra tự động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23/23 audit và 11/11 pytest đạt: không trùng session, không cold trong train, mapping duy nhất, category đầy đủ và popularity chỉ từ train.</a:t>
            </a:r>
            <a:endParaRPr lang="en-US" sz="1200">
              <a:solidFill>
                <a:srgbClr val="172B4D"/>
              </a:solidFill>
              <a:latin typeface="Aptos" charset="0"/>
              <a:cs typeface="Aptos" charset="0"/>
            </a:endParaRPr>
          </a:p>
        </p:txBody>
      </p:sp>
      <p:sp>
        <p:nvSpPr>
          <p:cNvPr id="22" name="Rounded Rectangle 21"/>
          <p:cNvSpPr/>
          <p:nvPr/>
        </p:nvSpPr>
        <p:spPr>
          <a:xfrm>
            <a:off x="2032000" y="5524500"/>
            <a:ext cx="8128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86000" y="5676900"/>
            <a:ext cx="7620000" cy="207010"/>
          </a:xfrm>
          <a:prstGeom prst="rect">
            <a:avLst/>
          </a:prstGeom>
          <a:noFill/>
        </p:spPr>
        <p:txBody>
          <a:bodyPr wrap="square" lIns="0" tIns="0" rIns="0" rtlCol="0" anchor="t">
            <a:spAutoFit/>
          </a:bodyPr>
          <a:p>
            <a:pPr algn="ctr"/>
            <a:r>
              <a:rPr lang="en-US" sz="1050" b="1">
                <a:solidFill>
                  <a:srgbClr val="16B3A3"/>
                </a:solidFill>
                <a:latin typeface="Aptos" charset="0"/>
                <a:cs typeface="Aptos" charset="0"/>
              </a:rPr>
              <a:t>Các kiểm tra chứng minh implementation đúng giao thức; chúng không chứng minh hyperparameter là tối ưu.</a:t>
            </a:r>
            <a:endParaRPr lang="en-US" sz="1050" b="1">
              <a:solidFill>
                <a:srgbClr val="16B3A3"/>
              </a:solidFill>
              <a:latin typeface="Aptos" charset="0"/>
              <a:cs typeface="Aptos"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85800" y="533400"/>
            <a:ext cx="10668000" cy="476250"/>
          </a:xfrm>
          <a:prstGeom prst="rect">
            <a:avLst/>
          </a:prstGeom>
          <a:noFill/>
        </p:spPr>
        <p:txBody>
          <a:bodyPr wrap="square" lIns="0" tIns="0" rIns="0" rtlCol="0" anchor="t">
            <a:spAutoFit/>
          </a:bodyPr>
          <a:p>
            <a:pPr algn="l"/>
            <a:r>
              <a:rPr lang="en-US" sz="2800" b="1">
                <a:solidFill>
                  <a:srgbClr val="0B1F33"/>
                </a:solidFill>
                <a:latin typeface="Aptos" charset="0"/>
                <a:cs typeface="Aptos" charset="0"/>
              </a:rPr>
              <a:t>Hai notebook đầu đã tạo nền tảng hợp lệ cho thí nghiệm</a:t>
            </a:r>
            <a:endParaRPr lang="en-US" sz="2800" b="1">
              <a:solidFill>
                <a:srgbClr val="0B1F33"/>
              </a:solidFill>
              <a:latin typeface="Aptos" charset="0"/>
              <a:cs typeface="Aptos" charset="0"/>
            </a:endParaRPr>
          </a:p>
        </p:txBody>
      </p:sp>
      <p:sp>
        <p:nvSpPr>
          <p:cNvPr id="5" name="Rounded Rectangle 4"/>
          <p:cNvSpPr/>
          <p:nvPr/>
        </p:nvSpPr>
        <p:spPr>
          <a:xfrm>
            <a:off x="685800" y="2413000"/>
            <a:ext cx="5105400" cy="20320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889000" y="25908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7" name="Text Box 6"/>
          <p:cNvSpPr txBox="1"/>
          <p:nvPr/>
        </p:nvSpPr>
        <p:spPr>
          <a:xfrm>
            <a:off x="1473200" y="2603500"/>
            <a:ext cx="41148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Điều đã chứng minh</a:t>
            </a:r>
            <a:endParaRPr lang="en-US" sz="1350" b="1">
              <a:solidFill>
                <a:srgbClr val="0B1F33"/>
              </a:solidFill>
              <a:latin typeface="Aptos" charset="0"/>
              <a:cs typeface="Aptos" charset="0"/>
            </a:endParaRPr>
          </a:p>
        </p:txBody>
      </p:sp>
      <p:sp>
        <p:nvSpPr>
          <p:cNvPr id="8" name="Text Box 7"/>
          <p:cNvSpPr txBox="1"/>
          <p:nvPr/>
        </p:nvSpPr>
        <p:spPr>
          <a:xfrm>
            <a:off x="939800" y="3073400"/>
            <a:ext cx="45974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Diginetica có long-tail mạnh; category mang tín hiệu hành vi; raw event cần sắp lại; ngưỡng lọc có trade-off lớn và dữ liệu phải chia theo thời gian.</a:t>
            </a:r>
            <a:endParaRPr lang="en-US" sz="1200">
              <a:solidFill>
                <a:srgbClr val="172B4D"/>
              </a:solidFill>
              <a:latin typeface="Aptos" charset="0"/>
              <a:cs typeface="Aptos" charset="0"/>
            </a:endParaRPr>
          </a:p>
        </p:txBody>
      </p:sp>
      <p:sp>
        <p:nvSpPr>
          <p:cNvPr id="9" name="Rounded Rectangle 8"/>
          <p:cNvSpPr/>
          <p:nvPr/>
        </p:nvSpPr>
        <p:spPr>
          <a:xfrm>
            <a:off x="6400800" y="2413000"/>
            <a:ext cx="5105400" cy="20320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Text Box 9"/>
          <p:cNvSpPr txBox="1"/>
          <p:nvPr/>
        </p:nvSpPr>
        <p:spPr>
          <a:xfrm>
            <a:off x="6604000" y="25908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1" name="Text Box 10"/>
          <p:cNvSpPr txBox="1"/>
          <p:nvPr/>
        </p:nvSpPr>
        <p:spPr>
          <a:xfrm>
            <a:off x="7188200" y="2603500"/>
            <a:ext cx="41148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Điều đã hoàn thành</a:t>
            </a:r>
            <a:endParaRPr lang="en-US" sz="1350" b="1">
              <a:solidFill>
                <a:srgbClr val="0B1F33"/>
              </a:solidFill>
              <a:latin typeface="Aptos" charset="0"/>
              <a:cs typeface="Aptos" charset="0"/>
            </a:endParaRPr>
          </a:p>
        </p:txBody>
      </p:sp>
      <p:sp>
        <p:nvSpPr>
          <p:cNvPr id="12" name="Text Box 11"/>
          <p:cNvSpPr txBox="1"/>
          <p:nvPr/>
        </p:nvSpPr>
        <p:spPr>
          <a:xfrm>
            <a:off x="6654800" y="3073400"/>
            <a:ext cx="45974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Đã tạo temporal split, fixed-point filter, controlled cold 20%, final warm evaluation, mapping, popularity groups, examples và RecBole; toàn bộ audit đều đạt.</a:t>
            </a:r>
            <a:endParaRPr lang="en-US" sz="1200">
              <a:solidFill>
                <a:srgbClr val="172B4D"/>
              </a:solidFill>
              <a:latin typeface="Aptos" charset="0"/>
              <a:cs typeface="Aptos" charset="0"/>
            </a:endParaRPr>
          </a:p>
        </p:txBody>
      </p:sp>
      <p:sp>
        <p:nvSpPr>
          <p:cNvPr id="13" name="Rounded Rectangle 12"/>
          <p:cNvSpPr/>
          <p:nvPr/>
        </p:nvSpPr>
        <p:spPr>
          <a:xfrm>
            <a:off x="685800" y="4699000"/>
            <a:ext cx="10820400" cy="10541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939800" y="4914900"/>
            <a:ext cx="2413000" cy="222250"/>
          </a:xfrm>
          <a:prstGeom prst="rect">
            <a:avLst/>
          </a:prstGeom>
          <a:noFill/>
        </p:spPr>
        <p:txBody>
          <a:bodyPr wrap="square" lIns="0" tIns="0" rIns="0" rtlCol="0" anchor="t">
            <a:spAutoFit/>
          </a:bodyPr>
          <a:p>
            <a:pPr algn="l"/>
            <a:r>
              <a:rPr lang="en-US" sz="1150" b="1">
                <a:solidFill>
                  <a:srgbClr val="FF9F43"/>
                </a:solidFill>
                <a:latin typeface="Aptos" charset="0"/>
                <a:cs typeface="Aptos" charset="0"/>
              </a:rPr>
              <a:t>CHƯA THỂ KẾT LUẬN</a:t>
            </a:r>
            <a:endParaRPr lang="en-US" sz="1150" b="1">
              <a:solidFill>
                <a:srgbClr val="FF9F43"/>
              </a:solidFill>
              <a:latin typeface="Aptos" charset="0"/>
              <a:cs typeface="Aptos" charset="0"/>
            </a:endParaRPr>
          </a:p>
        </p:txBody>
      </p:sp>
      <p:sp>
        <p:nvSpPr>
          <p:cNvPr id="15" name="Text Box 14"/>
          <p:cNvSpPr txBox="1"/>
          <p:nvPr/>
        </p:nvSpPr>
        <p:spPr>
          <a:xfrm>
            <a:off x="3479800" y="4851400"/>
            <a:ext cx="7721600" cy="419735"/>
          </a:xfrm>
          <a:prstGeom prst="rect">
            <a:avLst/>
          </a:prstGeom>
          <a:noFill/>
        </p:spPr>
        <p:txBody>
          <a:bodyPr wrap="square" lIns="0" tIns="0" rIns="0" rtlCol="0" anchor="t">
            <a:spAutoFit/>
          </a:bodyPr>
          <a:p>
            <a:pPr algn="l"/>
            <a:r>
              <a:rPr lang="en-US" sz="1220">
                <a:solidFill>
                  <a:srgbClr val="0B1F33"/>
                </a:solidFill>
                <a:latin typeface="Aptos" charset="0"/>
                <a:cs typeface="Aptos" charset="0"/>
              </a:rPr>
              <a:t>Chưa biết mô hình nào bias hơn, chưa có metric Top-20 và chưa có embedding đã huấn luyện. Bước tiếp theo là train GRU4Rec, NARM, SASRec với hai seed rồi mới liên hệ frequency – norm – recommendation count.</a:t>
            </a:r>
            <a:endParaRPr lang="en-US" sz="1220">
              <a:solidFill>
                <a:srgbClr val="0B1F33"/>
              </a:solidFill>
              <a:latin typeface="Aptos" charset="0"/>
              <a:cs typeface="Aptos" charset="0"/>
            </a:endParaRPr>
          </a:p>
        </p:txBody>
      </p:sp>
      <p:sp>
        <p:nvSpPr>
          <p:cNvPr id="16" name="Text Box 15"/>
          <p:cNvSpPr txBox="1"/>
          <p:nvPr/>
        </p:nvSpPr>
        <p:spPr>
          <a:xfrm>
            <a:off x="2209800" y="6019800"/>
            <a:ext cx="7772400" cy="276225"/>
          </a:xfrm>
          <a:prstGeom prst="rect">
            <a:avLst/>
          </a:prstGeom>
          <a:noFill/>
        </p:spPr>
        <p:txBody>
          <a:bodyPr wrap="square" lIns="0" tIns="0" rIns="0" rtlCol="0" anchor="t">
            <a:spAutoFit/>
          </a:bodyPr>
          <a:p>
            <a:pPr algn="ctr"/>
            <a:r>
              <a:rPr lang="en-US" sz="1500" b="1">
                <a:solidFill>
                  <a:srgbClr val="16B3A3"/>
                </a:solidFill>
                <a:latin typeface="Aptos" charset="0"/>
                <a:cs typeface="Aptos" charset="0"/>
              </a:rPr>
              <a:t>Measure first  •  Explain second  •  Mitigate next</a:t>
            </a:r>
            <a:endParaRPr lang="en-US" sz="1500" b="1">
              <a:solidFill>
                <a:srgbClr val="16B3A3"/>
              </a:solidFill>
              <a:latin typeface="Aptos" charset="0"/>
              <a:cs typeface="Aptos" charset="0"/>
            </a:endParaRPr>
          </a:p>
        </p:txBody>
      </p:sp>
      <p:sp>
        <p:nvSpPr>
          <p:cNvPr id="17" name="Text Box 16"/>
          <p:cNvSpPr txBox="1"/>
          <p:nvPr/>
        </p:nvSpPr>
        <p:spPr>
          <a:xfrm>
            <a:off x="10452100" y="6413500"/>
            <a:ext cx="10795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24 / 24</a:t>
            </a:r>
            <a:endParaRPr lang="en-US" sz="1050" b="1">
              <a:solidFill>
                <a:srgbClr val="2F6BFF"/>
              </a:solidFill>
              <a:latin typeface="Aptos" charset="0"/>
              <a:cs typeface="Aptos"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13780</Words>
  <Application>WPS Presentation</Application>
  <PresentationFormat>Widescreen</PresentationFormat>
  <Paragraphs>615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Wingdings</vt:lpstr>
      <vt:lpstr>Aptos</vt:lpstr>
      <vt:lpstr>Segoe UI</vt:lpstr>
      <vt:lpstr>Microsoft YaHei</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Admin</dc:creator>
  <cp:lastModifiedBy>Admin</cp:lastModifiedBy>
  <cp:revision>3</cp:revision>
  <dcterms:created xsi:type="dcterms:W3CDTF">2026-10-24T05:42:00Z</dcterms:created>
  <dcterms:modified xsi:type="dcterms:W3CDTF">2026-10-24T06:42:34Z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486FC10FBC8B44FAB904032380ED7FE9_11</vt:lpwstr>
  </property>
</Properties>
</file>